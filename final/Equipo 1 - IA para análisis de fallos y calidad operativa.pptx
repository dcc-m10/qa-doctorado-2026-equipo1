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sldIdLst>
    <p:sldId id="256" r:id="rId2"/>
    <p:sldId id="257" r:id="rId3"/>
    <p:sldId id="258" r:id="rId4"/>
    <p:sldId id="269" r:id="rId5"/>
    <p:sldId id="260" r:id="rId6"/>
    <p:sldId id="261" r:id="rId7"/>
    <p:sldId id="270" r:id="rId8"/>
    <p:sldId id="262" r:id="rId9"/>
    <p:sldId id="263" r:id="rId10"/>
    <p:sldId id="265" r:id="rId11"/>
    <p:sldId id="264" r:id="rId12"/>
    <p:sldId id="266" r:id="rId13"/>
    <p:sldId id="267" r:id="rId14"/>
    <p:sldId id="268" r:id="rId15"/>
    <p:sldId id="271" r:id="rId16"/>
    <p:sldId id="272" r:id="rId17"/>
  </p:sldIdLst>
  <p:sldSz cx="17475200" cy="97536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9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25" autoAdjust="0"/>
  </p:normalViewPr>
  <p:slideViewPr>
    <p:cSldViewPr snapToGrid="0">
      <p:cViewPr>
        <p:scale>
          <a:sx n="50" d="100"/>
          <a:sy n="50" d="100"/>
        </p:scale>
        <p:origin x="1440" y="8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8037F9-BDF9-4922-BB64-64E8164CED52}" type="doc">
      <dgm:prSet loTypeId="urn:microsoft.com/office/officeart/2005/8/layout/hProcess6" loCatId="process" qsTypeId="urn:microsoft.com/office/officeart/2005/8/quickstyle/simple2" qsCatId="simple" csTypeId="urn:microsoft.com/office/officeart/2005/8/colors/accent3_5" csCatId="accent3" phldr="1"/>
      <dgm:spPr/>
      <dgm:t>
        <a:bodyPr/>
        <a:lstStyle/>
        <a:p>
          <a:endParaRPr lang="es-BO"/>
        </a:p>
      </dgm:t>
    </dgm:pt>
    <dgm:pt modelId="{09096D43-DB9F-41CF-B496-078BC06534D4}">
      <dgm:prSet phldrT="[Texto]" phldr="0" custT="1"/>
      <dgm:spPr/>
      <dgm:t>
        <a:bodyPr/>
        <a:lstStyle/>
        <a:p>
          <a:r>
            <a:rPr lang="es-BO" sz="4000" b="1" u="none" noProof="0" dirty="0">
              <a:latin typeface="Arial" panose="020B0604020202020204" pitchFamily="34" charset="0"/>
              <a:cs typeface="Arial" panose="020B0604020202020204" pitchFamily="34" charset="0"/>
            </a:rPr>
            <a:t>Incluye</a:t>
          </a:r>
        </a:p>
      </dgm:t>
    </dgm:pt>
    <dgm:pt modelId="{209B648B-DD41-42ED-AE93-616D2B335FBC}" type="parTrans" cxnId="{95DDAFD2-0E19-4A93-8E28-27D3FA9CDBF8}">
      <dgm:prSet/>
      <dgm:spPr/>
      <dgm:t>
        <a:bodyPr/>
        <a:lstStyle/>
        <a:p>
          <a:endParaRPr lang="es-BO" sz="2000">
            <a:latin typeface="Arial" panose="020B0604020202020204" pitchFamily="34" charset="0"/>
            <a:cs typeface="Arial" panose="020B0604020202020204" pitchFamily="34" charset="0"/>
          </a:endParaRPr>
        </a:p>
      </dgm:t>
    </dgm:pt>
    <dgm:pt modelId="{91437A82-C8AA-44EE-AB35-0F6457D2D89C}" type="sibTrans" cxnId="{95DDAFD2-0E19-4A93-8E28-27D3FA9CDBF8}">
      <dgm:prSet/>
      <dgm:spPr/>
      <dgm:t>
        <a:bodyPr/>
        <a:lstStyle/>
        <a:p>
          <a:endParaRPr lang="es-BO" sz="2000">
            <a:latin typeface="Arial" panose="020B0604020202020204" pitchFamily="34" charset="0"/>
            <a:cs typeface="Arial" panose="020B0604020202020204" pitchFamily="34" charset="0"/>
          </a:endParaRPr>
        </a:p>
      </dgm:t>
    </dgm:pt>
    <dgm:pt modelId="{B680BF98-ED5D-47E1-894F-53082CC60F76}">
      <dgm:prSet phldrT="[Texto]" phldr="0" custT="1"/>
      <dgm:spPr/>
      <dgm:t>
        <a:bodyPr/>
        <a:lstStyle/>
        <a:p>
          <a:pPr marL="361950" indent="0">
            <a:buFont typeface="Wingdings" panose="05000000000000000000" pitchFamily="2" charset="2"/>
            <a:buChar char="v"/>
          </a:pPr>
          <a:r>
            <a:rPr lang="es-BO" sz="2000" noProof="0" dirty="0">
              <a:latin typeface="Arial" panose="020B0604020202020204" pitchFamily="34" charset="0"/>
              <a:cs typeface="Arial" panose="020B0604020202020204" pitchFamily="34" charset="0"/>
            </a:rPr>
            <a:t>Triage Automatizado: Clasificación y priorización inicial de incidentes.</a:t>
          </a:r>
        </a:p>
      </dgm:t>
    </dgm:pt>
    <dgm:pt modelId="{F18EF783-C86A-49CB-9F16-5986AABBC488}" type="parTrans" cxnId="{7B002A22-E55E-4529-8F4B-5FFC3BD01296}">
      <dgm:prSet/>
      <dgm:spPr/>
      <dgm:t>
        <a:bodyPr/>
        <a:lstStyle/>
        <a:p>
          <a:endParaRPr lang="es-BO" sz="2000">
            <a:latin typeface="Arial" panose="020B0604020202020204" pitchFamily="34" charset="0"/>
            <a:cs typeface="Arial" panose="020B0604020202020204" pitchFamily="34" charset="0"/>
          </a:endParaRPr>
        </a:p>
      </dgm:t>
    </dgm:pt>
    <dgm:pt modelId="{7DF81C50-E164-4932-8918-F823D980F7E3}" type="sibTrans" cxnId="{7B002A22-E55E-4529-8F4B-5FFC3BD01296}">
      <dgm:prSet/>
      <dgm:spPr/>
      <dgm:t>
        <a:bodyPr/>
        <a:lstStyle/>
        <a:p>
          <a:endParaRPr lang="es-BO" sz="2000">
            <a:latin typeface="Arial" panose="020B0604020202020204" pitchFamily="34" charset="0"/>
            <a:cs typeface="Arial" panose="020B0604020202020204" pitchFamily="34" charset="0"/>
          </a:endParaRPr>
        </a:p>
      </dgm:t>
    </dgm:pt>
    <dgm:pt modelId="{57809C55-0C25-4CF9-ACA0-01FBE508883B}">
      <dgm:prSet phldrT="[Texto]" phldr="0" custT="1"/>
      <dgm:spPr/>
      <dgm:t>
        <a:bodyPr/>
        <a:lstStyle/>
        <a:p>
          <a:pPr marL="361950" indent="0">
            <a:buFont typeface="Wingdings" panose="05000000000000000000" pitchFamily="2" charset="2"/>
            <a:buChar char="v"/>
          </a:pPr>
          <a:r>
            <a:rPr lang="es-BO" sz="2000" noProof="0" dirty="0">
              <a:latin typeface="Arial" panose="020B0604020202020204" pitchFamily="34" charset="0"/>
              <a:cs typeface="Arial" panose="020B0604020202020204" pitchFamily="34" charset="0"/>
            </a:rPr>
            <a:t>Detección de Anomalías en flujos de observabilidad.</a:t>
          </a:r>
        </a:p>
      </dgm:t>
    </dgm:pt>
    <dgm:pt modelId="{EC1B9FFA-7CEF-4704-9FDE-29F705A3D4DD}" type="parTrans" cxnId="{CCA9E46C-8E13-4E1C-AE4E-7C780D1B5D61}">
      <dgm:prSet/>
      <dgm:spPr/>
      <dgm:t>
        <a:bodyPr/>
        <a:lstStyle/>
        <a:p>
          <a:endParaRPr lang="es-BO"/>
        </a:p>
      </dgm:t>
    </dgm:pt>
    <dgm:pt modelId="{0B2995E7-D557-4034-9016-9F878D304D41}" type="sibTrans" cxnId="{CCA9E46C-8E13-4E1C-AE4E-7C780D1B5D61}">
      <dgm:prSet/>
      <dgm:spPr/>
      <dgm:t>
        <a:bodyPr/>
        <a:lstStyle/>
        <a:p>
          <a:endParaRPr lang="es-BO"/>
        </a:p>
      </dgm:t>
    </dgm:pt>
    <dgm:pt modelId="{262AD169-7AC9-4D64-9E73-08E31F9E8503}">
      <dgm:prSet phldrT="[Texto]" phldr="0" custT="1"/>
      <dgm:spPr/>
      <dgm:t>
        <a:bodyPr/>
        <a:lstStyle/>
        <a:p>
          <a:pPr marL="361950" indent="0">
            <a:buFont typeface="Wingdings" panose="05000000000000000000" pitchFamily="2" charset="2"/>
            <a:buChar char="v"/>
          </a:pPr>
          <a:r>
            <a:rPr lang="es-BO" sz="2000" noProof="0" dirty="0">
              <a:latin typeface="Arial" panose="020B0604020202020204" pitchFamily="34" charset="0"/>
              <a:cs typeface="Arial" panose="020B0604020202020204" pitchFamily="34" charset="0"/>
            </a:rPr>
            <a:t>RCA Asistido: Identificación sistemática de causas raíz mediante correlación multi-señal.</a:t>
          </a:r>
        </a:p>
      </dgm:t>
    </dgm:pt>
    <dgm:pt modelId="{6917D784-E921-4262-A089-6F7031C79D47}" type="parTrans" cxnId="{0C1F0618-9E6E-45FB-88DC-C1B72D364C0C}">
      <dgm:prSet/>
      <dgm:spPr/>
      <dgm:t>
        <a:bodyPr/>
        <a:lstStyle/>
        <a:p>
          <a:endParaRPr lang="es-BO"/>
        </a:p>
      </dgm:t>
    </dgm:pt>
    <dgm:pt modelId="{1F8D3500-A20B-42BF-8C3F-8D34F52C191F}" type="sibTrans" cxnId="{0C1F0618-9E6E-45FB-88DC-C1B72D364C0C}">
      <dgm:prSet/>
      <dgm:spPr/>
      <dgm:t>
        <a:bodyPr/>
        <a:lstStyle/>
        <a:p>
          <a:endParaRPr lang="es-BO"/>
        </a:p>
      </dgm:t>
    </dgm:pt>
    <dgm:pt modelId="{6537AF0A-4564-40AC-A4A5-24A48310FACF}">
      <dgm:prSet phldrT="[Texto]" phldr="0" custT="1"/>
      <dgm:spPr/>
      <dgm:t>
        <a:bodyPr/>
        <a:lstStyle/>
        <a:p>
          <a:pPr marL="361950" indent="0">
            <a:buFont typeface="Wingdings" panose="05000000000000000000" pitchFamily="2" charset="2"/>
            <a:buChar char="v"/>
          </a:pPr>
          <a:endParaRPr lang="es-BO" sz="2000" noProof="0" dirty="0">
            <a:latin typeface="Arial" panose="020B0604020202020204" pitchFamily="34" charset="0"/>
            <a:cs typeface="Arial" panose="020B0604020202020204" pitchFamily="34" charset="0"/>
          </a:endParaRPr>
        </a:p>
      </dgm:t>
    </dgm:pt>
    <dgm:pt modelId="{5833CABF-ACDC-418A-AC09-F39871D059E5}" type="parTrans" cxnId="{9635F78C-FDDF-4E66-B9F4-1D7C9C1C5877}">
      <dgm:prSet/>
      <dgm:spPr/>
      <dgm:t>
        <a:bodyPr/>
        <a:lstStyle/>
        <a:p>
          <a:endParaRPr lang="es-BO"/>
        </a:p>
      </dgm:t>
    </dgm:pt>
    <dgm:pt modelId="{DDCFA81E-D924-4D78-864F-F647852D6BBA}" type="sibTrans" cxnId="{9635F78C-FDDF-4E66-B9F4-1D7C9C1C5877}">
      <dgm:prSet/>
      <dgm:spPr/>
      <dgm:t>
        <a:bodyPr/>
        <a:lstStyle/>
        <a:p>
          <a:endParaRPr lang="es-BO"/>
        </a:p>
      </dgm:t>
    </dgm:pt>
    <dgm:pt modelId="{DD778A2A-3B7D-4585-8B99-89ACBC2E0C29}">
      <dgm:prSet phldrT="[Texto]" phldr="0" custT="1"/>
      <dgm:spPr/>
      <dgm:t>
        <a:bodyPr/>
        <a:lstStyle/>
        <a:p>
          <a:pPr marL="361950" indent="0">
            <a:buFont typeface="Wingdings" panose="05000000000000000000" pitchFamily="2" charset="2"/>
            <a:buChar char="v"/>
          </a:pPr>
          <a:endParaRPr lang="es-BO" sz="2000" noProof="0" dirty="0">
            <a:latin typeface="Arial" panose="020B0604020202020204" pitchFamily="34" charset="0"/>
            <a:cs typeface="Arial" panose="020B0604020202020204" pitchFamily="34" charset="0"/>
          </a:endParaRPr>
        </a:p>
      </dgm:t>
    </dgm:pt>
    <dgm:pt modelId="{BA5A84E4-1A88-48BA-AF00-FF6E7A98B72B}" type="parTrans" cxnId="{476F471D-3E25-4AFE-85AF-39894F7A9D22}">
      <dgm:prSet/>
      <dgm:spPr/>
      <dgm:t>
        <a:bodyPr/>
        <a:lstStyle/>
        <a:p>
          <a:endParaRPr lang="es-BO"/>
        </a:p>
      </dgm:t>
    </dgm:pt>
    <dgm:pt modelId="{E6A801FD-C365-44C0-996A-97E06404FA8A}" type="sibTrans" cxnId="{476F471D-3E25-4AFE-85AF-39894F7A9D22}">
      <dgm:prSet/>
      <dgm:spPr/>
      <dgm:t>
        <a:bodyPr/>
        <a:lstStyle/>
        <a:p>
          <a:endParaRPr lang="es-BO"/>
        </a:p>
      </dgm:t>
    </dgm:pt>
    <dgm:pt modelId="{038DCFBB-BC1F-4E12-8072-9DCF58DB2008}" type="pres">
      <dgm:prSet presAssocID="{4F8037F9-BDF9-4922-BB64-64E8164CED52}" presName="theList" presStyleCnt="0">
        <dgm:presLayoutVars>
          <dgm:dir/>
          <dgm:animLvl val="lvl"/>
          <dgm:resizeHandles val="exact"/>
        </dgm:presLayoutVars>
      </dgm:prSet>
      <dgm:spPr/>
    </dgm:pt>
    <dgm:pt modelId="{EF0905FC-9F73-4B97-9FD6-135701175993}" type="pres">
      <dgm:prSet presAssocID="{09096D43-DB9F-41CF-B496-078BC06534D4}" presName="compNode" presStyleCnt="0"/>
      <dgm:spPr/>
    </dgm:pt>
    <dgm:pt modelId="{3CB430DB-DF0A-4C40-93A4-45720EB025BC}" type="pres">
      <dgm:prSet presAssocID="{09096D43-DB9F-41CF-B496-078BC06534D4}" presName="noGeometry" presStyleCnt="0"/>
      <dgm:spPr/>
    </dgm:pt>
    <dgm:pt modelId="{2C6EB17D-E8BE-42DA-A5C3-23EB9580080B}" type="pres">
      <dgm:prSet presAssocID="{09096D43-DB9F-41CF-B496-078BC06534D4}" presName="childTextVisible" presStyleLbl="bgAccFollowNode1" presStyleIdx="0" presStyleCnt="1" custScaleX="139860" custScaleY="86861" custLinFactNeighborX="12106" custLinFactNeighborY="288">
        <dgm:presLayoutVars>
          <dgm:bulletEnabled val="1"/>
        </dgm:presLayoutVars>
      </dgm:prSet>
      <dgm:spPr/>
    </dgm:pt>
    <dgm:pt modelId="{688941EA-8654-476F-971A-AB7E5BC56266}" type="pres">
      <dgm:prSet presAssocID="{09096D43-DB9F-41CF-B496-078BC06534D4}" presName="childTextHidden" presStyleLbl="bgAccFollowNode1" presStyleIdx="0" presStyleCnt="1"/>
      <dgm:spPr/>
    </dgm:pt>
    <dgm:pt modelId="{CF851E2C-C28D-43ED-956B-F4F7A656A134}" type="pres">
      <dgm:prSet presAssocID="{09096D43-DB9F-41CF-B496-078BC06534D4}" presName="parentText" presStyleLbl="node1" presStyleIdx="0" presStyleCnt="1">
        <dgm:presLayoutVars>
          <dgm:chMax val="1"/>
          <dgm:bulletEnabled val="1"/>
        </dgm:presLayoutVars>
      </dgm:prSet>
      <dgm:spPr/>
    </dgm:pt>
  </dgm:ptLst>
  <dgm:cxnLst>
    <dgm:cxn modelId="{B15A8F0D-5C90-47D9-BC64-7F0934DBC53A}" type="presOf" srcId="{57809C55-0C25-4CF9-ACA0-01FBE508883B}" destId="{2C6EB17D-E8BE-42DA-A5C3-23EB9580080B}" srcOrd="0" destOrd="4" presId="urn:microsoft.com/office/officeart/2005/8/layout/hProcess6"/>
    <dgm:cxn modelId="{1FF4CC0E-6452-45C2-8F51-E59480163ABD}" type="presOf" srcId="{B680BF98-ED5D-47E1-894F-53082CC60F76}" destId="{688941EA-8654-476F-971A-AB7E5BC56266}" srcOrd="1" destOrd="0" presId="urn:microsoft.com/office/officeart/2005/8/layout/hProcess6"/>
    <dgm:cxn modelId="{561FB714-2F0A-47FF-A601-D32934CEBCAA}" type="presOf" srcId="{DD778A2A-3B7D-4585-8B99-89ACBC2E0C29}" destId="{2C6EB17D-E8BE-42DA-A5C3-23EB9580080B}" srcOrd="0" destOrd="1" presId="urn:microsoft.com/office/officeart/2005/8/layout/hProcess6"/>
    <dgm:cxn modelId="{0C1F0618-9E6E-45FB-88DC-C1B72D364C0C}" srcId="{09096D43-DB9F-41CF-B496-078BC06534D4}" destId="{262AD169-7AC9-4D64-9E73-08E31F9E8503}" srcOrd="2" destOrd="0" parTransId="{6917D784-E921-4262-A089-6F7031C79D47}" sibTransId="{1F8D3500-A20B-42BF-8C3F-8D34F52C191F}"/>
    <dgm:cxn modelId="{294CF118-79A4-488B-ACCD-AF5B319FE328}" type="presOf" srcId="{09096D43-DB9F-41CF-B496-078BC06534D4}" destId="{CF851E2C-C28D-43ED-956B-F4F7A656A134}" srcOrd="0" destOrd="0" presId="urn:microsoft.com/office/officeart/2005/8/layout/hProcess6"/>
    <dgm:cxn modelId="{476F471D-3E25-4AFE-85AF-39894F7A9D22}" srcId="{09096D43-DB9F-41CF-B496-078BC06534D4}" destId="{DD778A2A-3B7D-4585-8B99-89ACBC2E0C29}" srcOrd="1" destOrd="0" parTransId="{BA5A84E4-1A88-48BA-AF00-FF6E7A98B72B}" sibTransId="{E6A801FD-C365-44C0-996A-97E06404FA8A}"/>
    <dgm:cxn modelId="{7B002A22-E55E-4529-8F4B-5FFC3BD01296}" srcId="{09096D43-DB9F-41CF-B496-078BC06534D4}" destId="{B680BF98-ED5D-47E1-894F-53082CC60F76}" srcOrd="0" destOrd="0" parTransId="{F18EF783-C86A-49CB-9F16-5986AABBC488}" sibTransId="{7DF81C50-E164-4932-8918-F823D980F7E3}"/>
    <dgm:cxn modelId="{CCA9E46C-8E13-4E1C-AE4E-7C780D1B5D61}" srcId="{09096D43-DB9F-41CF-B496-078BC06534D4}" destId="{57809C55-0C25-4CF9-ACA0-01FBE508883B}" srcOrd="4" destOrd="0" parTransId="{EC1B9FFA-7CEF-4704-9FDE-29F705A3D4DD}" sibTransId="{0B2995E7-D557-4034-9016-9F878D304D41}"/>
    <dgm:cxn modelId="{09C33650-1500-47CA-996C-2FE89DADE0EE}" type="presOf" srcId="{57809C55-0C25-4CF9-ACA0-01FBE508883B}" destId="{688941EA-8654-476F-971A-AB7E5BC56266}" srcOrd="1" destOrd="4" presId="urn:microsoft.com/office/officeart/2005/8/layout/hProcess6"/>
    <dgm:cxn modelId="{AB37AA5A-F01C-44AC-B4EB-E8767E89D076}" type="presOf" srcId="{4F8037F9-BDF9-4922-BB64-64E8164CED52}" destId="{038DCFBB-BC1F-4E12-8072-9DCF58DB2008}" srcOrd="0" destOrd="0" presId="urn:microsoft.com/office/officeart/2005/8/layout/hProcess6"/>
    <dgm:cxn modelId="{F860B882-3B6D-4E51-9162-7B2D34A3F6A6}" type="presOf" srcId="{6537AF0A-4564-40AC-A4A5-24A48310FACF}" destId="{2C6EB17D-E8BE-42DA-A5C3-23EB9580080B}" srcOrd="0" destOrd="3" presId="urn:microsoft.com/office/officeart/2005/8/layout/hProcess6"/>
    <dgm:cxn modelId="{9635F78C-FDDF-4E66-B9F4-1D7C9C1C5877}" srcId="{09096D43-DB9F-41CF-B496-078BC06534D4}" destId="{6537AF0A-4564-40AC-A4A5-24A48310FACF}" srcOrd="3" destOrd="0" parTransId="{5833CABF-ACDC-418A-AC09-F39871D059E5}" sibTransId="{DDCFA81E-D924-4D78-864F-F647852D6BBA}"/>
    <dgm:cxn modelId="{ADB3AC8E-A1D4-4A42-88D2-BBF251D363C7}" type="presOf" srcId="{262AD169-7AC9-4D64-9E73-08E31F9E8503}" destId="{2C6EB17D-E8BE-42DA-A5C3-23EB9580080B}" srcOrd="0" destOrd="2" presId="urn:microsoft.com/office/officeart/2005/8/layout/hProcess6"/>
    <dgm:cxn modelId="{FB2CA398-2B64-4145-B572-E9B35C6A5A69}" type="presOf" srcId="{262AD169-7AC9-4D64-9E73-08E31F9E8503}" destId="{688941EA-8654-476F-971A-AB7E5BC56266}" srcOrd="1" destOrd="2" presId="urn:microsoft.com/office/officeart/2005/8/layout/hProcess6"/>
    <dgm:cxn modelId="{453FEAB0-7F6E-4829-83F3-7E3BE9813DE6}" type="presOf" srcId="{B680BF98-ED5D-47E1-894F-53082CC60F76}" destId="{2C6EB17D-E8BE-42DA-A5C3-23EB9580080B}" srcOrd="0" destOrd="0" presId="urn:microsoft.com/office/officeart/2005/8/layout/hProcess6"/>
    <dgm:cxn modelId="{A4D0E7B4-4B4B-4D3E-A921-4152532EAF68}" type="presOf" srcId="{6537AF0A-4564-40AC-A4A5-24A48310FACF}" destId="{688941EA-8654-476F-971A-AB7E5BC56266}" srcOrd="1" destOrd="3" presId="urn:microsoft.com/office/officeart/2005/8/layout/hProcess6"/>
    <dgm:cxn modelId="{073EFBBB-DFB2-4111-8539-A712EEBCE244}" type="presOf" srcId="{DD778A2A-3B7D-4585-8B99-89ACBC2E0C29}" destId="{688941EA-8654-476F-971A-AB7E5BC56266}" srcOrd="1" destOrd="1" presId="urn:microsoft.com/office/officeart/2005/8/layout/hProcess6"/>
    <dgm:cxn modelId="{95DDAFD2-0E19-4A93-8E28-27D3FA9CDBF8}" srcId="{4F8037F9-BDF9-4922-BB64-64E8164CED52}" destId="{09096D43-DB9F-41CF-B496-078BC06534D4}" srcOrd="0" destOrd="0" parTransId="{209B648B-DD41-42ED-AE93-616D2B335FBC}" sibTransId="{91437A82-C8AA-44EE-AB35-0F6457D2D89C}"/>
    <dgm:cxn modelId="{205D8C60-783B-465C-AA5F-023E455254FD}" type="presParOf" srcId="{038DCFBB-BC1F-4E12-8072-9DCF58DB2008}" destId="{EF0905FC-9F73-4B97-9FD6-135701175993}" srcOrd="0" destOrd="0" presId="urn:microsoft.com/office/officeart/2005/8/layout/hProcess6"/>
    <dgm:cxn modelId="{6E394416-887C-4FCF-8159-7414D2C91E99}" type="presParOf" srcId="{EF0905FC-9F73-4B97-9FD6-135701175993}" destId="{3CB430DB-DF0A-4C40-93A4-45720EB025BC}" srcOrd="0" destOrd="0" presId="urn:microsoft.com/office/officeart/2005/8/layout/hProcess6"/>
    <dgm:cxn modelId="{29756877-0315-47C8-BCB3-ED70187D853B}" type="presParOf" srcId="{EF0905FC-9F73-4B97-9FD6-135701175993}" destId="{2C6EB17D-E8BE-42DA-A5C3-23EB9580080B}" srcOrd="1" destOrd="0" presId="urn:microsoft.com/office/officeart/2005/8/layout/hProcess6"/>
    <dgm:cxn modelId="{A9716E8C-E26D-4674-8296-1CD4B910740B}" type="presParOf" srcId="{EF0905FC-9F73-4B97-9FD6-135701175993}" destId="{688941EA-8654-476F-971A-AB7E5BC56266}" srcOrd="2" destOrd="0" presId="urn:microsoft.com/office/officeart/2005/8/layout/hProcess6"/>
    <dgm:cxn modelId="{88A8081E-743D-481F-8B85-0C371A0D72F7}" type="presParOf" srcId="{EF0905FC-9F73-4B97-9FD6-135701175993}" destId="{CF851E2C-C28D-43ED-956B-F4F7A656A134}"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8037F9-BDF9-4922-BB64-64E8164CED52}" type="doc">
      <dgm:prSet loTypeId="urn:microsoft.com/office/officeart/2005/8/layout/hProcess6" loCatId="process" qsTypeId="urn:microsoft.com/office/officeart/2005/8/quickstyle/simple2" qsCatId="simple" csTypeId="urn:microsoft.com/office/officeart/2005/8/colors/accent3_5" csCatId="accent3" phldr="1"/>
      <dgm:spPr/>
      <dgm:t>
        <a:bodyPr/>
        <a:lstStyle/>
        <a:p>
          <a:endParaRPr lang="es-BO"/>
        </a:p>
      </dgm:t>
    </dgm:pt>
    <dgm:pt modelId="{6FE3F906-5D66-4CBC-A162-9912312269BF}">
      <dgm:prSet phldrT="[Texto]" phldr="0" custT="1"/>
      <dgm:spPr/>
      <dgm:t>
        <a:bodyPr/>
        <a:lstStyle/>
        <a:p>
          <a:r>
            <a:rPr lang="es-BO" sz="4000" b="1" u="none" noProof="0" dirty="0">
              <a:latin typeface="Arial" panose="020B0604020202020204" pitchFamily="34" charset="0"/>
              <a:cs typeface="Arial" panose="020B0604020202020204" pitchFamily="34" charset="0"/>
            </a:rPr>
            <a:t>Fuera de Alcance</a:t>
          </a:r>
        </a:p>
      </dgm:t>
    </dgm:pt>
    <dgm:pt modelId="{E0BAF0CE-9912-43CF-8850-5AAC38AC542B}" type="parTrans" cxnId="{77A72ABF-381A-461A-9A7A-C1532C085506}">
      <dgm:prSet/>
      <dgm:spPr/>
      <dgm:t>
        <a:bodyPr/>
        <a:lstStyle/>
        <a:p>
          <a:endParaRPr lang="es-BO" sz="2000">
            <a:latin typeface="Arial" panose="020B0604020202020204" pitchFamily="34" charset="0"/>
            <a:cs typeface="Arial" panose="020B0604020202020204" pitchFamily="34" charset="0"/>
          </a:endParaRPr>
        </a:p>
      </dgm:t>
    </dgm:pt>
    <dgm:pt modelId="{A6CD5F75-7876-4E30-BD55-14C9C1B15E0E}" type="sibTrans" cxnId="{77A72ABF-381A-461A-9A7A-C1532C085506}">
      <dgm:prSet/>
      <dgm:spPr/>
      <dgm:t>
        <a:bodyPr/>
        <a:lstStyle/>
        <a:p>
          <a:endParaRPr lang="es-BO" sz="2000">
            <a:latin typeface="Arial" panose="020B0604020202020204" pitchFamily="34" charset="0"/>
            <a:cs typeface="Arial" panose="020B0604020202020204" pitchFamily="34" charset="0"/>
          </a:endParaRPr>
        </a:p>
      </dgm:t>
    </dgm:pt>
    <dgm:pt modelId="{E8DBBE8C-11FF-41E3-84B4-B353E945AC17}">
      <dgm:prSet custT="1"/>
      <dgm:spPr/>
      <dgm:t>
        <a:bodyPr/>
        <a:lstStyle/>
        <a:p>
          <a:pPr>
            <a:buClr>
              <a:srgbClr val="000000"/>
            </a:buClr>
            <a:buSzPts val="3000"/>
            <a:buFont typeface="Wingdings" panose="05000000000000000000" pitchFamily="2" charset="2"/>
            <a:buNone/>
          </a:pPr>
          <a:endParaRPr lang="es-BO" sz="2000" noProof="0" dirty="0">
            <a:latin typeface="Arial" panose="020B0604020202020204" pitchFamily="34" charset="0"/>
            <a:cs typeface="Arial" panose="020B0604020202020204" pitchFamily="34" charset="0"/>
          </a:endParaRPr>
        </a:p>
      </dgm:t>
    </dgm:pt>
    <dgm:pt modelId="{0BD76627-9BDB-4E67-9754-5046E8D7E274}" type="parTrans" cxnId="{3C78E0CA-DC10-4482-A6C2-4BB0D765D205}">
      <dgm:prSet/>
      <dgm:spPr/>
      <dgm:t>
        <a:bodyPr/>
        <a:lstStyle/>
        <a:p>
          <a:endParaRPr lang="es-BO" sz="2000">
            <a:latin typeface="Arial" panose="020B0604020202020204" pitchFamily="34" charset="0"/>
            <a:cs typeface="Arial" panose="020B0604020202020204" pitchFamily="34" charset="0"/>
          </a:endParaRPr>
        </a:p>
      </dgm:t>
    </dgm:pt>
    <dgm:pt modelId="{61DEAD6B-392B-458E-ADD9-2638D9AF7DCC}" type="sibTrans" cxnId="{3C78E0CA-DC10-4482-A6C2-4BB0D765D205}">
      <dgm:prSet/>
      <dgm:spPr/>
      <dgm:t>
        <a:bodyPr/>
        <a:lstStyle/>
        <a:p>
          <a:endParaRPr lang="es-BO" sz="2000">
            <a:latin typeface="Arial" panose="020B0604020202020204" pitchFamily="34" charset="0"/>
            <a:cs typeface="Arial" panose="020B0604020202020204" pitchFamily="34" charset="0"/>
          </a:endParaRPr>
        </a:p>
      </dgm:t>
    </dgm:pt>
    <dgm:pt modelId="{268A5594-F46D-44D5-92FB-3BB08112DE55}">
      <dgm:prSet custT="1"/>
      <dgm:spPr/>
      <dgm:t>
        <a:bodyPr/>
        <a:lstStyle/>
        <a:p>
          <a:pPr>
            <a:buFont typeface="Wingdings" panose="05000000000000000000" pitchFamily="2" charset="2"/>
            <a:buChar char="v"/>
          </a:pPr>
          <a:r>
            <a:rPr lang="es-BO" sz="2000" noProof="0" dirty="0">
              <a:latin typeface="Arial" panose="020B0604020202020204" pitchFamily="34" charset="0"/>
              <a:cs typeface="Arial" panose="020B0604020202020204" pitchFamily="34" charset="0"/>
            </a:rPr>
            <a:t>IA generativa para escritura de código. </a:t>
          </a:r>
        </a:p>
      </dgm:t>
    </dgm:pt>
    <dgm:pt modelId="{BF1C82C1-BEA0-41E7-9C31-452479F92787}" type="parTrans" cxnId="{1F25ACEC-6537-4722-AB1A-BA0190E1E161}">
      <dgm:prSet/>
      <dgm:spPr/>
      <dgm:t>
        <a:bodyPr/>
        <a:lstStyle/>
        <a:p>
          <a:endParaRPr lang="es-BO" sz="2000">
            <a:latin typeface="Arial" panose="020B0604020202020204" pitchFamily="34" charset="0"/>
            <a:cs typeface="Arial" panose="020B0604020202020204" pitchFamily="34" charset="0"/>
          </a:endParaRPr>
        </a:p>
      </dgm:t>
    </dgm:pt>
    <dgm:pt modelId="{DAD67422-EA12-49C6-A81B-E721A4BDA042}" type="sibTrans" cxnId="{1F25ACEC-6537-4722-AB1A-BA0190E1E161}">
      <dgm:prSet/>
      <dgm:spPr/>
      <dgm:t>
        <a:bodyPr/>
        <a:lstStyle/>
        <a:p>
          <a:endParaRPr lang="es-BO" sz="2000">
            <a:latin typeface="Arial" panose="020B0604020202020204" pitchFamily="34" charset="0"/>
            <a:cs typeface="Arial" panose="020B0604020202020204" pitchFamily="34" charset="0"/>
          </a:endParaRPr>
        </a:p>
      </dgm:t>
    </dgm:pt>
    <dgm:pt modelId="{467C06D5-0146-4E30-8DD8-B30D7100728E}">
      <dgm:prSet custT="1"/>
      <dgm:spPr/>
      <dgm:t>
        <a:bodyPr/>
        <a:lstStyle/>
        <a:p>
          <a:pPr>
            <a:buFont typeface="Wingdings" panose="05000000000000000000" pitchFamily="2" charset="2"/>
            <a:buChar char="v"/>
          </a:pPr>
          <a:endParaRPr lang="es-BO" sz="2000" noProof="0" dirty="0">
            <a:latin typeface="Arial" panose="020B0604020202020204" pitchFamily="34" charset="0"/>
            <a:cs typeface="Arial" panose="020B0604020202020204" pitchFamily="34" charset="0"/>
          </a:endParaRPr>
        </a:p>
      </dgm:t>
    </dgm:pt>
    <dgm:pt modelId="{33A6DF93-900C-480A-BB3F-99F0DA89BFA5}" type="parTrans" cxnId="{587DFB17-553F-428C-8C62-C227F945874F}">
      <dgm:prSet/>
      <dgm:spPr/>
      <dgm:t>
        <a:bodyPr/>
        <a:lstStyle/>
        <a:p>
          <a:endParaRPr lang="es-BO"/>
        </a:p>
      </dgm:t>
    </dgm:pt>
    <dgm:pt modelId="{552822EA-DED5-471B-AD57-E480FC932D9C}" type="sibTrans" cxnId="{587DFB17-553F-428C-8C62-C227F945874F}">
      <dgm:prSet/>
      <dgm:spPr/>
      <dgm:t>
        <a:bodyPr/>
        <a:lstStyle/>
        <a:p>
          <a:endParaRPr lang="es-BO"/>
        </a:p>
      </dgm:t>
    </dgm:pt>
    <dgm:pt modelId="{1809E2E5-8E9E-4DB5-AACD-695501F9550C}">
      <dgm:prSet custT="1"/>
      <dgm:spPr/>
      <dgm:t>
        <a:bodyPr/>
        <a:lstStyle/>
        <a:p>
          <a:pPr>
            <a:buFont typeface="Wingdings" panose="05000000000000000000" pitchFamily="2" charset="2"/>
            <a:buChar char="v"/>
          </a:pPr>
          <a:endParaRPr lang="es-BO" sz="2000" noProof="0" dirty="0">
            <a:latin typeface="Arial" panose="020B0604020202020204" pitchFamily="34" charset="0"/>
            <a:cs typeface="Arial" panose="020B0604020202020204" pitchFamily="34" charset="0"/>
          </a:endParaRPr>
        </a:p>
      </dgm:t>
    </dgm:pt>
    <dgm:pt modelId="{11A4BAD8-EEE0-4444-AA88-8A91B747D42A}" type="parTrans" cxnId="{37F1124F-27E7-4319-B46F-15999D902EB4}">
      <dgm:prSet/>
      <dgm:spPr/>
      <dgm:t>
        <a:bodyPr/>
        <a:lstStyle/>
        <a:p>
          <a:endParaRPr lang="en-US"/>
        </a:p>
      </dgm:t>
    </dgm:pt>
    <dgm:pt modelId="{35C02E9F-19C8-4D05-9970-9FE43D03F12E}" type="sibTrans" cxnId="{37F1124F-27E7-4319-B46F-15999D902EB4}">
      <dgm:prSet/>
      <dgm:spPr/>
      <dgm:t>
        <a:bodyPr/>
        <a:lstStyle/>
        <a:p>
          <a:endParaRPr lang="en-US"/>
        </a:p>
      </dgm:t>
    </dgm:pt>
    <dgm:pt modelId="{E3C3E424-E873-4C0A-BF98-6C1C273FB8CC}">
      <dgm:prSet custT="1"/>
      <dgm:spPr/>
      <dgm:t>
        <a:bodyPr/>
        <a:lstStyle/>
        <a:p>
          <a:pPr>
            <a:buFont typeface="Wingdings" panose="05000000000000000000" pitchFamily="2" charset="2"/>
            <a:buChar char="v"/>
          </a:pPr>
          <a:r>
            <a:rPr lang="es-BO" sz="2000" noProof="0" dirty="0">
              <a:latin typeface="Arial" panose="020B0604020202020204" pitchFamily="34" charset="0"/>
              <a:cs typeface="Arial" panose="020B0604020202020204" pitchFamily="34" charset="0"/>
            </a:rPr>
            <a:t>Seguridad ofensiva.</a:t>
          </a:r>
        </a:p>
      </dgm:t>
    </dgm:pt>
    <dgm:pt modelId="{8AA5D67D-E813-456B-967E-005705C520D8}" type="parTrans" cxnId="{26D82296-B669-4B5D-9219-14D6E8460163}">
      <dgm:prSet/>
      <dgm:spPr/>
      <dgm:t>
        <a:bodyPr/>
        <a:lstStyle/>
        <a:p>
          <a:endParaRPr lang="en-US"/>
        </a:p>
      </dgm:t>
    </dgm:pt>
    <dgm:pt modelId="{41A7F303-487C-4271-91F0-4659CBF4ACE8}" type="sibTrans" cxnId="{26D82296-B669-4B5D-9219-14D6E8460163}">
      <dgm:prSet/>
      <dgm:spPr/>
      <dgm:t>
        <a:bodyPr/>
        <a:lstStyle/>
        <a:p>
          <a:endParaRPr lang="en-US"/>
        </a:p>
      </dgm:t>
    </dgm:pt>
    <dgm:pt modelId="{7396E732-9796-4C8C-98FF-69A0D92FD0DE}">
      <dgm:prSet custT="1"/>
      <dgm:spPr/>
      <dgm:t>
        <a:bodyPr/>
        <a:lstStyle/>
        <a:p>
          <a:pPr>
            <a:buFont typeface="Wingdings" panose="05000000000000000000" pitchFamily="2" charset="2"/>
            <a:buChar char="v"/>
          </a:pPr>
          <a:r>
            <a:rPr lang="es-BO" sz="2000" noProof="0" dirty="0">
              <a:latin typeface="Arial" panose="020B0604020202020204" pitchFamily="34" charset="0"/>
              <a:cs typeface="Arial" panose="020B0604020202020204" pitchFamily="34" charset="0"/>
            </a:rPr>
            <a:t>Generación automática de pruebas de software.</a:t>
          </a:r>
        </a:p>
      </dgm:t>
    </dgm:pt>
    <dgm:pt modelId="{D9166EFC-826D-41A5-8FC8-0BF50ACD48C0}" type="parTrans" cxnId="{C97D077A-2FBD-4237-AAAE-B44AA3E70DD5}">
      <dgm:prSet/>
      <dgm:spPr/>
      <dgm:t>
        <a:bodyPr/>
        <a:lstStyle/>
        <a:p>
          <a:endParaRPr lang="es-BO" sz="2000">
            <a:latin typeface="Arial" panose="020B0604020202020204" pitchFamily="34" charset="0"/>
            <a:cs typeface="Arial" panose="020B0604020202020204" pitchFamily="34" charset="0"/>
          </a:endParaRPr>
        </a:p>
      </dgm:t>
    </dgm:pt>
    <dgm:pt modelId="{D30BB4C6-AA6A-432E-B694-F6950C7FFAAE}" type="sibTrans" cxnId="{C97D077A-2FBD-4237-AAAE-B44AA3E70DD5}">
      <dgm:prSet/>
      <dgm:spPr/>
      <dgm:t>
        <a:bodyPr/>
        <a:lstStyle/>
        <a:p>
          <a:endParaRPr lang="es-BO" sz="2000">
            <a:latin typeface="Arial" panose="020B0604020202020204" pitchFamily="34" charset="0"/>
            <a:cs typeface="Arial" panose="020B0604020202020204" pitchFamily="34" charset="0"/>
          </a:endParaRPr>
        </a:p>
      </dgm:t>
    </dgm:pt>
    <dgm:pt modelId="{038DCFBB-BC1F-4E12-8072-9DCF58DB2008}" type="pres">
      <dgm:prSet presAssocID="{4F8037F9-BDF9-4922-BB64-64E8164CED52}" presName="theList" presStyleCnt="0">
        <dgm:presLayoutVars>
          <dgm:dir/>
          <dgm:animLvl val="lvl"/>
          <dgm:resizeHandles val="exact"/>
        </dgm:presLayoutVars>
      </dgm:prSet>
      <dgm:spPr/>
    </dgm:pt>
    <dgm:pt modelId="{D3E84249-4CF0-49E6-AE31-E547F02B8578}" type="pres">
      <dgm:prSet presAssocID="{6FE3F906-5D66-4CBC-A162-9912312269BF}" presName="compNode" presStyleCnt="0"/>
      <dgm:spPr/>
    </dgm:pt>
    <dgm:pt modelId="{64931C5E-3E4A-473E-B8E6-376A92019659}" type="pres">
      <dgm:prSet presAssocID="{6FE3F906-5D66-4CBC-A162-9912312269BF}" presName="noGeometry" presStyleCnt="0"/>
      <dgm:spPr/>
    </dgm:pt>
    <dgm:pt modelId="{4DA6C0E4-37C2-491C-AA16-6F7342805055}" type="pres">
      <dgm:prSet presAssocID="{6FE3F906-5D66-4CBC-A162-9912312269BF}" presName="childTextVisible" presStyleLbl="bgAccFollowNode1" presStyleIdx="0" presStyleCnt="1" custScaleX="129445" custScaleY="89232" custLinFactNeighborX="10342" custLinFactNeighborY="-950">
        <dgm:presLayoutVars>
          <dgm:bulletEnabled val="1"/>
        </dgm:presLayoutVars>
      </dgm:prSet>
      <dgm:spPr/>
    </dgm:pt>
    <dgm:pt modelId="{83C9D0EF-1A1A-43A1-8FA8-34E849C0F77B}" type="pres">
      <dgm:prSet presAssocID="{6FE3F906-5D66-4CBC-A162-9912312269BF}" presName="childTextHidden" presStyleLbl="bgAccFollowNode1" presStyleIdx="0" presStyleCnt="1"/>
      <dgm:spPr/>
    </dgm:pt>
    <dgm:pt modelId="{8D2F9B7E-35F6-4FAD-9D4A-639497494C9C}" type="pres">
      <dgm:prSet presAssocID="{6FE3F906-5D66-4CBC-A162-9912312269BF}" presName="parentText" presStyleLbl="node1" presStyleIdx="0" presStyleCnt="1">
        <dgm:presLayoutVars>
          <dgm:chMax val="1"/>
          <dgm:bulletEnabled val="1"/>
        </dgm:presLayoutVars>
      </dgm:prSet>
      <dgm:spPr/>
    </dgm:pt>
  </dgm:ptLst>
  <dgm:cxnLst>
    <dgm:cxn modelId="{2AF8210C-04D9-435B-8364-F33C01725BEF}" type="presOf" srcId="{467C06D5-0146-4E30-8DD8-B30D7100728E}" destId="{4DA6C0E4-37C2-491C-AA16-6F7342805055}" srcOrd="0" destOrd="4" presId="urn:microsoft.com/office/officeart/2005/8/layout/hProcess6"/>
    <dgm:cxn modelId="{587DFB17-553F-428C-8C62-C227F945874F}" srcId="{6FE3F906-5D66-4CBC-A162-9912312269BF}" destId="{467C06D5-0146-4E30-8DD8-B30D7100728E}" srcOrd="4" destOrd="0" parTransId="{33A6DF93-900C-480A-BB3F-99F0DA89BFA5}" sibTransId="{552822EA-DED5-471B-AD57-E480FC932D9C}"/>
    <dgm:cxn modelId="{350E855D-DB99-4BD2-B44A-9106A48A7578}" type="presOf" srcId="{467C06D5-0146-4E30-8DD8-B30D7100728E}" destId="{83C9D0EF-1A1A-43A1-8FA8-34E849C0F77B}" srcOrd="1" destOrd="4" presId="urn:microsoft.com/office/officeart/2005/8/layout/hProcess6"/>
    <dgm:cxn modelId="{37F1124F-27E7-4319-B46F-15999D902EB4}" srcId="{6FE3F906-5D66-4CBC-A162-9912312269BF}" destId="{1809E2E5-8E9E-4DB5-AACD-695501F9550C}" srcOrd="2" destOrd="0" parTransId="{11A4BAD8-EEE0-4444-AA88-8A91B747D42A}" sibTransId="{35C02E9F-19C8-4D05-9970-9FE43D03F12E}"/>
    <dgm:cxn modelId="{C97D077A-2FBD-4237-AAAE-B44AA3E70DD5}" srcId="{6FE3F906-5D66-4CBC-A162-9912312269BF}" destId="{7396E732-9796-4C8C-98FF-69A0D92FD0DE}" srcOrd="1" destOrd="0" parTransId="{D9166EFC-826D-41A5-8FC8-0BF50ACD48C0}" sibTransId="{D30BB4C6-AA6A-432E-B694-F6950C7FFAAE}"/>
    <dgm:cxn modelId="{AB37AA5A-F01C-44AC-B4EB-E8767E89D076}" type="presOf" srcId="{4F8037F9-BDF9-4922-BB64-64E8164CED52}" destId="{038DCFBB-BC1F-4E12-8072-9DCF58DB2008}" srcOrd="0" destOrd="0" presId="urn:microsoft.com/office/officeart/2005/8/layout/hProcess6"/>
    <dgm:cxn modelId="{ACFB3182-2755-4FD5-ACE0-742A9F96267A}" type="presOf" srcId="{E8DBBE8C-11FF-41E3-84B4-B353E945AC17}" destId="{4DA6C0E4-37C2-491C-AA16-6F7342805055}" srcOrd="0" destOrd="0" presId="urn:microsoft.com/office/officeart/2005/8/layout/hProcess6"/>
    <dgm:cxn modelId="{C5A1108A-8BEA-4D9A-82DF-525F57B1E87D}" type="presOf" srcId="{7396E732-9796-4C8C-98FF-69A0D92FD0DE}" destId="{83C9D0EF-1A1A-43A1-8FA8-34E849C0F77B}" srcOrd="1" destOrd="1" presId="urn:microsoft.com/office/officeart/2005/8/layout/hProcess6"/>
    <dgm:cxn modelId="{95E0E88C-463A-44CD-A002-2822F1ADA7C3}" type="presOf" srcId="{1809E2E5-8E9E-4DB5-AACD-695501F9550C}" destId="{4DA6C0E4-37C2-491C-AA16-6F7342805055}" srcOrd="0" destOrd="2" presId="urn:microsoft.com/office/officeart/2005/8/layout/hProcess6"/>
    <dgm:cxn modelId="{AA3C9F8D-FD95-4223-B2E8-D712B41B9D24}" type="presOf" srcId="{E3C3E424-E873-4C0A-BF98-6C1C273FB8CC}" destId="{4DA6C0E4-37C2-491C-AA16-6F7342805055}" srcOrd="0" destOrd="3" presId="urn:microsoft.com/office/officeart/2005/8/layout/hProcess6"/>
    <dgm:cxn modelId="{C79AFA8E-0C31-43E4-9BB9-DCB357227936}" type="presOf" srcId="{7396E732-9796-4C8C-98FF-69A0D92FD0DE}" destId="{4DA6C0E4-37C2-491C-AA16-6F7342805055}" srcOrd="0" destOrd="1" presId="urn:microsoft.com/office/officeart/2005/8/layout/hProcess6"/>
    <dgm:cxn modelId="{0A854795-FF94-4131-8C31-3550487DED9C}" type="presOf" srcId="{E8DBBE8C-11FF-41E3-84B4-B353E945AC17}" destId="{83C9D0EF-1A1A-43A1-8FA8-34E849C0F77B}" srcOrd="1" destOrd="0" presId="urn:microsoft.com/office/officeart/2005/8/layout/hProcess6"/>
    <dgm:cxn modelId="{26D82296-B669-4B5D-9219-14D6E8460163}" srcId="{6FE3F906-5D66-4CBC-A162-9912312269BF}" destId="{E3C3E424-E873-4C0A-BF98-6C1C273FB8CC}" srcOrd="3" destOrd="0" parTransId="{8AA5D67D-E813-456B-967E-005705C520D8}" sibTransId="{41A7F303-487C-4271-91F0-4659CBF4ACE8}"/>
    <dgm:cxn modelId="{DBA6D797-1EB9-465E-BBED-93154A4C0806}" type="presOf" srcId="{1809E2E5-8E9E-4DB5-AACD-695501F9550C}" destId="{83C9D0EF-1A1A-43A1-8FA8-34E849C0F77B}" srcOrd="1" destOrd="2" presId="urn:microsoft.com/office/officeart/2005/8/layout/hProcess6"/>
    <dgm:cxn modelId="{FE942DB0-BD3C-43FF-89ED-E658D3062C3E}" type="presOf" srcId="{268A5594-F46D-44D5-92FB-3BB08112DE55}" destId="{4DA6C0E4-37C2-491C-AA16-6F7342805055}" srcOrd="0" destOrd="5" presId="urn:microsoft.com/office/officeart/2005/8/layout/hProcess6"/>
    <dgm:cxn modelId="{7DB224B5-3D83-4E16-85AE-1E6E8AEF2ADE}" type="presOf" srcId="{E3C3E424-E873-4C0A-BF98-6C1C273FB8CC}" destId="{83C9D0EF-1A1A-43A1-8FA8-34E849C0F77B}" srcOrd="1" destOrd="3" presId="urn:microsoft.com/office/officeart/2005/8/layout/hProcess6"/>
    <dgm:cxn modelId="{77A72ABF-381A-461A-9A7A-C1532C085506}" srcId="{4F8037F9-BDF9-4922-BB64-64E8164CED52}" destId="{6FE3F906-5D66-4CBC-A162-9912312269BF}" srcOrd="0" destOrd="0" parTransId="{E0BAF0CE-9912-43CF-8850-5AAC38AC542B}" sibTransId="{A6CD5F75-7876-4E30-BD55-14C9C1B15E0E}"/>
    <dgm:cxn modelId="{3C78E0CA-DC10-4482-A6C2-4BB0D765D205}" srcId="{6FE3F906-5D66-4CBC-A162-9912312269BF}" destId="{E8DBBE8C-11FF-41E3-84B4-B353E945AC17}" srcOrd="0" destOrd="0" parTransId="{0BD76627-9BDB-4E67-9754-5046E8D7E274}" sibTransId="{61DEAD6B-392B-458E-ADD9-2638D9AF7DCC}"/>
    <dgm:cxn modelId="{6B6664D5-A72B-481B-9826-C521A59F0FD6}" type="presOf" srcId="{6FE3F906-5D66-4CBC-A162-9912312269BF}" destId="{8D2F9B7E-35F6-4FAD-9D4A-639497494C9C}" srcOrd="0" destOrd="0" presId="urn:microsoft.com/office/officeart/2005/8/layout/hProcess6"/>
    <dgm:cxn modelId="{517899D8-923B-4204-9198-6F44D4809628}" type="presOf" srcId="{268A5594-F46D-44D5-92FB-3BB08112DE55}" destId="{83C9D0EF-1A1A-43A1-8FA8-34E849C0F77B}" srcOrd="1" destOrd="5" presId="urn:microsoft.com/office/officeart/2005/8/layout/hProcess6"/>
    <dgm:cxn modelId="{1F25ACEC-6537-4722-AB1A-BA0190E1E161}" srcId="{6FE3F906-5D66-4CBC-A162-9912312269BF}" destId="{268A5594-F46D-44D5-92FB-3BB08112DE55}" srcOrd="5" destOrd="0" parTransId="{BF1C82C1-BEA0-41E7-9C31-452479F92787}" sibTransId="{DAD67422-EA12-49C6-A81B-E721A4BDA042}"/>
    <dgm:cxn modelId="{FBB01A22-2E6F-417B-8608-83EE862019F1}" type="presParOf" srcId="{038DCFBB-BC1F-4E12-8072-9DCF58DB2008}" destId="{D3E84249-4CF0-49E6-AE31-E547F02B8578}" srcOrd="0" destOrd="0" presId="urn:microsoft.com/office/officeart/2005/8/layout/hProcess6"/>
    <dgm:cxn modelId="{9488C92C-DED4-411F-98FD-1F96DA2449D9}" type="presParOf" srcId="{D3E84249-4CF0-49E6-AE31-E547F02B8578}" destId="{64931C5E-3E4A-473E-B8E6-376A92019659}" srcOrd="0" destOrd="0" presId="urn:microsoft.com/office/officeart/2005/8/layout/hProcess6"/>
    <dgm:cxn modelId="{368A9237-5469-467B-84EE-19A567964EBF}" type="presParOf" srcId="{D3E84249-4CF0-49E6-AE31-E547F02B8578}" destId="{4DA6C0E4-37C2-491C-AA16-6F7342805055}" srcOrd="1" destOrd="0" presId="urn:microsoft.com/office/officeart/2005/8/layout/hProcess6"/>
    <dgm:cxn modelId="{20FB01AF-BAC1-4613-9A05-B6BA64BCF673}" type="presParOf" srcId="{D3E84249-4CF0-49E6-AE31-E547F02B8578}" destId="{83C9D0EF-1A1A-43A1-8FA8-34E849C0F77B}" srcOrd="2" destOrd="0" presId="urn:microsoft.com/office/officeart/2005/8/layout/hProcess6"/>
    <dgm:cxn modelId="{5128D5F5-3AF3-4437-8633-B45160BE557C}" type="presParOf" srcId="{D3E84249-4CF0-49E6-AE31-E547F02B8578}" destId="{8D2F9B7E-35F6-4FAD-9D4A-639497494C9C}" srcOrd="3" destOrd="0" presId="urn:microsoft.com/office/officeart/2005/8/layout/hProcess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6EB17D-E8BE-42DA-A5C3-23EB9580080B}">
      <dsp:nvSpPr>
        <dsp:cNvPr id="0" name=""/>
        <dsp:cNvSpPr/>
      </dsp:nvSpPr>
      <dsp:spPr>
        <a:xfrm>
          <a:off x="2602864" y="368391"/>
          <a:ext cx="8595349" cy="4666258"/>
        </a:xfrm>
        <a:prstGeom prst="rightArrow">
          <a:avLst>
            <a:gd name="adj1" fmla="val 70000"/>
            <a:gd name="adj2" fmla="val 50000"/>
          </a:avLst>
        </a:prstGeom>
        <a:solidFill>
          <a:schemeClr val="accent3">
            <a:alpha val="90000"/>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800" tIns="12700" rIns="25400" bIns="12700" numCol="1" spcCol="1270" anchor="ctr" anchorCtr="0">
          <a:noAutofit/>
        </a:bodyPr>
        <a:lstStyle/>
        <a:p>
          <a:pPr marL="361950" lvl="1" indent="0" algn="l" defTabSz="889000">
            <a:lnSpc>
              <a:spcPct val="90000"/>
            </a:lnSpc>
            <a:spcBef>
              <a:spcPct val="0"/>
            </a:spcBef>
            <a:spcAft>
              <a:spcPct val="15000"/>
            </a:spcAft>
            <a:buFont typeface="Wingdings" panose="05000000000000000000" pitchFamily="2" charset="2"/>
            <a:buChar char="v"/>
          </a:pPr>
          <a:r>
            <a:rPr lang="es-BO" sz="2000" kern="1200" noProof="0" dirty="0">
              <a:latin typeface="Arial" panose="020B0604020202020204" pitchFamily="34" charset="0"/>
              <a:cs typeface="Arial" panose="020B0604020202020204" pitchFamily="34" charset="0"/>
            </a:rPr>
            <a:t>Triage Automatizado: Clasificación y priorización inicial de incidentes.</a:t>
          </a:r>
        </a:p>
        <a:p>
          <a:pPr marL="361950" lvl="1" indent="0" algn="l" defTabSz="889000">
            <a:lnSpc>
              <a:spcPct val="90000"/>
            </a:lnSpc>
            <a:spcBef>
              <a:spcPct val="0"/>
            </a:spcBef>
            <a:spcAft>
              <a:spcPct val="15000"/>
            </a:spcAft>
            <a:buFont typeface="Wingdings" panose="05000000000000000000" pitchFamily="2" charset="2"/>
            <a:buChar char="v"/>
          </a:pPr>
          <a:endParaRPr lang="es-BO" sz="2000" kern="1200" noProof="0" dirty="0">
            <a:latin typeface="Arial" panose="020B0604020202020204" pitchFamily="34" charset="0"/>
            <a:cs typeface="Arial" panose="020B0604020202020204" pitchFamily="34" charset="0"/>
          </a:endParaRPr>
        </a:p>
        <a:p>
          <a:pPr marL="361950" lvl="1" indent="0" algn="l" defTabSz="889000">
            <a:lnSpc>
              <a:spcPct val="90000"/>
            </a:lnSpc>
            <a:spcBef>
              <a:spcPct val="0"/>
            </a:spcBef>
            <a:spcAft>
              <a:spcPct val="15000"/>
            </a:spcAft>
            <a:buFont typeface="Wingdings" panose="05000000000000000000" pitchFamily="2" charset="2"/>
            <a:buChar char="v"/>
          </a:pPr>
          <a:r>
            <a:rPr lang="es-BO" sz="2000" kern="1200" noProof="0" dirty="0">
              <a:latin typeface="Arial" panose="020B0604020202020204" pitchFamily="34" charset="0"/>
              <a:cs typeface="Arial" panose="020B0604020202020204" pitchFamily="34" charset="0"/>
            </a:rPr>
            <a:t>RCA Asistido: Identificación sistemática de causas raíz mediante correlación multi-señal.</a:t>
          </a:r>
        </a:p>
        <a:p>
          <a:pPr marL="361950" lvl="1" indent="0" algn="l" defTabSz="889000">
            <a:lnSpc>
              <a:spcPct val="90000"/>
            </a:lnSpc>
            <a:spcBef>
              <a:spcPct val="0"/>
            </a:spcBef>
            <a:spcAft>
              <a:spcPct val="15000"/>
            </a:spcAft>
            <a:buFont typeface="Wingdings" panose="05000000000000000000" pitchFamily="2" charset="2"/>
            <a:buChar char="v"/>
          </a:pPr>
          <a:endParaRPr lang="es-BO" sz="2000" kern="1200" noProof="0" dirty="0">
            <a:latin typeface="Arial" panose="020B0604020202020204" pitchFamily="34" charset="0"/>
            <a:cs typeface="Arial" panose="020B0604020202020204" pitchFamily="34" charset="0"/>
          </a:endParaRPr>
        </a:p>
        <a:p>
          <a:pPr marL="361950" lvl="1" indent="0" algn="l" defTabSz="889000">
            <a:lnSpc>
              <a:spcPct val="90000"/>
            </a:lnSpc>
            <a:spcBef>
              <a:spcPct val="0"/>
            </a:spcBef>
            <a:spcAft>
              <a:spcPct val="15000"/>
            </a:spcAft>
            <a:buFont typeface="Wingdings" panose="05000000000000000000" pitchFamily="2" charset="2"/>
            <a:buChar char="v"/>
          </a:pPr>
          <a:r>
            <a:rPr lang="es-BO" sz="2000" kern="1200" noProof="0" dirty="0">
              <a:latin typeface="Arial" panose="020B0604020202020204" pitchFamily="34" charset="0"/>
              <a:cs typeface="Arial" panose="020B0604020202020204" pitchFamily="34" charset="0"/>
            </a:rPr>
            <a:t>Detección de Anomalías en flujos de observabilidad.</a:t>
          </a:r>
        </a:p>
      </dsp:txBody>
      <dsp:txXfrm>
        <a:off x="4751701" y="1068330"/>
        <a:ext cx="4813322" cy="3266380"/>
      </dsp:txXfrm>
    </dsp:sp>
    <dsp:sp modelId="{CF851E2C-C28D-43ED-956B-F4F7A656A134}">
      <dsp:nvSpPr>
        <dsp:cNvPr id="0" name=""/>
        <dsp:cNvSpPr/>
      </dsp:nvSpPr>
      <dsp:spPr>
        <a:xfrm>
          <a:off x="1547282" y="1149629"/>
          <a:ext cx="3072840" cy="3072840"/>
        </a:xfrm>
        <a:prstGeom prst="ellipse">
          <a:avLst/>
        </a:prstGeom>
        <a:solidFill>
          <a:schemeClr val="accent3">
            <a:alpha val="9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s-BO" sz="4000" b="1" u="none" kern="1200" noProof="0" dirty="0">
              <a:latin typeface="Arial" panose="020B0604020202020204" pitchFamily="34" charset="0"/>
              <a:cs typeface="Arial" panose="020B0604020202020204" pitchFamily="34" charset="0"/>
            </a:rPr>
            <a:t>Incluye</a:t>
          </a:r>
        </a:p>
      </dsp:txBody>
      <dsp:txXfrm>
        <a:off x="1997289" y="1599636"/>
        <a:ext cx="2172826" cy="21728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A6C0E4-37C2-491C-AA16-6F7342805055}">
      <dsp:nvSpPr>
        <dsp:cNvPr id="0" name=""/>
        <dsp:cNvSpPr/>
      </dsp:nvSpPr>
      <dsp:spPr>
        <a:xfrm>
          <a:off x="1995701" y="238198"/>
          <a:ext cx="7955278" cy="4793632"/>
        </a:xfrm>
        <a:prstGeom prst="rightArrow">
          <a:avLst>
            <a:gd name="adj1" fmla="val 70000"/>
            <a:gd name="adj2" fmla="val 50000"/>
          </a:avLst>
        </a:prstGeom>
        <a:solidFill>
          <a:schemeClr val="accent3">
            <a:alpha val="90000"/>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800" tIns="12700" rIns="25400" bIns="12700" numCol="1" spcCol="1270" anchor="ctr" anchorCtr="0">
          <a:noAutofit/>
        </a:bodyPr>
        <a:lstStyle/>
        <a:p>
          <a:pPr marL="228600" lvl="1" indent="-228600" algn="l" defTabSz="889000">
            <a:lnSpc>
              <a:spcPct val="90000"/>
            </a:lnSpc>
            <a:spcBef>
              <a:spcPct val="0"/>
            </a:spcBef>
            <a:spcAft>
              <a:spcPct val="15000"/>
            </a:spcAft>
            <a:buClr>
              <a:srgbClr val="000000"/>
            </a:buClr>
            <a:buSzPts val="3000"/>
            <a:buFont typeface="Wingdings" panose="05000000000000000000" pitchFamily="2" charset="2"/>
            <a:buNone/>
          </a:pPr>
          <a:endParaRPr lang="es-BO" sz="2000" kern="1200" noProof="0" dirty="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Font typeface="Wingdings" panose="05000000000000000000" pitchFamily="2" charset="2"/>
            <a:buChar char="v"/>
          </a:pPr>
          <a:r>
            <a:rPr lang="es-BO" sz="2000" kern="1200" noProof="0" dirty="0">
              <a:latin typeface="Arial" panose="020B0604020202020204" pitchFamily="34" charset="0"/>
              <a:cs typeface="Arial" panose="020B0604020202020204" pitchFamily="34" charset="0"/>
            </a:rPr>
            <a:t>Generación automática de pruebas de software.</a:t>
          </a:r>
        </a:p>
        <a:p>
          <a:pPr marL="228600" lvl="1" indent="-228600" algn="l" defTabSz="889000">
            <a:lnSpc>
              <a:spcPct val="90000"/>
            </a:lnSpc>
            <a:spcBef>
              <a:spcPct val="0"/>
            </a:spcBef>
            <a:spcAft>
              <a:spcPct val="15000"/>
            </a:spcAft>
            <a:buFont typeface="Wingdings" panose="05000000000000000000" pitchFamily="2" charset="2"/>
            <a:buChar char="v"/>
          </a:pPr>
          <a:endParaRPr lang="es-BO" sz="2000" kern="1200" noProof="0" dirty="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Font typeface="Wingdings" panose="05000000000000000000" pitchFamily="2" charset="2"/>
            <a:buChar char="v"/>
          </a:pPr>
          <a:r>
            <a:rPr lang="es-BO" sz="2000" kern="1200" noProof="0" dirty="0">
              <a:latin typeface="Arial" panose="020B0604020202020204" pitchFamily="34" charset="0"/>
              <a:cs typeface="Arial" panose="020B0604020202020204" pitchFamily="34" charset="0"/>
            </a:rPr>
            <a:t>Seguridad ofensiva.</a:t>
          </a:r>
        </a:p>
        <a:p>
          <a:pPr marL="228600" lvl="1" indent="-228600" algn="l" defTabSz="889000">
            <a:lnSpc>
              <a:spcPct val="90000"/>
            </a:lnSpc>
            <a:spcBef>
              <a:spcPct val="0"/>
            </a:spcBef>
            <a:spcAft>
              <a:spcPct val="15000"/>
            </a:spcAft>
            <a:buFont typeface="Wingdings" panose="05000000000000000000" pitchFamily="2" charset="2"/>
            <a:buChar char="v"/>
          </a:pPr>
          <a:endParaRPr lang="es-BO" sz="2000" kern="1200" noProof="0" dirty="0">
            <a:latin typeface="Arial" panose="020B0604020202020204" pitchFamily="34" charset="0"/>
            <a:cs typeface="Arial" panose="020B0604020202020204" pitchFamily="34" charset="0"/>
          </a:endParaRPr>
        </a:p>
        <a:p>
          <a:pPr marL="228600" lvl="1" indent="-228600" algn="l" defTabSz="889000">
            <a:lnSpc>
              <a:spcPct val="90000"/>
            </a:lnSpc>
            <a:spcBef>
              <a:spcPct val="0"/>
            </a:spcBef>
            <a:spcAft>
              <a:spcPct val="15000"/>
            </a:spcAft>
            <a:buFont typeface="Wingdings" panose="05000000000000000000" pitchFamily="2" charset="2"/>
            <a:buChar char="v"/>
          </a:pPr>
          <a:r>
            <a:rPr lang="es-BO" sz="2000" kern="1200" noProof="0" dirty="0">
              <a:latin typeface="Arial" panose="020B0604020202020204" pitchFamily="34" charset="0"/>
              <a:cs typeface="Arial" panose="020B0604020202020204" pitchFamily="34" charset="0"/>
            </a:rPr>
            <a:t>IA generativa para escritura de código. </a:t>
          </a:r>
        </a:p>
      </dsp:txBody>
      <dsp:txXfrm>
        <a:off x="3984521" y="957243"/>
        <a:ext cx="4288687" cy="3355542"/>
      </dsp:txXfrm>
    </dsp:sp>
    <dsp:sp modelId="{8D2F9B7E-35F6-4FAD-9D4A-639497494C9C}">
      <dsp:nvSpPr>
        <dsp:cNvPr id="0" name=""/>
        <dsp:cNvSpPr/>
      </dsp:nvSpPr>
      <dsp:spPr>
        <a:xfrm>
          <a:off x="728492" y="1149629"/>
          <a:ext cx="3072841" cy="3072841"/>
        </a:xfrm>
        <a:prstGeom prst="ellipse">
          <a:avLst/>
        </a:prstGeom>
        <a:solidFill>
          <a:schemeClr val="accent3">
            <a:alpha val="9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s-BO" sz="4000" b="1" u="none" kern="1200" noProof="0" dirty="0">
              <a:latin typeface="Arial" panose="020B0604020202020204" pitchFamily="34" charset="0"/>
              <a:cs typeface="Arial" panose="020B0604020202020204" pitchFamily="34" charset="0"/>
            </a:rPr>
            <a:t>Fuera de Alcance</a:t>
          </a:r>
        </a:p>
      </dsp:txBody>
      <dsp:txXfrm>
        <a:off x="1178499" y="1599636"/>
        <a:ext cx="2172827" cy="217282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B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924BF-2CC5-4309-8F5E-AA3BF6E6EFD6}" type="datetimeFigureOut">
              <a:rPr lang="es-BO" smtClean="0"/>
              <a:t>6/3/2026</a:t>
            </a:fld>
            <a:endParaRPr lang="es-BO"/>
          </a:p>
        </p:txBody>
      </p:sp>
      <p:sp>
        <p:nvSpPr>
          <p:cNvPr id="4" name="Marcador de imagen de diapositiva 3"/>
          <p:cNvSpPr>
            <a:spLocks noGrp="1" noRot="1" noChangeAspect="1"/>
          </p:cNvSpPr>
          <p:nvPr>
            <p:ph type="sldImg" idx="2"/>
          </p:nvPr>
        </p:nvSpPr>
        <p:spPr>
          <a:xfrm>
            <a:off x="665163" y="1143000"/>
            <a:ext cx="5527675" cy="3086100"/>
          </a:xfrm>
          <a:prstGeom prst="rect">
            <a:avLst/>
          </a:prstGeom>
          <a:noFill/>
          <a:ln w="12700">
            <a:solidFill>
              <a:prstClr val="black"/>
            </a:solidFill>
          </a:ln>
        </p:spPr>
        <p:txBody>
          <a:bodyPr vert="horz" lIns="91440" tIns="45720" rIns="91440" bIns="45720" rtlCol="0" anchor="ctr"/>
          <a:lstStyle/>
          <a:p>
            <a:endParaRPr lang="es-B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B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EAE38-D274-471A-BDCC-0A715AC2A9EB}" type="slidenum">
              <a:rPr lang="es-BO" smtClean="0"/>
              <a:t>‹#›</a:t>
            </a:fld>
            <a:endParaRPr lang="es-BO"/>
          </a:p>
        </p:txBody>
      </p:sp>
    </p:spTree>
    <p:extLst>
      <p:ext uri="{BB962C8B-B14F-4D97-AF65-F5344CB8AC3E}">
        <p14:creationId xmlns:p14="http://schemas.microsoft.com/office/powerpoint/2010/main" val="3779401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s-ES" sz="1200" b="1" i="0" kern="1200" dirty="0">
                <a:solidFill>
                  <a:schemeClr val="tx1"/>
                </a:solidFill>
                <a:effectLst/>
                <a:latin typeface="+mn-lt"/>
                <a:ea typeface="+mn-ea"/>
                <a:cs typeface="+mn-cs"/>
              </a:rPr>
              <a:t>Tema:</a:t>
            </a:r>
            <a:r>
              <a:rPr lang="es-ES" sz="1200" b="0" i="0" kern="1200" dirty="0">
                <a:solidFill>
                  <a:schemeClr val="tx1"/>
                </a:solidFill>
                <a:effectLst/>
                <a:latin typeface="+mn-lt"/>
                <a:ea typeface="+mn-ea"/>
                <a:cs typeface="+mn-cs"/>
              </a:rPr>
              <a:t> IA para análisis de fallos y calidad operativa: triage, RCA y observabilidad</a:t>
            </a:r>
            <a:br>
              <a:rPr lang="es-ES" dirty="0"/>
            </a:br>
            <a:r>
              <a:rPr lang="es-ES" sz="1200" b="1" i="0" kern="1200" dirty="0">
                <a:solidFill>
                  <a:schemeClr val="tx1"/>
                </a:solidFill>
                <a:effectLst/>
                <a:latin typeface="+mn-lt"/>
                <a:ea typeface="+mn-ea"/>
                <a:cs typeface="+mn-cs"/>
              </a:rPr>
              <a:t>Pregunta guía:</a:t>
            </a:r>
            <a:r>
              <a:rPr lang="es-ES" sz="1200" b="0" i="0" kern="1200" dirty="0">
                <a:solidFill>
                  <a:schemeClr val="tx1"/>
                </a:solidFill>
                <a:effectLst/>
                <a:latin typeface="+mn-lt"/>
                <a:ea typeface="+mn-ea"/>
                <a:cs typeface="+mn-cs"/>
              </a:rPr>
              <a:t> ¿Cómo puede la IA mejorar el triage, el análisis de causa raíz (RCA) y la observabilidad sin comprometer confiabilidad, auditabilidad y gobernanza?</a:t>
            </a:r>
            <a:br>
              <a:rPr lang="es-ES" dirty="0"/>
            </a:br>
            <a:r>
              <a:rPr lang="es-ES" sz="1200" b="1" i="0" kern="1200" dirty="0">
                <a:solidFill>
                  <a:schemeClr val="tx1"/>
                </a:solidFill>
                <a:effectLst/>
                <a:latin typeface="+mn-lt"/>
                <a:ea typeface="+mn-ea"/>
                <a:cs typeface="+mn-cs"/>
              </a:rPr>
              <a:t>Fuentes analizadas:</a:t>
            </a:r>
            <a:r>
              <a:rPr lang="es-ES" sz="1200" b="0" i="0" kern="1200" dirty="0">
                <a:solidFill>
                  <a:schemeClr val="tx1"/>
                </a:solidFill>
                <a:effectLst/>
                <a:latin typeface="+mn-lt"/>
                <a:ea typeface="+mn-ea"/>
                <a:cs typeface="+mn-cs"/>
              </a:rPr>
              <a:t> 15</a:t>
            </a:r>
            <a:br>
              <a:rPr lang="es-ES" dirty="0"/>
            </a:br>
            <a:r>
              <a:rPr lang="es-ES" sz="1200" b="1" i="0" kern="1200" dirty="0">
                <a:solidFill>
                  <a:schemeClr val="tx1"/>
                </a:solidFill>
                <a:effectLst/>
                <a:latin typeface="+mn-lt"/>
                <a:ea typeface="+mn-ea"/>
                <a:cs typeface="+mn-cs"/>
              </a:rPr>
              <a:t>Tesis principal:</a:t>
            </a:r>
            <a:r>
              <a:rPr lang="es-ES" sz="1200" b="0" i="0" kern="1200" dirty="0">
                <a:solidFill>
                  <a:schemeClr val="tx1"/>
                </a:solidFill>
                <a:effectLst/>
                <a:latin typeface="+mn-lt"/>
                <a:ea typeface="+mn-ea"/>
                <a:cs typeface="+mn-cs"/>
              </a:rPr>
              <a:t> La IA mejora significativamente la velocidad y reducción de ruido en operaciones, pero solo genera valor sostenible cuando está integrada a prácticas disciplinadas de observabilidad, con supervisión humana y gobernanza explícita.</a:t>
            </a:r>
            <a:endParaRPr lang="en-US" dirty="0"/>
          </a:p>
        </p:txBody>
      </p:sp>
      <p:sp>
        <p:nvSpPr>
          <p:cNvPr id="4" name="Slide Number Placeholder 3"/>
          <p:cNvSpPr>
            <a:spLocks noGrp="1"/>
          </p:cNvSpPr>
          <p:nvPr>
            <p:ph type="sldNum" sz="quarter" idx="5"/>
          </p:nvPr>
        </p:nvSpPr>
        <p:spPr/>
        <p:txBody>
          <a:bodyPr/>
          <a:lstStyle/>
          <a:p>
            <a:fld id="{23CEAE38-D274-471A-BDCC-0A715AC2A9EB}" type="slidenum">
              <a:rPr lang="es-BO" smtClean="0"/>
              <a:t>1</a:t>
            </a:fld>
            <a:endParaRPr lang="es-BO"/>
          </a:p>
        </p:txBody>
      </p:sp>
    </p:spTree>
    <p:extLst>
      <p:ext uri="{BB962C8B-B14F-4D97-AF65-F5344CB8AC3E}">
        <p14:creationId xmlns:p14="http://schemas.microsoft.com/office/powerpoint/2010/main" val="3679145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1 — Contexto y propósito</a:t>
            </a:r>
          </a:p>
          <a:p>
            <a:r>
              <a:rPr lang="es-ES" sz="1200" b="1" i="0" kern="1200" dirty="0">
                <a:solidFill>
                  <a:schemeClr val="tx1"/>
                </a:solidFill>
                <a:effectLst/>
                <a:latin typeface="+mn-lt"/>
                <a:ea typeface="+mn-ea"/>
                <a:cs typeface="+mn-cs"/>
              </a:rPr>
              <a:t>Por qué este tema importa hoy: </a:t>
            </a:r>
            <a:r>
              <a:rPr lang="es-ES" sz="1200" b="0" i="0" kern="1200" dirty="0">
                <a:solidFill>
                  <a:schemeClr val="tx1"/>
                </a:solidFill>
                <a:effectLst/>
                <a:latin typeface="+mn-lt"/>
                <a:ea typeface="+mn-ea"/>
                <a:cs typeface="+mn-cs"/>
              </a:rPr>
              <a:t>La creciente complejidad de arquitecturas distribuidas (microservicios, </a:t>
            </a:r>
            <a:r>
              <a:rPr lang="es-ES" sz="1200" b="0" i="0" kern="1200" dirty="0" err="1">
                <a:solidFill>
                  <a:schemeClr val="tx1"/>
                </a:solidFill>
                <a:effectLst/>
                <a:latin typeface="+mn-lt"/>
                <a:ea typeface="+mn-ea"/>
                <a:cs typeface="+mn-cs"/>
              </a:rPr>
              <a:t>cloud</a:t>
            </a:r>
            <a:r>
              <a:rPr lang="es-ES" sz="1200" b="0" i="0" kern="1200" dirty="0">
                <a:solidFill>
                  <a:schemeClr val="tx1"/>
                </a:solidFill>
                <a:effectLst/>
                <a:latin typeface="+mn-lt"/>
                <a:ea typeface="+mn-ea"/>
                <a:cs typeface="+mn-cs"/>
              </a:rPr>
              <a:t>-native) incrementa el volumen de señales operativas y supera la capacidad humana de análisis manual.</a:t>
            </a:r>
          </a:p>
          <a:p>
            <a:r>
              <a:rPr lang="es-ES" sz="1200" b="1" i="0" kern="1200" dirty="0">
                <a:solidFill>
                  <a:schemeClr val="tx1"/>
                </a:solidFill>
                <a:effectLst/>
                <a:latin typeface="+mn-lt"/>
                <a:ea typeface="+mn-ea"/>
                <a:cs typeface="+mn-cs"/>
              </a:rPr>
              <a:t>Qué problema de QA/ingeniería aborda: </a:t>
            </a:r>
            <a:r>
              <a:rPr lang="es-ES" sz="1200" b="0" i="0" kern="1200" dirty="0">
                <a:solidFill>
                  <a:schemeClr val="tx1"/>
                </a:solidFill>
                <a:effectLst/>
                <a:latin typeface="+mn-lt"/>
                <a:ea typeface="+mn-ea"/>
                <a:cs typeface="+mn-cs"/>
              </a:rPr>
              <a:t>Reducción del MTTR, clasificación eficiente de incidentes, identificación de causa raíz y disminución del ruido operacional.</a:t>
            </a:r>
          </a:p>
          <a:p>
            <a:r>
              <a:rPr lang="es-ES" sz="1200" b="1" i="0" kern="1200" dirty="0">
                <a:solidFill>
                  <a:schemeClr val="tx1"/>
                </a:solidFill>
                <a:effectLst/>
                <a:latin typeface="+mn-lt"/>
                <a:ea typeface="+mn-ea"/>
                <a:cs typeface="+mn-cs"/>
              </a:rPr>
              <a:t>Qué mejora/decisión habilita: </a:t>
            </a:r>
            <a:r>
              <a:rPr lang="es-ES" sz="1200" b="0" i="0" kern="1200" dirty="0">
                <a:solidFill>
                  <a:schemeClr val="tx1"/>
                </a:solidFill>
                <a:effectLst/>
                <a:latin typeface="+mn-lt"/>
                <a:ea typeface="+mn-ea"/>
                <a:cs typeface="+mn-cs"/>
              </a:rPr>
              <a:t>Permite priorizar, correlacionar y diagnosticar incidentes en tiempo casi real con menor intervención manual.</a:t>
            </a:r>
          </a:p>
          <a:p>
            <a:endParaRPr lang="en-US" dirty="0"/>
          </a:p>
        </p:txBody>
      </p:sp>
      <p:sp>
        <p:nvSpPr>
          <p:cNvPr id="4" name="Slide Number Placeholder 3"/>
          <p:cNvSpPr>
            <a:spLocks noGrp="1"/>
          </p:cNvSpPr>
          <p:nvPr>
            <p:ph type="sldNum" sz="quarter" idx="5"/>
          </p:nvPr>
        </p:nvSpPr>
        <p:spPr/>
        <p:txBody>
          <a:bodyPr/>
          <a:lstStyle/>
          <a:p>
            <a:fld id="{23CEAE38-D274-471A-BDCC-0A715AC2A9EB}" type="slidenum">
              <a:rPr lang="es-BO" smtClean="0"/>
              <a:t>2</a:t>
            </a:fld>
            <a:endParaRPr lang="es-BO"/>
          </a:p>
        </p:txBody>
      </p:sp>
    </p:spTree>
    <p:extLst>
      <p:ext uri="{BB962C8B-B14F-4D97-AF65-F5344CB8AC3E}">
        <p14:creationId xmlns:p14="http://schemas.microsoft.com/office/powerpoint/2010/main" val="3005703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2 — Pregunta guía</a:t>
            </a:r>
          </a:p>
          <a:p>
            <a:r>
              <a:rPr lang="es-ES" sz="1200" b="0" i="0" kern="1200" dirty="0">
                <a:solidFill>
                  <a:schemeClr val="tx1"/>
                </a:solidFill>
                <a:effectLst/>
                <a:latin typeface="+mn-lt"/>
                <a:ea typeface="+mn-ea"/>
                <a:cs typeface="+mn-cs"/>
              </a:rPr>
              <a:t>Pregunta guía: ¿Cómo integrar IA en triage y RCA manteniendo confiabilidad, explicabilidad y control organizacional?</a:t>
            </a:r>
          </a:p>
          <a:p>
            <a:endParaRPr lang="en-US" dirty="0"/>
          </a:p>
        </p:txBody>
      </p:sp>
      <p:sp>
        <p:nvSpPr>
          <p:cNvPr id="4" name="Slide Number Placeholder 3"/>
          <p:cNvSpPr>
            <a:spLocks noGrp="1"/>
          </p:cNvSpPr>
          <p:nvPr>
            <p:ph type="sldNum" sz="quarter" idx="5"/>
          </p:nvPr>
        </p:nvSpPr>
        <p:spPr/>
        <p:txBody>
          <a:bodyPr/>
          <a:lstStyle/>
          <a:p>
            <a:fld id="{23CEAE38-D274-471A-BDCC-0A715AC2A9EB}" type="slidenum">
              <a:rPr lang="es-BO" smtClean="0"/>
              <a:t>3</a:t>
            </a:fld>
            <a:endParaRPr lang="es-BO"/>
          </a:p>
        </p:txBody>
      </p:sp>
    </p:spTree>
    <p:extLst>
      <p:ext uri="{BB962C8B-B14F-4D97-AF65-F5344CB8AC3E}">
        <p14:creationId xmlns:p14="http://schemas.microsoft.com/office/powerpoint/2010/main" val="3904009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668D8-F47E-BE2B-5B36-0A3BFF53B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D251E-1DD6-D079-2472-0F515C2EE99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B32FAE-234A-1EFB-98AD-9F0E8AF3152F}"/>
              </a:ext>
            </a:extLst>
          </p:cNvPr>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2 — Pregunta guía y alcance</a:t>
            </a:r>
          </a:p>
          <a:p>
            <a:r>
              <a:rPr lang="es-ES" sz="1200" b="0" i="0" kern="1200" dirty="0">
                <a:solidFill>
                  <a:schemeClr val="tx1"/>
                </a:solidFill>
                <a:effectLst/>
                <a:latin typeface="+mn-lt"/>
                <a:ea typeface="+mn-ea"/>
                <a:cs typeface="+mn-cs"/>
              </a:rPr>
              <a:t>Incluye:</a:t>
            </a:r>
          </a:p>
          <a:p>
            <a:pPr lvl="1"/>
            <a:r>
              <a:rPr lang="es-ES" sz="1200" b="0" i="0" kern="1200" dirty="0">
                <a:solidFill>
                  <a:schemeClr val="tx1"/>
                </a:solidFill>
                <a:effectLst/>
                <a:latin typeface="+mn-lt"/>
                <a:ea typeface="+mn-ea"/>
                <a:cs typeface="+mn-cs"/>
              </a:rPr>
              <a:t>Triage automatizado de incidentes.</a:t>
            </a:r>
          </a:p>
          <a:p>
            <a:pPr lvl="1"/>
            <a:r>
              <a:rPr lang="es-ES" sz="1200" b="0" i="0" kern="1200" dirty="0">
                <a:solidFill>
                  <a:schemeClr val="tx1"/>
                </a:solidFill>
                <a:effectLst/>
                <a:latin typeface="+mn-lt"/>
                <a:ea typeface="+mn-ea"/>
                <a:cs typeface="+mn-cs"/>
              </a:rPr>
              <a:t>RCA asistido por correlación </a:t>
            </a:r>
            <a:r>
              <a:rPr lang="es-ES" sz="1200" b="0" i="0" kern="1200" dirty="0" err="1">
                <a:solidFill>
                  <a:schemeClr val="tx1"/>
                </a:solidFill>
                <a:effectLst/>
                <a:latin typeface="+mn-lt"/>
                <a:ea typeface="+mn-ea"/>
                <a:cs typeface="+mn-cs"/>
              </a:rPr>
              <a:t>multi-señal</a:t>
            </a:r>
            <a:r>
              <a:rPr lang="es-ES" sz="1200" b="0" i="0" kern="1200" dirty="0">
                <a:solidFill>
                  <a:schemeClr val="tx1"/>
                </a:solidFill>
                <a:effectLst/>
                <a:latin typeface="+mn-lt"/>
                <a:ea typeface="+mn-ea"/>
                <a:cs typeface="+mn-cs"/>
              </a:rPr>
              <a:t>.</a:t>
            </a:r>
          </a:p>
          <a:p>
            <a:pPr lvl="1"/>
            <a:r>
              <a:rPr lang="es-ES" sz="1200" b="0" i="0" kern="1200" dirty="0" err="1">
                <a:solidFill>
                  <a:schemeClr val="tx1"/>
                </a:solidFill>
                <a:effectLst/>
                <a:latin typeface="+mn-lt"/>
                <a:ea typeface="+mn-ea"/>
                <a:cs typeface="+mn-cs"/>
              </a:rPr>
              <a:t>Anomaly</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detection</a:t>
            </a:r>
            <a:r>
              <a:rPr lang="es-ES" sz="1200" b="0" i="0" kern="1200" dirty="0">
                <a:solidFill>
                  <a:schemeClr val="tx1"/>
                </a:solidFill>
                <a:effectLst/>
                <a:latin typeface="+mn-lt"/>
                <a:ea typeface="+mn-ea"/>
                <a:cs typeface="+mn-cs"/>
              </a:rPr>
              <a:t> en observabilidad.</a:t>
            </a:r>
          </a:p>
          <a:p>
            <a:r>
              <a:rPr lang="es-ES" sz="1200" b="0" i="0" kern="1200" dirty="0">
                <a:solidFill>
                  <a:schemeClr val="tx1"/>
                </a:solidFill>
                <a:effectLst/>
                <a:latin typeface="+mn-lt"/>
                <a:ea typeface="+mn-ea"/>
                <a:cs typeface="+mn-cs"/>
              </a:rPr>
              <a:t>No incluye:</a:t>
            </a:r>
          </a:p>
          <a:p>
            <a:pPr lvl="1"/>
            <a:r>
              <a:rPr lang="es-ES" sz="1200" b="0" i="0" kern="1200" dirty="0">
                <a:solidFill>
                  <a:schemeClr val="tx1"/>
                </a:solidFill>
                <a:effectLst/>
                <a:latin typeface="+mn-lt"/>
                <a:ea typeface="+mn-ea"/>
                <a:cs typeface="+mn-cs"/>
              </a:rPr>
              <a:t>Generación automática de pruebas.</a:t>
            </a:r>
          </a:p>
          <a:p>
            <a:pPr lvl="1"/>
            <a:r>
              <a:rPr lang="es-ES" sz="1200" b="0" i="0" kern="1200" dirty="0">
                <a:solidFill>
                  <a:schemeClr val="tx1"/>
                </a:solidFill>
                <a:effectLst/>
                <a:latin typeface="+mn-lt"/>
                <a:ea typeface="+mn-ea"/>
                <a:cs typeface="+mn-cs"/>
              </a:rPr>
              <a:t>Seguridad ofensiva o IA generativa para código.</a:t>
            </a:r>
          </a:p>
          <a:p>
            <a:r>
              <a:rPr lang="es-ES" sz="1200" b="0" i="0" kern="1200" dirty="0">
                <a:solidFill>
                  <a:schemeClr val="tx1"/>
                </a:solidFill>
                <a:effectLst/>
                <a:latin typeface="+mn-lt"/>
                <a:ea typeface="+mn-ea"/>
                <a:cs typeface="+mn-cs"/>
              </a:rPr>
              <a:t>Definiciones mínimas (si aplica, 2 términos):</a:t>
            </a:r>
          </a:p>
          <a:p>
            <a:pPr lvl="1"/>
            <a:r>
              <a:rPr lang="es-ES" sz="1200" b="1" i="0" kern="1200" dirty="0">
                <a:solidFill>
                  <a:schemeClr val="tx1"/>
                </a:solidFill>
                <a:effectLst/>
                <a:latin typeface="+mn-lt"/>
                <a:ea typeface="+mn-ea"/>
                <a:cs typeface="+mn-cs"/>
              </a:rPr>
              <a:t>Triage</a:t>
            </a:r>
            <a:r>
              <a:rPr lang="es-ES" sz="1200" b="0" i="0" kern="1200" dirty="0">
                <a:solidFill>
                  <a:schemeClr val="tx1"/>
                </a:solidFill>
                <a:effectLst/>
                <a:latin typeface="+mn-lt"/>
                <a:ea typeface="+mn-ea"/>
                <a:cs typeface="+mn-cs"/>
              </a:rPr>
              <a:t>: Clasificación y priorización inicial de incidentes.</a:t>
            </a:r>
          </a:p>
          <a:p>
            <a:pPr lvl="1"/>
            <a:r>
              <a:rPr lang="es-ES" sz="1200" b="1" i="0" kern="1200" dirty="0">
                <a:solidFill>
                  <a:schemeClr val="tx1"/>
                </a:solidFill>
                <a:effectLst/>
                <a:latin typeface="+mn-lt"/>
                <a:ea typeface="+mn-ea"/>
                <a:cs typeface="+mn-cs"/>
              </a:rPr>
              <a:t>RCA (</a:t>
            </a:r>
            <a:r>
              <a:rPr lang="es-ES" sz="1200" b="1" i="0" kern="1200" dirty="0" err="1">
                <a:solidFill>
                  <a:schemeClr val="tx1"/>
                </a:solidFill>
                <a:effectLst/>
                <a:latin typeface="+mn-lt"/>
                <a:ea typeface="+mn-ea"/>
                <a:cs typeface="+mn-cs"/>
              </a:rPr>
              <a:t>Root</a:t>
            </a:r>
            <a:r>
              <a:rPr lang="es-ES" sz="1200" b="1" i="0" kern="1200" dirty="0">
                <a:solidFill>
                  <a:schemeClr val="tx1"/>
                </a:solidFill>
                <a:effectLst/>
                <a:latin typeface="+mn-lt"/>
                <a:ea typeface="+mn-ea"/>
                <a:cs typeface="+mn-cs"/>
              </a:rPr>
              <a:t> Cause </a:t>
            </a:r>
            <a:r>
              <a:rPr lang="es-ES" sz="1200" b="1" i="0" kern="1200" dirty="0" err="1">
                <a:solidFill>
                  <a:schemeClr val="tx1"/>
                </a:solidFill>
                <a:effectLst/>
                <a:latin typeface="+mn-lt"/>
                <a:ea typeface="+mn-ea"/>
                <a:cs typeface="+mn-cs"/>
              </a:rPr>
              <a:t>Analysis</a:t>
            </a:r>
            <a:r>
              <a:rPr lang="es-ES" sz="1200" b="1" i="0" kern="1200" dirty="0">
                <a:solidFill>
                  <a:schemeClr val="tx1"/>
                </a:solidFill>
                <a:effectLst/>
                <a:latin typeface="+mn-lt"/>
                <a:ea typeface="+mn-ea"/>
                <a:cs typeface="+mn-cs"/>
              </a:rPr>
              <a:t>)</a:t>
            </a:r>
            <a:r>
              <a:rPr lang="es-ES" sz="1200" b="0" i="0" kern="1200" dirty="0">
                <a:solidFill>
                  <a:schemeClr val="tx1"/>
                </a:solidFill>
                <a:effectLst/>
                <a:latin typeface="+mn-lt"/>
                <a:ea typeface="+mn-ea"/>
                <a:cs typeface="+mn-cs"/>
              </a:rPr>
              <a:t>: Identificación sistemática de la causa subyacente de un fallo.</a:t>
            </a:r>
          </a:p>
          <a:p>
            <a:endParaRPr lang="en-US" dirty="0"/>
          </a:p>
        </p:txBody>
      </p:sp>
      <p:sp>
        <p:nvSpPr>
          <p:cNvPr id="4" name="Slide Number Placeholder 3">
            <a:extLst>
              <a:ext uri="{FF2B5EF4-FFF2-40B4-BE49-F238E27FC236}">
                <a16:creationId xmlns:a16="http://schemas.microsoft.com/office/drawing/2014/main" id="{557DD260-374F-1EE7-0306-3E20A4A8B6DF}"/>
              </a:ext>
            </a:extLst>
          </p:cNvPr>
          <p:cNvSpPr>
            <a:spLocks noGrp="1"/>
          </p:cNvSpPr>
          <p:nvPr>
            <p:ph type="sldNum" sz="quarter" idx="5"/>
          </p:nvPr>
        </p:nvSpPr>
        <p:spPr/>
        <p:txBody>
          <a:bodyPr/>
          <a:lstStyle/>
          <a:p>
            <a:fld id="{23CEAE38-D274-471A-BDCC-0A715AC2A9EB}" type="slidenum">
              <a:rPr lang="es-BO" smtClean="0"/>
              <a:t>4</a:t>
            </a:fld>
            <a:endParaRPr lang="es-BO"/>
          </a:p>
        </p:txBody>
      </p:sp>
    </p:spTree>
    <p:extLst>
      <p:ext uri="{BB962C8B-B14F-4D97-AF65-F5344CB8AC3E}">
        <p14:creationId xmlns:p14="http://schemas.microsoft.com/office/powerpoint/2010/main" val="2638476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3 — Método de revisión (cómo construimos el informe)</a:t>
            </a:r>
          </a:p>
          <a:p>
            <a:r>
              <a:rPr lang="es-ES" sz="1200" b="0" i="0" kern="1200" dirty="0">
                <a:solidFill>
                  <a:schemeClr val="tx1"/>
                </a:solidFill>
                <a:effectLst/>
                <a:latin typeface="+mn-lt"/>
                <a:ea typeface="+mn-ea"/>
                <a:cs typeface="+mn-cs"/>
              </a:rPr>
              <a:t>Estrategia de búsqueda: Revisión dirigida de estándares internacionales, literatura académica en ingeniería de software (ICSE) y reportes industriales en </a:t>
            </a:r>
            <a:r>
              <a:rPr lang="es-ES" sz="1200" b="0" i="0" kern="1200" dirty="0" err="1">
                <a:solidFill>
                  <a:schemeClr val="tx1"/>
                </a:solidFill>
                <a:effectLst/>
                <a:latin typeface="+mn-lt"/>
                <a:ea typeface="+mn-ea"/>
                <a:cs typeface="+mn-cs"/>
              </a:rPr>
              <a:t>AIOps</a:t>
            </a:r>
            <a:r>
              <a:rPr lang="es-ES" sz="1200" b="0" i="0" kern="1200" dirty="0">
                <a:solidFill>
                  <a:schemeClr val="tx1"/>
                </a:solidFill>
                <a:effectLst/>
                <a:latin typeface="+mn-lt"/>
                <a:ea typeface="+mn-ea"/>
                <a:cs typeface="+mn-cs"/>
              </a:rPr>
              <a:t> y SRE.</a:t>
            </a:r>
          </a:p>
          <a:p>
            <a:r>
              <a:rPr lang="es-ES" sz="1200" b="0" i="0" kern="1200" dirty="0">
                <a:solidFill>
                  <a:schemeClr val="tx1"/>
                </a:solidFill>
                <a:effectLst/>
                <a:latin typeface="+mn-lt"/>
                <a:ea typeface="+mn-ea"/>
                <a:cs typeface="+mn-cs"/>
              </a:rPr>
              <a:t>Criterios de inclusión:</a:t>
            </a:r>
          </a:p>
          <a:p>
            <a:pPr lvl="1"/>
            <a:r>
              <a:rPr lang="es-ES" sz="1200" b="0" i="0" kern="1200" dirty="0">
                <a:solidFill>
                  <a:schemeClr val="tx1"/>
                </a:solidFill>
                <a:effectLst/>
                <a:latin typeface="+mn-lt"/>
                <a:ea typeface="+mn-ea"/>
                <a:cs typeface="+mn-cs"/>
              </a:rPr>
              <a:t>Aplicación directa a operaciones reales.</a:t>
            </a:r>
          </a:p>
          <a:p>
            <a:pPr lvl="1"/>
            <a:r>
              <a:rPr lang="es-ES" sz="1200" b="0" i="0" kern="1200" dirty="0">
                <a:solidFill>
                  <a:schemeClr val="tx1"/>
                </a:solidFill>
                <a:effectLst/>
                <a:latin typeface="+mn-lt"/>
                <a:ea typeface="+mn-ea"/>
                <a:cs typeface="+mn-cs"/>
              </a:rPr>
              <a:t>Evidencia empírica o marco normativo formal.</a:t>
            </a:r>
          </a:p>
          <a:p>
            <a:pPr lvl="1"/>
            <a:r>
              <a:rPr lang="es-ES" sz="1200" b="0" i="0" kern="1200" dirty="0">
                <a:solidFill>
                  <a:schemeClr val="tx1"/>
                </a:solidFill>
                <a:effectLst/>
                <a:latin typeface="+mn-lt"/>
                <a:ea typeface="+mn-ea"/>
                <a:cs typeface="+mn-cs"/>
              </a:rPr>
              <a:t>Publicaciones 2015–2024.</a:t>
            </a:r>
          </a:p>
          <a:p>
            <a:r>
              <a:rPr lang="es-ES" sz="1200" b="0" i="0" kern="1200" dirty="0">
                <a:solidFill>
                  <a:schemeClr val="tx1"/>
                </a:solidFill>
                <a:effectLst/>
                <a:latin typeface="+mn-lt"/>
                <a:ea typeface="+mn-ea"/>
                <a:cs typeface="+mn-cs"/>
              </a:rPr>
              <a:t>Criterios de exclusión:</a:t>
            </a:r>
          </a:p>
          <a:p>
            <a:pPr lvl="1"/>
            <a:r>
              <a:rPr lang="es-ES" sz="1200" b="0" i="0" kern="1200" dirty="0">
                <a:solidFill>
                  <a:schemeClr val="tx1"/>
                </a:solidFill>
                <a:effectLst/>
                <a:latin typeface="+mn-lt"/>
                <a:ea typeface="+mn-ea"/>
                <a:cs typeface="+mn-cs"/>
              </a:rPr>
              <a:t>Opinión sin respaldo técnico.</a:t>
            </a:r>
          </a:p>
          <a:p>
            <a:pPr lvl="1"/>
            <a:r>
              <a:rPr lang="es-ES" sz="1200" b="0" i="0" kern="1200" dirty="0">
                <a:solidFill>
                  <a:schemeClr val="tx1"/>
                </a:solidFill>
                <a:effectLst/>
                <a:latin typeface="+mn-lt"/>
                <a:ea typeface="+mn-ea"/>
                <a:cs typeface="+mn-cs"/>
              </a:rPr>
              <a:t>Casos puramente comerciales sin evidencia metodológica.</a:t>
            </a:r>
          </a:p>
          <a:p>
            <a:r>
              <a:rPr lang="es-ES" sz="1200" b="0" i="0" kern="1200" dirty="0">
                <a:solidFill>
                  <a:schemeClr val="tx1"/>
                </a:solidFill>
                <a:effectLst/>
                <a:latin typeface="+mn-lt"/>
                <a:ea typeface="+mn-ea"/>
                <a:cs typeface="+mn-cs"/>
              </a:rPr>
              <a:t>Tipos de fuente usados: Industria / Estándar / Estudio académico.</a:t>
            </a:r>
          </a:p>
          <a:p>
            <a:br>
              <a:rPr lang="es-ES" dirty="0"/>
            </a:br>
            <a:endParaRPr lang="en-US" dirty="0"/>
          </a:p>
        </p:txBody>
      </p:sp>
      <p:sp>
        <p:nvSpPr>
          <p:cNvPr id="4" name="Slide Number Placeholder 3"/>
          <p:cNvSpPr>
            <a:spLocks noGrp="1"/>
          </p:cNvSpPr>
          <p:nvPr>
            <p:ph type="sldNum" sz="quarter" idx="5"/>
          </p:nvPr>
        </p:nvSpPr>
        <p:spPr/>
        <p:txBody>
          <a:bodyPr/>
          <a:lstStyle/>
          <a:p>
            <a:fld id="{23CEAE38-D274-471A-BDCC-0A715AC2A9EB}" type="slidenum">
              <a:rPr lang="es-BO" smtClean="0"/>
              <a:t>5</a:t>
            </a:fld>
            <a:endParaRPr lang="es-BO"/>
          </a:p>
        </p:txBody>
      </p:sp>
    </p:spTree>
    <p:extLst>
      <p:ext uri="{BB962C8B-B14F-4D97-AF65-F5344CB8AC3E}">
        <p14:creationId xmlns:p14="http://schemas.microsoft.com/office/powerpoint/2010/main" val="450223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r>
              <a:rPr lang="en-US" sz="1200" b="1" i="0" kern="1200" dirty="0">
                <a:solidFill>
                  <a:schemeClr val="tx1"/>
                </a:solidFill>
                <a:effectLst/>
                <a:latin typeface="+mn-lt"/>
                <a:ea typeface="+mn-ea"/>
                <a:cs typeface="+mn-cs"/>
              </a:rPr>
              <a:t>Slide 4 — Panorama: </a:t>
            </a:r>
            <a:r>
              <a:rPr lang="en-US" sz="1200" b="1" i="0" kern="1200" dirty="0" err="1">
                <a:solidFill>
                  <a:schemeClr val="tx1"/>
                </a:solidFill>
                <a:effectLst/>
                <a:latin typeface="+mn-lt"/>
                <a:ea typeface="+mn-ea"/>
                <a:cs typeface="+mn-cs"/>
              </a:rPr>
              <a:t>mapa</a:t>
            </a:r>
            <a:r>
              <a:rPr lang="en-US" sz="1200" b="1" i="0" kern="1200" dirty="0">
                <a:solidFill>
                  <a:schemeClr val="tx1"/>
                </a:solidFill>
                <a:effectLst/>
                <a:latin typeface="+mn-lt"/>
                <a:ea typeface="+mn-ea"/>
                <a:cs typeface="+mn-cs"/>
              </a:rPr>
              <a:t> de </a:t>
            </a:r>
            <a:r>
              <a:rPr lang="en-US" sz="1200" b="1" i="0" kern="1200" dirty="0" err="1">
                <a:solidFill>
                  <a:schemeClr val="tx1"/>
                </a:solidFill>
                <a:effectLst/>
                <a:latin typeface="+mn-lt"/>
                <a:ea typeface="+mn-ea"/>
                <a:cs typeface="+mn-cs"/>
              </a:rPr>
              <a:t>hallazgos</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visión</a:t>
            </a:r>
            <a:r>
              <a:rPr lang="en-US" sz="1200" b="1" i="0" kern="1200" dirty="0">
                <a:solidFill>
                  <a:schemeClr val="tx1"/>
                </a:solidFill>
                <a:effectLst/>
                <a:latin typeface="+mn-lt"/>
                <a:ea typeface="+mn-ea"/>
                <a:cs typeface="+mn-cs"/>
              </a:rPr>
              <a:t> general)</a:t>
            </a:r>
          </a:p>
          <a:p>
            <a:r>
              <a:rPr lang="en-US" sz="1200" b="0" i="0" kern="1200" dirty="0" err="1">
                <a:solidFill>
                  <a:schemeClr val="tx1"/>
                </a:solidFill>
                <a:effectLst/>
                <a:latin typeface="+mn-lt"/>
                <a:ea typeface="+mn-ea"/>
                <a:cs typeface="+mn-cs"/>
              </a:rPr>
              <a:t>Hallazgo</a:t>
            </a:r>
            <a:r>
              <a:rPr lang="en-US" sz="1200" b="0" i="0" kern="1200" dirty="0">
                <a:solidFill>
                  <a:schemeClr val="tx1"/>
                </a:solidFill>
                <a:effectLst/>
                <a:latin typeface="+mn-lt"/>
                <a:ea typeface="+mn-ea"/>
                <a:cs typeface="+mn-cs"/>
              </a:rPr>
              <a:t> A: La IA reduce MTTR </a:t>
            </a:r>
            <a:r>
              <a:rPr lang="en-US" sz="1200" b="0" i="0" kern="1200" dirty="0" err="1">
                <a:solidFill>
                  <a:schemeClr val="tx1"/>
                </a:solidFill>
                <a:effectLst/>
                <a:latin typeface="+mn-lt"/>
                <a:ea typeface="+mn-ea"/>
                <a:cs typeface="+mn-cs"/>
              </a:rPr>
              <a:t>pero</a:t>
            </a:r>
            <a:r>
              <a:rPr lang="en-US" sz="1200" b="0" i="0" kern="1200" dirty="0">
                <a:solidFill>
                  <a:schemeClr val="tx1"/>
                </a:solidFill>
                <a:effectLst/>
                <a:latin typeface="+mn-lt"/>
                <a:ea typeface="+mn-ea"/>
                <a:cs typeface="+mn-cs"/>
              </a:rPr>
              <a:t> introduce </a:t>
            </a:r>
            <a:r>
              <a:rPr lang="en-US" sz="1200" b="0" i="0" kern="1200" dirty="0" err="1">
                <a:solidFill>
                  <a:schemeClr val="tx1"/>
                </a:solidFill>
                <a:effectLst/>
                <a:latin typeface="+mn-lt"/>
                <a:ea typeface="+mn-ea"/>
                <a:cs typeface="+mn-cs"/>
              </a:rPr>
              <a:t>sesgos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históricos</a:t>
            </a:r>
            <a:r>
              <a:rPr lang="en-US" sz="1200" b="0" i="0" kern="1200" dirty="0">
                <a:solidFill>
                  <a:schemeClr val="tx1"/>
                </a:solidFill>
                <a:effectLst/>
                <a:latin typeface="+mn-lt"/>
                <a:ea typeface="+mn-ea"/>
                <a:cs typeface="+mn-cs"/>
              </a:rPr>
              <a:t> (IDs: S1, S9, S14)</a:t>
            </a:r>
          </a:p>
          <a:p>
            <a:r>
              <a:rPr lang="en-US" sz="1200" b="0" i="0" kern="1200" dirty="0" err="1">
                <a:solidFill>
                  <a:schemeClr val="tx1"/>
                </a:solidFill>
                <a:effectLst/>
                <a:latin typeface="+mn-lt"/>
                <a:ea typeface="+mn-ea"/>
                <a:cs typeface="+mn-cs"/>
              </a:rPr>
              <a:t>Hallazgo</a:t>
            </a:r>
            <a:r>
              <a:rPr lang="en-US" sz="1200" b="0" i="0" kern="1200" dirty="0">
                <a:solidFill>
                  <a:schemeClr val="tx1"/>
                </a:solidFill>
                <a:effectLst/>
                <a:latin typeface="+mn-lt"/>
                <a:ea typeface="+mn-ea"/>
                <a:cs typeface="+mn-cs"/>
              </a:rPr>
              <a:t> B: </a:t>
            </a:r>
            <a:r>
              <a:rPr lang="en-US" sz="1200" b="0" i="0" kern="1200" dirty="0" err="1">
                <a:solidFill>
                  <a:schemeClr val="tx1"/>
                </a:solidFill>
                <a:effectLst/>
                <a:latin typeface="+mn-lt"/>
                <a:ea typeface="+mn-ea"/>
                <a:cs typeface="+mn-cs"/>
              </a:rPr>
              <a:t>Correlación</a:t>
            </a:r>
            <a:r>
              <a:rPr lang="en-US" sz="1200" b="0" i="0" kern="1200" dirty="0">
                <a:solidFill>
                  <a:schemeClr val="tx1"/>
                </a:solidFill>
                <a:effectLst/>
                <a:latin typeface="+mn-lt"/>
                <a:ea typeface="+mn-ea"/>
                <a:cs typeface="+mn-cs"/>
              </a:rPr>
              <a:t> multi-</a:t>
            </a:r>
            <a:r>
              <a:rPr lang="en-US" sz="1200" b="0" i="0" kern="1200" dirty="0" err="1">
                <a:solidFill>
                  <a:schemeClr val="tx1"/>
                </a:solidFill>
                <a:effectLst/>
                <a:latin typeface="+mn-lt"/>
                <a:ea typeface="+mn-ea"/>
                <a:cs typeface="+mn-cs"/>
              </a:rPr>
              <a:t>señal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mejora</a:t>
            </a:r>
            <a:r>
              <a:rPr lang="en-US" sz="1200" b="0" i="0" kern="1200" dirty="0">
                <a:solidFill>
                  <a:schemeClr val="tx1"/>
                </a:solidFill>
                <a:effectLst/>
                <a:latin typeface="+mn-lt"/>
                <a:ea typeface="+mn-ea"/>
                <a:cs typeface="+mn-cs"/>
              </a:rPr>
              <a:t> RCA </a:t>
            </a:r>
            <a:r>
              <a:rPr lang="en-US" sz="1200" b="0" i="0" kern="1200" dirty="0" err="1">
                <a:solidFill>
                  <a:schemeClr val="tx1"/>
                </a:solidFill>
                <a:effectLst/>
                <a:latin typeface="+mn-lt"/>
                <a:ea typeface="+mn-ea"/>
                <a:cs typeface="+mn-cs"/>
              </a:rPr>
              <a:t>inicial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pero</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prueba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causalidad</a:t>
            </a:r>
            <a:r>
              <a:rPr lang="en-US" sz="1200" b="0" i="0" kern="1200" dirty="0">
                <a:solidFill>
                  <a:schemeClr val="tx1"/>
                </a:solidFill>
                <a:effectLst/>
                <a:latin typeface="+mn-lt"/>
                <a:ea typeface="+mn-ea"/>
                <a:cs typeface="+mn-cs"/>
              </a:rPr>
              <a:t> (IDs: S1, S10, S12)</a:t>
            </a:r>
          </a:p>
          <a:p>
            <a:r>
              <a:rPr lang="en-US" sz="1200" b="0" i="0" kern="1200" dirty="0" err="1">
                <a:solidFill>
                  <a:schemeClr val="tx1"/>
                </a:solidFill>
                <a:effectLst/>
                <a:latin typeface="+mn-lt"/>
                <a:ea typeface="+mn-ea"/>
                <a:cs typeface="+mn-cs"/>
              </a:rPr>
              <a:t>Hallazgo</a:t>
            </a:r>
            <a:r>
              <a:rPr lang="en-US" sz="1200" b="0" i="0" kern="1200" dirty="0">
                <a:solidFill>
                  <a:schemeClr val="tx1"/>
                </a:solidFill>
                <a:effectLst/>
                <a:latin typeface="+mn-lt"/>
                <a:ea typeface="+mn-ea"/>
                <a:cs typeface="+mn-cs"/>
              </a:rPr>
              <a:t> C: Anomaly detection </a:t>
            </a:r>
            <a:r>
              <a:rPr lang="en-US" sz="1200" b="0" i="0" kern="1200" dirty="0" err="1">
                <a:solidFill>
                  <a:schemeClr val="tx1"/>
                </a:solidFill>
                <a:effectLst/>
                <a:latin typeface="+mn-lt"/>
                <a:ea typeface="+mn-ea"/>
                <a:cs typeface="+mn-cs"/>
              </a:rPr>
              <a:t>depende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críticamente</a:t>
            </a:r>
            <a:r>
              <a:rPr lang="en-US" sz="1200" b="0" i="0" kern="1200" dirty="0">
                <a:solidFill>
                  <a:schemeClr val="tx1"/>
                </a:solidFill>
                <a:effectLst/>
                <a:latin typeface="+mn-lt"/>
                <a:ea typeface="+mn-ea"/>
                <a:cs typeface="+mn-cs"/>
              </a:rPr>
              <a:t> de baseline </a:t>
            </a:r>
            <a:r>
              <a:rPr lang="en-US" sz="1200" b="0" i="0" kern="1200" dirty="0" err="1">
                <a:solidFill>
                  <a:schemeClr val="tx1"/>
                </a:solidFill>
                <a:effectLst/>
                <a:latin typeface="+mn-lt"/>
                <a:ea typeface="+mn-ea"/>
                <a:cs typeface="+mn-cs"/>
              </a:rPr>
              <a:t>estable</a:t>
            </a:r>
            <a:r>
              <a:rPr lang="en-US" sz="1200" b="0" i="0" kern="1200" dirty="0">
                <a:solidFill>
                  <a:schemeClr val="tx1"/>
                </a:solidFill>
                <a:effectLst/>
                <a:latin typeface="+mn-lt"/>
                <a:ea typeface="+mn-ea"/>
                <a:cs typeface="+mn-cs"/>
              </a:rPr>
              <a:t> (IDs: S11, S12)</a:t>
            </a:r>
          </a:p>
          <a:p>
            <a:r>
              <a:rPr lang="en-US" sz="1200" b="0" i="0" kern="1200" dirty="0" err="1">
                <a:solidFill>
                  <a:schemeClr val="tx1"/>
                </a:solidFill>
                <a:effectLst/>
                <a:latin typeface="+mn-lt"/>
                <a:ea typeface="+mn-ea"/>
                <a:cs typeface="+mn-cs"/>
              </a:rPr>
              <a:t>Hallazgo</a:t>
            </a:r>
            <a:r>
              <a:rPr lang="en-US" sz="1200" b="0" i="0" kern="1200" dirty="0">
                <a:solidFill>
                  <a:schemeClr val="tx1"/>
                </a:solidFill>
                <a:effectLst/>
                <a:latin typeface="+mn-lt"/>
                <a:ea typeface="+mn-ea"/>
                <a:cs typeface="+mn-cs"/>
              </a:rPr>
              <a:t> D: Automation bias es un </a:t>
            </a:r>
            <a:r>
              <a:rPr lang="en-US" sz="1200" b="0" i="0" kern="1200" dirty="0" err="1">
                <a:solidFill>
                  <a:schemeClr val="tx1"/>
                </a:solidFill>
                <a:effectLst/>
                <a:latin typeface="+mn-lt"/>
                <a:ea typeface="+mn-ea"/>
                <a:cs typeface="+mn-cs"/>
              </a:rPr>
              <a:t>riesgo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organizacional</a:t>
            </a:r>
            <a:r>
              <a:rPr lang="en-US" sz="1200" b="0" i="0" kern="1200" dirty="0">
                <a:solidFill>
                  <a:schemeClr val="tx1"/>
                </a:solidFill>
                <a:effectLst/>
                <a:latin typeface="+mn-lt"/>
                <a:ea typeface="+mn-ea"/>
                <a:cs typeface="+mn-cs"/>
              </a:rPr>
              <a:t> real (IDs: S14, S2)</a:t>
            </a:r>
          </a:p>
          <a:p>
            <a:r>
              <a:rPr lang="en-US" sz="1200" b="0" i="0" kern="1200" dirty="0" err="1">
                <a:solidFill>
                  <a:schemeClr val="tx1"/>
                </a:solidFill>
                <a:effectLst/>
                <a:latin typeface="+mn-lt"/>
                <a:ea typeface="+mn-ea"/>
                <a:cs typeface="+mn-cs"/>
              </a:rPr>
              <a:t>Hallazgo</a:t>
            </a:r>
            <a:r>
              <a:rPr lang="en-US" sz="1200" b="0" i="0" kern="1200" dirty="0">
                <a:solidFill>
                  <a:schemeClr val="tx1"/>
                </a:solidFill>
                <a:effectLst/>
                <a:latin typeface="+mn-lt"/>
                <a:ea typeface="+mn-ea"/>
                <a:cs typeface="+mn-cs"/>
              </a:rPr>
              <a:t> E: Sin </a:t>
            </a:r>
            <a:r>
              <a:rPr lang="en-US" sz="1200" b="0" i="0" kern="1200" dirty="0" err="1">
                <a:solidFill>
                  <a:schemeClr val="tx1"/>
                </a:solidFill>
                <a:effectLst/>
                <a:latin typeface="+mn-lt"/>
                <a:ea typeface="+mn-ea"/>
                <a:cs typeface="+mn-cs"/>
              </a:rPr>
              <a:t>disciplina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observabilidad</a:t>
            </a:r>
            <a:r>
              <a:rPr lang="en-US" sz="1200" b="0" i="0" kern="1200" dirty="0">
                <a:solidFill>
                  <a:schemeClr val="tx1"/>
                </a:solidFill>
                <a:effectLst/>
                <a:latin typeface="+mn-lt"/>
                <a:ea typeface="+mn-ea"/>
                <a:cs typeface="+mn-cs"/>
              </a:rPr>
              <a:t>, la IA no genera valor (IDs: S1, S3)</a:t>
            </a:r>
          </a:p>
        </p:txBody>
      </p:sp>
      <p:sp>
        <p:nvSpPr>
          <p:cNvPr id="4" name="Marcador de número de diapositiva 3"/>
          <p:cNvSpPr>
            <a:spLocks noGrp="1"/>
          </p:cNvSpPr>
          <p:nvPr>
            <p:ph type="sldNum" sz="quarter" idx="5"/>
          </p:nvPr>
        </p:nvSpPr>
        <p:spPr/>
        <p:txBody>
          <a:bodyPr/>
          <a:lstStyle/>
          <a:p>
            <a:fld id="{23CEAE38-D274-471A-BDCC-0A715AC2A9EB}" type="slidenum">
              <a:rPr lang="es-BO" smtClean="0"/>
              <a:t>6</a:t>
            </a:fld>
            <a:endParaRPr lang="es-BO"/>
          </a:p>
        </p:txBody>
      </p:sp>
    </p:spTree>
    <p:extLst>
      <p:ext uri="{BB962C8B-B14F-4D97-AF65-F5344CB8AC3E}">
        <p14:creationId xmlns:p14="http://schemas.microsoft.com/office/powerpoint/2010/main" val="1302054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C3C26-8D60-5017-9FBB-1348456FA96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227AA95-1465-3B0F-D076-A7A1B1A08297}"/>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5CD23B88-69F7-3F9D-4F1A-0677191FD449}"/>
              </a:ext>
            </a:extLst>
          </p:cNvPr>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5 — Hallazgo clave 1</a:t>
            </a:r>
          </a:p>
          <a:p>
            <a:r>
              <a:rPr lang="es-ES" sz="1200" b="0" i="0" kern="1200" dirty="0">
                <a:solidFill>
                  <a:schemeClr val="tx1"/>
                </a:solidFill>
                <a:effectLst/>
                <a:latin typeface="+mn-lt"/>
                <a:ea typeface="+mn-ea"/>
                <a:cs typeface="+mn-cs"/>
              </a:rPr>
              <a:t>Qué afirma: El triage automatizado reduce tiempo de clasificación y MTTR, pero hereda sesgos de datos históricos.</a:t>
            </a:r>
          </a:p>
          <a:p>
            <a:r>
              <a:rPr lang="es-ES" sz="1200" b="0" i="0" kern="1200" dirty="0">
                <a:solidFill>
                  <a:schemeClr val="tx1"/>
                </a:solidFill>
                <a:effectLst/>
                <a:latin typeface="+mn-lt"/>
                <a:ea typeface="+mn-ea"/>
                <a:cs typeface="+mn-cs"/>
              </a:rPr>
              <a:t>Evidencia principal (</a:t>
            </a:r>
            <a:r>
              <a:rPr lang="es-ES" sz="1200" b="0" i="0" kern="1200" dirty="0" err="1">
                <a:solidFill>
                  <a:schemeClr val="tx1"/>
                </a:solidFill>
                <a:effectLst/>
                <a:latin typeface="+mn-lt"/>
                <a:ea typeface="+mn-ea"/>
                <a:cs typeface="+mn-cs"/>
              </a:rPr>
              <a:t>IDs</a:t>
            </a:r>
            <a:r>
              <a:rPr lang="es-ES" sz="1200" b="0" i="0" kern="1200" dirty="0">
                <a:solidFill>
                  <a:schemeClr val="tx1"/>
                </a:solidFill>
                <a:effectLst/>
                <a:latin typeface="+mn-lt"/>
                <a:ea typeface="+mn-ea"/>
                <a:cs typeface="+mn-cs"/>
              </a:rPr>
              <a:t>): S1, S9</a:t>
            </a:r>
          </a:p>
          <a:p>
            <a:r>
              <a:rPr lang="es-ES" sz="1200" b="0" i="0" kern="1200" dirty="0">
                <a:solidFill>
                  <a:schemeClr val="tx1"/>
                </a:solidFill>
                <a:effectLst/>
                <a:latin typeface="+mn-lt"/>
                <a:ea typeface="+mn-ea"/>
                <a:cs typeface="+mn-cs"/>
              </a:rPr>
              <a:t>Implicación práctica:</a:t>
            </a:r>
          </a:p>
          <a:p>
            <a:pPr lvl="1"/>
            <a:r>
              <a:rPr lang="es-ES" sz="1200" b="0" i="0" kern="1200" dirty="0">
                <a:solidFill>
                  <a:schemeClr val="tx1"/>
                </a:solidFill>
                <a:effectLst/>
                <a:latin typeface="+mn-lt"/>
                <a:ea typeface="+mn-ea"/>
                <a:cs typeface="+mn-cs"/>
              </a:rPr>
              <a:t>Implementar clasificación asistida, no autónoma.</a:t>
            </a:r>
          </a:p>
          <a:p>
            <a:pPr lvl="1"/>
            <a:r>
              <a:rPr lang="es-ES" sz="1200" b="0" i="0" kern="1200" dirty="0">
                <a:solidFill>
                  <a:schemeClr val="tx1"/>
                </a:solidFill>
                <a:effectLst/>
                <a:latin typeface="+mn-lt"/>
                <a:ea typeface="+mn-ea"/>
                <a:cs typeface="+mn-cs"/>
              </a:rPr>
              <a:t>Medir impacto en MTTR real, no solo precisión del modelo.</a:t>
            </a:r>
          </a:p>
          <a:p>
            <a:r>
              <a:rPr lang="es-ES" sz="1200" b="1" i="0" kern="1200" dirty="0">
                <a:solidFill>
                  <a:schemeClr val="tx1"/>
                </a:solidFill>
                <a:effectLst/>
                <a:latin typeface="+mn-lt"/>
                <a:ea typeface="+mn-ea"/>
                <a:cs typeface="+mn-cs"/>
              </a:rPr>
              <a:t>Condiciones de aplicabilidad:</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Dataset</a:t>
            </a:r>
            <a:r>
              <a:rPr lang="es-ES" sz="1200" b="0" i="0" kern="1200" dirty="0">
                <a:solidFill>
                  <a:schemeClr val="tx1"/>
                </a:solidFill>
                <a:effectLst/>
                <a:latin typeface="+mn-lt"/>
                <a:ea typeface="+mn-ea"/>
                <a:cs typeface="+mn-cs"/>
              </a:rPr>
              <a:t> histórico suficientemente amplio y balanceado.</a:t>
            </a:r>
          </a:p>
        </p:txBody>
      </p:sp>
      <p:sp>
        <p:nvSpPr>
          <p:cNvPr id="4" name="Marcador de número de diapositiva 3">
            <a:extLst>
              <a:ext uri="{FF2B5EF4-FFF2-40B4-BE49-F238E27FC236}">
                <a16:creationId xmlns:a16="http://schemas.microsoft.com/office/drawing/2014/main" id="{ECA3B204-9E20-8B8B-660A-101C9A776BA1}"/>
              </a:ext>
            </a:extLst>
          </p:cNvPr>
          <p:cNvSpPr>
            <a:spLocks noGrp="1"/>
          </p:cNvSpPr>
          <p:nvPr>
            <p:ph type="sldNum" sz="quarter" idx="5"/>
          </p:nvPr>
        </p:nvSpPr>
        <p:spPr/>
        <p:txBody>
          <a:bodyPr/>
          <a:lstStyle/>
          <a:p>
            <a:fld id="{23CEAE38-D274-471A-BDCC-0A715AC2A9EB}" type="slidenum">
              <a:rPr lang="es-BO" smtClean="0"/>
              <a:t>7</a:t>
            </a:fld>
            <a:endParaRPr lang="es-BO"/>
          </a:p>
        </p:txBody>
      </p:sp>
    </p:spTree>
    <p:extLst>
      <p:ext uri="{BB962C8B-B14F-4D97-AF65-F5344CB8AC3E}">
        <p14:creationId xmlns:p14="http://schemas.microsoft.com/office/powerpoint/2010/main" val="809208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6 — Hallazgo clave 2</a:t>
            </a:r>
          </a:p>
          <a:p>
            <a:r>
              <a:rPr lang="es-ES" sz="1200" b="0" i="0" kern="1200" dirty="0">
                <a:solidFill>
                  <a:schemeClr val="tx1"/>
                </a:solidFill>
                <a:effectLst/>
                <a:latin typeface="+mn-lt"/>
                <a:ea typeface="+mn-ea"/>
                <a:cs typeface="+mn-cs"/>
              </a:rPr>
              <a:t>Qué afirma: La correlación automática de logs, métricas y trazas mejora la hipótesis inicial de RCA, pero no garantiza causalidad.</a:t>
            </a:r>
          </a:p>
          <a:p>
            <a:r>
              <a:rPr lang="es-ES" sz="1200" b="0" i="0" kern="1200" dirty="0">
                <a:solidFill>
                  <a:schemeClr val="tx1"/>
                </a:solidFill>
                <a:effectLst/>
                <a:latin typeface="+mn-lt"/>
                <a:ea typeface="+mn-ea"/>
                <a:cs typeface="+mn-cs"/>
              </a:rPr>
              <a:t>Evidencia principal (</a:t>
            </a:r>
            <a:r>
              <a:rPr lang="es-ES" sz="1200" b="0" i="0" kern="1200" dirty="0" err="1">
                <a:solidFill>
                  <a:schemeClr val="tx1"/>
                </a:solidFill>
                <a:effectLst/>
                <a:latin typeface="+mn-lt"/>
                <a:ea typeface="+mn-ea"/>
                <a:cs typeface="+mn-cs"/>
              </a:rPr>
              <a:t>IDs</a:t>
            </a:r>
            <a:r>
              <a:rPr lang="es-ES" sz="1200" b="0" i="0" kern="1200" dirty="0">
                <a:solidFill>
                  <a:schemeClr val="tx1"/>
                </a:solidFill>
                <a:effectLst/>
                <a:latin typeface="+mn-lt"/>
                <a:ea typeface="+mn-ea"/>
                <a:cs typeface="+mn-cs"/>
              </a:rPr>
              <a:t>): S10, S12</a:t>
            </a:r>
          </a:p>
          <a:p>
            <a:r>
              <a:rPr lang="es-ES" sz="1200" b="0" i="0" kern="1200" dirty="0">
                <a:solidFill>
                  <a:schemeClr val="tx1"/>
                </a:solidFill>
                <a:effectLst/>
                <a:latin typeface="+mn-lt"/>
                <a:ea typeface="+mn-ea"/>
                <a:cs typeface="+mn-cs"/>
              </a:rPr>
              <a:t>Implicación práctica:</a:t>
            </a:r>
          </a:p>
          <a:p>
            <a:pPr lvl="1"/>
            <a:r>
              <a:rPr lang="es-ES" sz="1200" b="0" i="0" kern="1200" dirty="0">
                <a:solidFill>
                  <a:schemeClr val="tx1"/>
                </a:solidFill>
                <a:effectLst/>
                <a:latin typeface="+mn-lt"/>
                <a:ea typeface="+mn-ea"/>
                <a:cs typeface="+mn-cs"/>
              </a:rPr>
              <a:t>Usar IA como generador de hipótesis.</a:t>
            </a:r>
          </a:p>
          <a:p>
            <a:pPr lvl="1"/>
            <a:r>
              <a:rPr lang="es-ES" sz="1200" b="0" i="0" kern="1200" dirty="0">
                <a:solidFill>
                  <a:schemeClr val="tx1"/>
                </a:solidFill>
                <a:effectLst/>
                <a:latin typeface="+mn-lt"/>
                <a:ea typeface="+mn-ea"/>
                <a:cs typeface="+mn-cs"/>
              </a:rPr>
              <a:t>Exigir validación humana antes de cierre de incidente.</a:t>
            </a:r>
          </a:p>
          <a:p>
            <a:r>
              <a:rPr lang="es-ES" sz="1200" b="1" i="0" kern="1200" dirty="0">
                <a:solidFill>
                  <a:schemeClr val="tx1"/>
                </a:solidFill>
                <a:effectLst/>
                <a:latin typeface="+mn-lt"/>
                <a:ea typeface="+mn-ea"/>
                <a:cs typeface="+mn-cs"/>
              </a:rPr>
              <a:t>Condiciones de aplicabilidad:</a:t>
            </a:r>
            <a:r>
              <a:rPr lang="es-ES" sz="1200" b="0" i="0" kern="1200" dirty="0">
                <a:solidFill>
                  <a:schemeClr val="tx1"/>
                </a:solidFill>
                <a:effectLst/>
                <a:latin typeface="+mn-lt"/>
                <a:ea typeface="+mn-ea"/>
                <a:cs typeface="+mn-cs"/>
              </a:rPr>
              <a:t> Instrumentación consistente (logs estructurados y trazabilidad distribuida).</a:t>
            </a:r>
          </a:p>
        </p:txBody>
      </p:sp>
      <p:sp>
        <p:nvSpPr>
          <p:cNvPr id="4" name="Marcador de número de diapositiva 3"/>
          <p:cNvSpPr>
            <a:spLocks noGrp="1"/>
          </p:cNvSpPr>
          <p:nvPr>
            <p:ph type="sldNum" sz="quarter" idx="5"/>
          </p:nvPr>
        </p:nvSpPr>
        <p:spPr/>
        <p:txBody>
          <a:bodyPr/>
          <a:lstStyle/>
          <a:p>
            <a:fld id="{23CEAE38-D274-471A-BDCC-0A715AC2A9EB}" type="slidenum">
              <a:rPr lang="es-BO" smtClean="0"/>
              <a:t>8</a:t>
            </a:fld>
            <a:endParaRPr lang="es-BO"/>
          </a:p>
        </p:txBody>
      </p:sp>
    </p:spTree>
    <p:extLst>
      <p:ext uri="{BB962C8B-B14F-4D97-AF65-F5344CB8AC3E}">
        <p14:creationId xmlns:p14="http://schemas.microsoft.com/office/powerpoint/2010/main" val="2084540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7 — Hallazgo clave 3</a:t>
            </a:r>
          </a:p>
          <a:p>
            <a:r>
              <a:rPr lang="es-ES" sz="1200" b="0" i="0" kern="1200" dirty="0">
                <a:solidFill>
                  <a:schemeClr val="tx1"/>
                </a:solidFill>
                <a:effectLst/>
                <a:latin typeface="+mn-lt"/>
                <a:ea typeface="+mn-ea"/>
                <a:cs typeface="+mn-cs"/>
              </a:rPr>
              <a:t>Qué afirma: La detección de anomalías produce alto valor solo cuando existe estabilidad operativa y definición clara de </a:t>
            </a:r>
            <a:r>
              <a:rPr lang="es-ES" sz="1200" b="0" i="0" kern="1200" dirty="0" err="1">
                <a:solidFill>
                  <a:schemeClr val="tx1"/>
                </a:solidFill>
                <a:effectLst/>
                <a:latin typeface="+mn-lt"/>
                <a:ea typeface="+mn-ea"/>
                <a:cs typeface="+mn-cs"/>
              </a:rPr>
              <a:t>SLOs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Evidencia principal (</a:t>
            </a:r>
            <a:r>
              <a:rPr lang="es-ES" sz="1200" b="0" i="0" kern="1200" dirty="0" err="1">
                <a:solidFill>
                  <a:schemeClr val="tx1"/>
                </a:solidFill>
                <a:effectLst/>
                <a:latin typeface="+mn-lt"/>
                <a:ea typeface="+mn-ea"/>
                <a:cs typeface="+mn-cs"/>
              </a:rPr>
              <a:t>IDs</a:t>
            </a:r>
            <a:r>
              <a:rPr lang="es-ES" sz="1200" b="0" i="0" kern="1200" dirty="0">
                <a:solidFill>
                  <a:schemeClr val="tx1"/>
                </a:solidFill>
                <a:effectLst/>
                <a:latin typeface="+mn-lt"/>
                <a:ea typeface="+mn-ea"/>
                <a:cs typeface="+mn-cs"/>
              </a:rPr>
              <a:t>): S11, S1</a:t>
            </a:r>
          </a:p>
          <a:p>
            <a:r>
              <a:rPr lang="es-ES" sz="1200" b="0" i="0" kern="1200" dirty="0">
                <a:solidFill>
                  <a:schemeClr val="tx1"/>
                </a:solidFill>
                <a:effectLst/>
                <a:latin typeface="+mn-lt"/>
                <a:ea typeface="+mn-ea"/>
                <a:cs typeface="+mn-cs"/>
              </a:rPr>
              <a:t>Implicación práctica:</a:t>
            </a:r>
          </a:p>
          <a:p>
            <a:pPr lvl="1"/>
            <a:r>
              <a:rPr lang="es-ES" sz="1200" b="0" i="0" kern="1200" dirty="0">
                <a:solidFill>
                  <a:schemeClr val="tx1"/>
                </a:solidFill>
                <a:effectLst/>
                <a:latin typeface="+mn-lt"/>
                <a:ea typeface="+mn-ea"/>
                <a:cs typeface="+mn-cs"/>
              </a:rPr>
              <a:t>Definir </a:t>
            </a:r>
            <a:r>
              <a:rPr lang="es-ES" sz="1200" b="0" i="0" kern="1200" dirty="0" err="1">
                <a:solidFill>
                  <a:schemeClr val="tx1"/>
                </a:solidFill>
                <a:effectLst/>
                <a:latin typeface="+mn-lt"/>
                <a:ea typeface="+mn-ea"/>
                <a:cs typeface="+mn-cs"/>
              </a:rPr>
              <a:t>SLOs</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Service</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Level</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Objective</a:t>
            </a:r>
            <a:r>
              <a:rPr lang="es-ES" sz="1200" b="0" i="0" kern="1200" dirty="0">
                <a:solidFill>
                  <a:schemeClr val="tx1"/>
                </a:solidFill>
                <a:effectLst/>
                <a:latin typeface="+mn-lt"/>
                <a:ea typeface="+mn-ea"/>
                <a:cs typeface="+mn-cs"/>
              </a:rPr>
              <a:t>) antes de entrenar modelos.</a:t>
            </a:r>
          </a:p>
          <a:p>
            <a:pPr lvl="1"/>
            <a:r>
              <a:rPr lang="es-ES" sz="1200" b="0" i="0" kern="1200" dirty="0">
                <a:solidFill>
                  <a:schemeClr val="tx1"/>
                </a:solidFill>
                <a:effectLst/>
                <a:latin typeface="+mn-lt"/>
                <a:ea typeface="+mn-ea"/>
                <a:cs typeface="+mn-cs"/>
              </a:rPr>
              <a:t>Auditar falsos positivos y negativos trimestralmente.</a:t>
            </a:r>
          </a:p>
          <a:p>
            <a:r>
              <a:rPr lang="es-ES" sz="1200" b="0" i="0" kern="1200" dirty="0">
                <a:solidFill>
                  <a:schemeClr val="tx1"/>
                </a:solidFill>
                <a:effectLst/>
                <a:latin typeface="+mn-lt"/>
                <a:ea typeface="+mn-ea"/>
                <a:cs typeface="+mn-cs"/>
              </a:rPr>
              <a:t>Condiciones de aplicabilidad: Sistemas con métricas históricas consolidadas.</a:t>
            </a:r>
          </a:p>
          <a:p>
            <a:endParaRPr lang="es-BO" dirty="0"/>
          </a:p>
        </p:txBody>
      </p:sp>
      <p:sp>
        <p:nvSpPr>
          <p:cNvPr id="4" name="Marcador de número de diapositiva 3"/>
          <p:cNvSpPr>
            <a:spLocks noGrp="1"/>
          </p:cNvSpPr>
          <p:nvPr>
            <p:ph type="sldNum" sz="quarter" idx="5"/>
          </p:nvPr>
        </p:nvSpPr>
        <p:spPr/>
        <p:txBody>
          <a:bodyPr/>
          <a:lstStyle/>
          <a:p>
            <a:fld id="{23CEAE38-D274-471A-BDCC-0A715AC2A9EB}" type="slidenum">
              <a:rPr lang="es-BO" smtClean="0"/>
              <a:t>9</a:t>
            </a:fld>
            <a:endParaRPr lang="es-BO"/>
          </a:p>
        </p:txBody>
      </p:sp>
    </p:spTree>
    <p:extLst>
      <p:ext uri="{BB962C8B-B14F-4D97-AF65-F5344CB8AC3E}">
        <p14:creationId xmlns:p14="http://schemas.microsoft.com/office/powerpoint/2010/main" val="791602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8 — Marco </a:t>
            </a:r>
            <a:r>
              <a:rPr lang="en-US" sz="1200" b="1" i="0" kern="1200" dirty="0" err="1">
                <a:solidFill>
                  <a:schemeClr val="tx1"/>
                </a:solidFill>
                <a:effectLst/>
                <a:latin typeface="+mn-lt"/>
                <a:ea typeface="+mn-ea"/>
                <a:cs typeface="+mn-cs"/>
              </a:rPr>
              <a:t>aplicable</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Marco 1: National Institute of Standards and Technology – AI Risk Management Framework → </a:t>
            </a:r>
            <a:r>
              <a:rPr lang="en-US" sz="1200" b="0" i="0" kern="1200" dirty="0" err="1">
                <a:solidFill>
                  <a:schemeClr val="tx1"/>
                </a:solidFill>
                <a:effectLst/>
                <a:latin typeface="+mn-lt"/>
                <a:ea typeface="+mn-ea"/>
                <a:cs typeface="+mn-cs"/>
              </a:rPr>
              <a:t>Aporte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concreto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gestión</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riesgo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monitoreo</a:t>
            </a:r>
            <a:r>
              <a:rPr lang="en-US" sz="1200" b="0" i="0" kern="1200" dirty="0">
                <a:solidFill>
                  <a:schemeClr val="tx1"/>
                </a:solidFill>
                <a:effectLst/>
                <a:latin typeface="+mn-lt"/>
                <a:ea typeface="+mn-ea"/>
                <a:cs typeface="+mn-cs"/>
              </a:rPr>
              <a:t> continuo y explicabilidad (ID: S2)</a:t>
            </a:r>
          </a:p>
          <a:p>
            <a:r>
              <a:rPr lang="en-US" sz="1200" b="0" i="0" kern="1200" dirty="0">
                <a:solidFill>
                  <a:schemeClr val="tx1"/>
                </a:solidFill>
                <a:effectLst/>
                <a:latin typeface="+mn-lt"/>
                <a:ea typeface="+mn-ea"/>
                <a:cs typeface="+mn-cs"/>
              </a:rPr>
              <a:t>Marco 2: International Organization for Standardization – ISO/IEC 42001 → </a:t>
            </a:r>
            <a:r>
              <a:rPr lang="en-US" sz="1200" b="0" i="0" kern="1200" dirty="0" err="1">
                <a:solidFill>
                  <a:schemeClr val="tx1"/>
                </a:solidFill>
                <a:effectLst/>
                <a:latin typeface="+mn-lt"/>
                <a:ea typeface="+mn-ea"/>
                <a:cs typeface="+mn-cs"/>
              </a:rPr>
              <a:t>Aporte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concreto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gobernanza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organizacional</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sistemas</a:t>
            </a:r>
            <a:r>
              <a:rPr lang="en-US" sz="1200" b="0" i="0" kern="1200" dirty="0">
                <a:solidFill>
                  <a:schemeClr val="tx1"/>
                </a:solidFill>
                <a:effectLst/>
                <a:latin typeface="+mn-lt"/>
                <a:ea typeface="+mn-ea"/>
                <a:cs typeface="+mn-cs"/>
              </a:rPr>
              <a:t> IA (ID: S4)</a:t>
            </a:r>
          </a:p>
          <a:p>
            <a:r>
              <a:rPr lang="en-US" sz="1200" b="0" i="0" kern="1200" dirty="0">
                <a:solidFill>
                  <a:schemeClr val="tx1"/>
                </a:solidFill>
                <a:effectLst/>
                <a:latin typeface="+mn-lt"/>
                <a:ea typeface="+mn-ea"/>
                <a:cs typeface="+mn-cs"/>
              </a:rPr>
              <a:t>Marco 3: International Organization for Standardization – ISO/IEC 25010 → </a:t>
            </a:r>
            <a:r>
              <a:rPr lang="en-US" sz="1200" b="0" i="0" kern="1200" dirty="0" err="1">
                <a:solidFill>
                  <a:schemeClr val="tx1"/>
                </a:solidFill>
                <a:effectLst/>
                <a:latin typeface="+mn-lt"/>
                <a:ea typeface="+mn-ea"/>
                <a:cs typeface="+mn-cs"/>
              </a:rPr>
              <a:t>Aporte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concreto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marco</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calidad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confiabilidad</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mantenibilidad</a:t>
            </a:r>
            <a:r>
              <a:rPr lang="en-US" sz="1200" b="0" i="0" kern="1200" dirty="0">
                <a:solidFill>
                  <a:schemeClr val="tx1"/>
                </a:solidFill>
                <a:effectLst/>
                <a:latin typeface="+mn-lt"/>
                <a:ea typeface="+mn-ea"/>
                <a:cs typeface="+mn-cs"/>
              </a:rPr>
              <a:t>) (ID: S3)</a:t>
            </a:r>
          </a:p>
          <a:p>
            <a:endParaRPr lang="en-US" dirty="0"/>
          </a:p>
        </p:txBody>
      </p:sp>
      <p:sp>
        <p:nvSpPr>
          <p:cNvPr id="4" name="Slide Number Placeholder 3"/>
          <p:cNvSpPr>
            <a:spLocks noGrp="1"/>
          </p:cNvSpPr>
          <p:nvPr>
            <p:ph type="sldNum" sz="quarter" idx="5"/>
          </p:nvPr>
        </p:nvSpPr>
        <p:spPr/>
        <p:txBody>
          <a:bodyPr/>
          <a:lstStyle/>
          <a:p>
            <a:fld id="{23CEAE38-D274-471A-BDCC-0A715AC2A9EB}" type="slidenum">
              <a:rPr lang="es-BO" smtClean="0"/>
              <a:t>10</a:t>
            </a:fld>
            <a:endParaRPr lang="es-BO"/>
          </a:p>
        </p:txBody>
      </p:sp>
    </p:spTree>
    <p:extLst>
      <p:ext uri="{BB962C8B-B14F-4D97-AF65-F5344CB8AC3E}">
        <p14:creationId xmlns:p14="http://schemas.microsoft.com/office/powerpoint/2010/main" val="817216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9 — Límites, riesgos y </a:t>
            </a:r>
            <a:r>
              <a:rPr lang="es-ES" sz="1200" b="1" i="0" kern="1200" dirty="0" err="1">
                <a:solidFill>
                  <a:schemeClr val="tx1"/>
                </a:solidFill>
                <a:effectLst/>
                <a:latin typeface="+mn-lt"/>
                <a:ea typeface="+mn-ea"/>
                <a:cs typeface="+mn-cs"/>
              </a:rPr>
              <a:t>trade-offs</a:t>
            </a:r>
            <a:r>
              <a:rPr lang="es-ES" sz="1200" b="1" i="0" kern="1200" dirty="0">
                <a:solidFill>
                  <a:schemeClr val="tx1"/>
                </a:solidFill>
                <a:effectLst/>
                <a:latin typeface="+mn-lt"/>
                <a:ea typeface="+mn-ea"/>
                <a:cs typeface="+mn-cs"/>
              </a:rPr>
              <a:t> (siempre aplica)</a:t>
            </a:r>
          </a:p>
          <a:p>
            <a:r>
              <a:rPr lang="es-ES" sz="1200" b="0" i="0" kern="1200" dirty="0">
                <a:solidFill>
                  <a:schemeClr val="tx1"/>
                </a:solidFill>
                <a:effectLst/>
                <a:latin typeface="+mn-lt"/>
                <a:ea typeface="+mn-ea"/>
                <a:cs typeface="+mn-cs"/>
              </a:rPr>
              <a:t>Límite 1: La IA no identifica causas fuera del espacio de entrenamiento (</a:t>
            </a:r>
            <a:r>
              <a:rPr lang="es-ES" sz="1200" b="0" i="0" kern="1200" dirty="0" err="1">
                <a:solidFill>
                  <a:schemeClr val="tx1"/>
                </a:solidFill>
                <a:effectLst/>
                <a:latin typeface="+mn-lt"/>
                <a:ea typeface="+mn-ea"/>
                <a:cs typeface="+mn-cs"/>
              </a:rPr>
              <a:t>unknown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unknowns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Riesgo 1: </a:t>
            </a:r>
            <a:r>
              <a:rPr lang="es-ES" sz="1200" b="0" i="0" kern="1200" dirty="0" err="1">
                <a:solidFill>
                  <a:schemeClr val="tx1"/>
                </a:solidFill>
                <a:effectLst/>
                <a:latin typeface="+mn-lt"/>
                <a:ea typeface="+mn-ea"/>
                <a:cs typeface="+mn-cs"/>
              </a:rPr>
              <a:t>Automation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bias</a:t>
            </a:r>
            <a:r>
              <a:rPr lang="es-ES" sz="1200" b="0" i="0" kern="1200" dirty="0">
                <a:solidFill>
                  <a:schemeClr val="tx1"/>
                </a:solidFill>
                <a:effectLst/>
                <a:latin typeface="+mn-lt"/>
                <a:ea typeface="+mn-ea"/>
                <a:cs typeface="+mn-cs"/>
              </a:rPr>
              <a:t> y </a:t>
            </a:r>
            <a:r>
              <a:rPr lang="es-ES" sz="1200" b="0" i="0" kern="1200" dirty="0" err="1">
                <a:solidFill>
                  <a:schemeClr val="tx1"/>
                </a:solidFill>
                <a:effectLst/>
                <a:latin typeface="+mn-lt"/>
                <a:ea typeface="+mn-ea"/>
                <a:cs typeface="+mn-cs"/>
              </a:rPr>
              <a:t>sobreconfianza</a:t>
            </a:r>
            <a:r>
              <a:rPr lang="es-ES" sz="1200" b="0" i="0" kern="1200" dirty="0">
                <a:solidFill>
                  <a:schemeClr val="tx1"/>
                </a:solidFill>
                <a:effectLst/>
                <a:latin typeface="+mn-lt"/>
                <a:ea typeface="+mn-ea"/>
                <a:cs typeface="+mn-cs"/>
              </a:rPr>
              <a:t> en sugerencias del modelo.</a:t>
            </a:r>
          </a:p>
          <a:p>
            <a:r>
              <a:rPr lang="es-ES" sz="1200" b="0" i="0" kern="1200" dirty="0" err="1">
                <a:solidFill>
                  <a:schemeClr val="tx1"/>
                </a:solidFill>
                <a:effectLst/>
                <a:latin typeface="+mn-lt"/>
                <a:ea typeface="+mn-ea"/>
                <a:cs typeface="+mn-cs"/>
              </a:rPr>
              <a:t>Trade</a:t>
            </a:r>
            <a:r>
              <a:rPr lang="es-ES" sz="1200" b="0" i="0" kern="1200" dirty="0">
                <a:solidFill>
                  <a:schemeClr val="tx1"/>
                </a:solidFill>
                <a:effectLst/>
                <a:latin typeface="+mn-lt"/>
                <a:ea typeface="+mn-ea"/>
                <a:cs typeface="+mn-cs"/>
              </a:rPr>
              <a:t>-off 1: Se gana velocidad operativa vs se sacrifica profundidad analítica inicial.</a:t>
            </a:r>
          </a:p>
          <a:p>
            <a:r>
              <a:rPr lang="es-ES" sz="1200" b="0" i="0" kern="1200" dirty="0">
                <a:solidFill>
                  <a:schemeClr val="tx1"/>
                </a:solidFill>
                <a:effectLst/>
                <a:latin typeface="+mn-lt"/>
                <a:ea typeface="+mn-ea"/>
                <a:cs typeface="+mn-cs"/>
              </a:rPr>
              <a:t>Mitigación: Human-in-</a:t>
            </a:r>
            <a:r>
              <a:rPr lang="es-ES" sz="1200" b="0" i="0" kern="1200" dirty="0" err="1">
                <a:solidFill>
                  <a:schemeClr val="tx1"/>
                </a:solidFill>
                <a:effectLst/>
                <a:latin typeface="+mn-lt"/>
                <a:ea typeface="+mn-ea"/>
                <a:cs typeface="+mn-cs"/>
              </a:rPr>
              <a:t>the</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loop</a:t>
            </a:r>
            <a:r>
              <a:rPr lang="es-ES" sz="1200" b="0" i="0" kern="1200" dirty="0">
                <a:solidFill>
                  <a:schemeClr val="tx1"/>
                </a:solidFill>
                <a:effectLst/>
                <a:latin typeface="+mn-lt"/>
                <a:ea typeface="+mn-ea"/>
                <a:cs typeface="+mn-cs"/>
              </a:rPr>
              <a:t> obligatorio + auditoría periódica del desempeño del modelo.</a:t>
            </a:r>
          </a:p>
          <a:p>
            <a:endParaRPr lang="en-US" dirty="0"/>
          </a:p>
        </p:txBody>
      </p:sp>
      <p:sp>
        <p:nvSpPr>
          <p:cNvPr id="4" name="Slide Number Placeholder 3"/>
          <p:cNvSpPr>
            <a:spLocks noGrp="1"/>
          </p:cNvSpPr>
          <p:nvPr>
            <p:ph type="sldNum" sz="quarter" idx="5"/>
          </p:nvPr>
        </p:nvSpPr>
        <p:spPr/>
        <p:txBody>
          <a:bodyPr/>
          <a:lstStyle/>
          <a:p>
            <a:fld id="{23CEAE38-D274-471A-BDCC-0A715AC2A9EB}" type="slidenum">
              <a:rPr lang="es-BO" smtClean="0"/>
              <a:t>11</a:t>
            </a:fld>
            <a:endParaRPr lang="es-BO"/>
          </a:p>
        </p:txBody>
      </p:sp>
    </p:spTree>
    <p:extLst>
      <p:ext uri="{BB962C8B-B14F-4D97-AF65-F5344CB8AC3E}">
        <p14:creationId xmlns:p14="http://schemas.microsoft.com/office/powerpoint/2010/main" val="2063225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9 — Límites, riesgos y </a:t>
            </a:r>
            <a:r>
              <a:rPr lang="es-ES" sz="1200" b="1" i="0" kern="1200" dirty="0" err="1">
                <a:solidFill>
                  <a:schemeClr val="tx1"/>
                </a:solidFill>
                <a:effectLst/>
                <a:latin typeface="+mn-lt"/>
                <a:ea typeface="+mn-ea"/>
                <a:cs typeface="+mn-cs"/>
              </a:rPr>
              <a:t>trade-offs</a:t>
            </a:r>
            <a:r>
              <a:rPr lang="es-ES" sz="1200" b="1" i="0" kern="1200" dirty="0">
                <a:solidFill>
                  <a:schemeClr val="tx1"/>
                </a:solidFill>
                <a:effectLst/>
                <a:latin typeface="+mn-lt"/>
                <a:ea typeface="+mn-ea"/>
                <a:cs typeface="+mn-cs"/>
              </a:rPr>
              <a:t> (siempre aplica)</a:t>
            </a:r>
          </a:p>
          <a:p>
            <a:r>
              <a:rPr lang="es-ES" sz="1200" b="0" i="0" kern="1200" dirty="0">
                <a:solidFill>
                  <a:schemeClr val="tx1"/>
                </a:solidFill>
                <a:effectLst/>
                <a:latin typeface="+mn-lt"/>
                <a:ea typeface="+mn-ea"/>
                <a:cs typeface="+mn-cs"/>
              </a:rPr>
              <a:t>Límite 1: La IA no identifica causas fuera del espacio de entrenamiento (</a:t>
            </a:r>
            <a:r>
              <a:rPr lang="es-ES" sz="1200" b="0" i="0" kern="1200" dirty="0" err="1">
                <a:solidFill>
                  <a:schemeClr val="tx1"/>
                </a:solidFill>
                <a:effectLst/>
                <a:latin typeface="+mn-lt"/>
                <a:ea typeface="+mn-ea"/>
                <a:cs typeface="+mn-cs"/>
              </a:rPr>
              <a:t>unknown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unknowns</a:t>
            </a:r>
            <a:r>
              <a:rPr lang="es-ES" sz="1200" b="0" i="0" kern="1200" dirty="0">
                <a:solidFill>
                  <a:schemeClr val="tx1"/>
                </a:solidFill>
                <a:effectLst/>
                <a:latin typeface="+mn-lt"/>
                <a:ea typeface="+mn-ea"/>
                <a:cs typeface="+mn-cs"/>
              </a:rPr>
              <a:t>).</a:t>
            </a:r>
          </a:p>
          <a:p>
            <a:r>
              <a:rPr lang="es-ES" sz="1200" b="0" i="0" kern="1200" dirty="0">
                <a:solidFill>
                  <a:schemeClr val="tx1"/>
                </a:solidFill>
                <a:effectLst/>
                <a:latin typeface="+mn-lt"/>
                <a:ea typeface="+mn-ea"/>
                <a:cs typeface="+mn-cs"/>
              </a:rPr>
              <a:t>Riesgo 1: </a:t>
            </a:r>
            <a:r>
              <a:rPr lang="es-ES" sz="1200" b="0" i="0" kern="1200" dirty="0" err="1">
                <a:solidFill>
                  <a:schemeClr val="tx1"/>
                </a:solidFill>
                <a:effectLst/>
                <a:latin typeface="+mn-lt"/>
                <a:ea typeface="+mn-ea"/>
                <a:cs typeface="+mn-cs"/>
              </a:rPr>
              <a:t>Automation</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bias</a:t>
            </a:r>
            <a:r>
              <a:rPr lang="es-ES" sz="1200" b="0" i="0" kern="1200" dirty="0">
                <a:solidFill>
                  <a:schemeClr val="tx1"/>
                </a:solidFill>
                <a:effectLst/>
                <a:latin typeface="+mn-lt"/>
                <a:ea typeface="+mn-ea"/>
                <a:cs typeface="+mn-cs"/>
              </a:rPr>
              <a:t> y </a:t>
            </a:r>
            <a:r>
              <a:rPr lang="es-ES" sz="1200" b="0" i="0" kern="1200" dirty="0" err="1">
                <a:solidFill>
                  <a:schemeClr val="tx1"/>
                </a:solidFill>
                <a:effectLst/>
                <a:latin typeface="+mn-lt"/>
                <a:ea typeface="+mn-ea"/>
                <a:cs typeface="+mn-cs"/>
              </a:rPr>
              <a:t>sobreconfianza</a:t>
            </a:r>
            <a:r>
              <a:rPr lang="es-ES" sz="1200" b="0" i="0" kern="1200" dirty="0">
                <a:solidFill>
                  <a:schemeClr val="tx1"/>
                </a:solidFill>
                <a:effectLst/>
                <a:latin typeface="+mn-lt"/>
                <a:ea typeface="+mn-ea"/>
                <a:cs typeface="+mn-cs"/>
              </a:rPr>
              <a:t> en sugerencias del modelo.</a:t>
            </a:r>
          </a:p>
          <a:p>
            <a:r>
              <a:rPr lang="es-ES" sz="1200" b="0" i="0" kern="1200" dirty="0" err="1">
                <a:solidFill>
                  <a:schemeClr val="tx1"/>
                </a:solidFill>
                <a:effectLst/>
                <a:latin typeface="+mn-lt"/>
                <a:ea typeface="+mn-ea"/>
                <a:cs typeface="+mn-cs"/>
              </a:rPr>
              <a:t>Trade</a:t>
            </a:r>
            <a:r>
              <a:rPr lang="es-ES" sz="1200" b="0" i="0" kern="1200" dirty="0">
                <a:solidFill>
                  <a:schemeClr val="tx1"/>
                </a:solidFill>
                <a:effectLst/>
                <a:latin typeface="+mn-lt"/>
                <a:ea typeface="+mn-ea"/>
                <a:cs typeface="+mn-cs"/>
              </a:rPr>
              <a:t>-off 1: Se gana velocidad operativa vs se sacrifica profundidad analítica inicial.</a:t>
            </a:r>
          </a:p>
          <a:p>
            <a:r>
              <a:rPr lang="es-ES" sz="1200" b="0" i="0" kern="1200" dirty="0">
                <a:solidFill>
                  <a:schemeClr val="tx1"/>
                </a:solidFill>
                <a:effectLst/>
                <a:latin typeface="+mn-lt"/>
                <a:ea typeface="+mn-ea"/>
                <a:cs typeface="+mn-cs"/>
              </a:rPr>
              <a:t>Mitigación: Human-in-</a:t>
            </a:r>
            <a:r>
              <a:rPr lang="es-ES" sz="1200" b="0" i="0" kern="1200" dirty="0" err="1">
                <a:solidFill>
                  <a:schemeClr val="tx1"/>
                </a:solidFill>
                <a:effectLst/>
                <a:latin typeface="+mn-lt"/>
                <a:ea typeface="+mn-ea"/>
                <a:cs typeface="+mn-cs"/>
              </a:rPr>
              <a:t>the</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loop</a:t>
            </a:r>
            <a:r>
              <a:rPr lang="es-ES" sz="1200" b="0" i="0" kern="1200" dirty="0">
                <a:solidFill>
                  <a:schemeClr val="tx1"/>
                </a:solidFill>
                <a:effectLst/>
                <a:latin typeface="+mn-lt"/>
                <a:ea typeface="+mn-ea"/>
                <a:cs typeface="+mn-cs"/>
              </a:rPr>
              <a:t> obligatorio + auditoría periódica del desempeño del modelo.</a:t>
            </a:r>
          </a:p>
          <a:p>
            <a:endParaRPr lang="en-US" dirty="0"/>
          </a:p>
        </p:txBody>
      </p:sp>
      <p:sp>
        <p:nvSpPr>
          <p:cNvPr id="4" name="Slide Number Placeholder 3"/>
          <p:cNvSpPr>
            <a:spLocks noGrp="1"/>
          </p:cNvSpPr>
          <p:nvPr>
            <p:ph type="sldNum" sz="quarter" idx="5"/>
          </p:nvPr>
        </p:nvSpPr>
        <p:spPr/>
        <p:txBody>
          <a:bodyPr/>
          <a:lstStyle/>
          <a:p>
            <a:fld id="{23CEAE38-D274-471A-BDCC-0A715AC2A9EB}" type="slidenum">
              <a:rPr lang="es-BO" smtClean="0"/>
              <a:t>12</a:t>
            </a:fld>
            <a:endParaRPr lang="es-BO"/>
          </a:p>
        </p:txBody>
      </p:sp>
    </p:spTree>
    <p:extLst>
      <p:ext uri="{BB962C8B-B14F-4D97-AF65-F5344CB8AC3E}">
        <p14:creationId xmlns:p14="http://schemas.microsoft.com/office/powerpoint/2010/main" val="212817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10 — </a:t>
            </a:r>
            <a:r>
              <a:rPr lang="en-US" sz="1200" b="1" i="0" kern="1200" dirty="0" err="1">
                <a:solidFill>
                  <a:schemeClr val="tx1"/>
                </a:solidFill>
                <a:effectLst/>
                <a:latin typeface="+mn-lt"/>
                <a:ea typeface="+mn-ea"/>
                <a:cs typeface="+mn-cs"/>
              </a:rPr>
              <a:t>Recomendaciones</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implementables</a:t>
            </a:r>
            <a:r>
              <a:rPr lang="en-US" sz="1200" b="1" i="0" kern="1200" dirty="0">
                <a:solidFill>
                  <a:schemeClr val="tx1"/>
                </a:solidFill>
                <a:effectLst/>
                <a:latin typeface="+mn-lt"/>
                <a:ea typeface="+mn-ea"/>
                <a:cs typeface="+mn-cs"/>
              </a:rPr>
              <a:t>) + Top 5</a:t>
            </a:r>
          </a:p>
          <a:p>
            <a:r>
              <a:rPr lang="en-US" sz="1200" b="1" i="0" kern="1200" dirty="0" err="1">
                <a:solidFill>
                  <a:schemeClr val="tx1"/>
                </a:solidFill>
                <a:effectLst/>
                <a:latin typeface="+mn-lt"/>
                <a:ea typeface="+mn-ea"/>
                <a:cs typeface="+mn-cs"/>
              </a:rPr>
              <a:t>Recomendaciones</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implementables</a:t>
            </a:r>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R1: </a:t>
            </a:r>
            <a:r>
              <a:rPr lang="en-US" sz="1200" b="0" i="0" kern="1200" dirty="0" err="1">
                <a:solidFill>
                  <a:schemeClr val="tx1"/>
                </a:solidFill>
                <a:effectLst/>
                <a:latin typeface="+mn-lt"/>
                <a:ea typeface="+mn-ea"/>
                <a:cs typeface="+mn-cs"/>
              </a:rPr>
              <a:t>Implementar</a:t>
            </a:r>
            <a:r>
              <a:rPr lang="en-US" sz="1200" b="0" i="0" kern="1200" dirty="0">
                <a:solidFill>
                  <a:schemeClr val="tx1"/>
                </a:solidFill>
                <a:effectLst/>
                <a:latin typeface="+mn-lt"/>
                <a:ea typeface="+mn-ea"/>
                <a:cs typeface="+mn-cs"/>
              </a:rPr>
              <a:t> triage </a:t>
            </a:r>
            <a:r>
              <a:rPr lang="en-US" sz="1200" b="0" i="0" kern="1200" dirty="0" err="1">
                <a:solidFill>
                  <a:schemeClr val="tx1"/>
                </a:solidFill>
                <a:effectLst/>
                <a:latin typeface="+mn-lt"/>
                <a:ea typeface="+mn-ea"/>
                <a:cs typeface="+mn-cs"/>
              </a:rPr>
              <a:t>asistido</a:t>
            </a:r>
            <a:r>
              <a:rPr lang="en-US" sz="1200" b="0" i="0" kern="1200" dirty="0">
                <a:solidFill>
                  <a:schemeClr val="tx1"/>
                </a:solidFill>
                <a:effectLst/>
                <a:latin typeface="+mn-lt"/>
                <a:ea typeface="+mn-ea"/>
                <a:cs typeface="+mn-cs"/>
              </a:rPr>
              <a:t> con </a:t>
            </a:r>
            <a:r>
              <a:rPr lang="en-US" sz="1200" b="0" i="0" kern="1200" dirty="0" err="1">
                <a:solidFill>
                  <a:schemeClr val="tx1"/>
                </a:solidFill>
                <a:effectLst/>
                <a:latin typeface="+mn-lt"/>
                <a:ea typeface="+mn-ea"/>
                <a:cs typeface="+mn-cs"/>
              </a:rPr>
              <a:t>validación</a:t>
            </a:r>
            <a:r>
              <a:rPr lang="en-US" sz="1200" b="0" i="0" kern="1200" dirty="0">
                <a:solidFill>
                  <a:schemeClr val="tx1"/>
                </a:solidFill>
                <a:effectLst/>
                <a:latin typeface="+mn-lt"/>
                <a:ea typeface="+mn-ea"/>
                <a:cs typeface="+mn-cs"/>
              </a:rPr>
              <a:t> humana </a:t>
            </a:r>
            <a:r>
              <a:rPr lang="en-US" sz="1200" b="0" i="0" kern="1200" dirty="0" err="1">
                <a:solidFill>
                  <a:schemeClr val="tx1"/>
                </a:solidFill>
                <a:effectLst/>
                <a:latin typeface="+mn-lt"/>
                <a:ea typeface="+mn-ea"/>
                <a:cs typeface="+mn-cs"/>
              </a:rPr>
              <a:t>obligatoria</a:t>
            </a:r>
            <a:r>
              <a:rPr lang="en-US" sz="1200" b="0" i="0" kern="1200" dirty="0">
                <a:solidFill>
                  <a:schemeClr val="tx1"/>
                </a:solidFill>
                <a:effectLst/>
                <a:latin typeface="+mn-lt"/>
                <a:ea typeface="+mn-ea"/>
                <a:cs typeface="+mn-cs"/>
              </a:rPr>
              <a:t> (IDs: S1, S14)</a:t>
            </a:r>
          </a:p>
          <a:p>
            <a:r>
              <a:rPr lang="en-US" sz="1200" b="0" i="0" kern="1200" dirty="0">
                <a:solidFill>
                  <a:schemeClr val="tx1"/>
                </a:solidFill>
                <a:effectLst/>
                <a:latin typeface="+mn-lt"/>
                <a:ea typeface="+mn-ea"/>
                <a:cs typeface="+mn-cs"/>
              </a:rPr>
              <a:t>R2: </a:t>
            </a:r>
            <a:r>
              <a:rPr lang="en-US" sz="1200" b="0" i="0" kern="1200" dirty="0" err="1">
                <a:solidFill>
                  <a:schemeClr val="tx1"/>
                </a:solidFill>
                <a:effectLst/>
                <a:latin typeface="+mn-lt"/>
                <a:ea typeface="+mn-ea"/>
                <a:cs typeface="+mn-cs"/>
              </a:rPr>
              <a:t>Definir</a:t>
            </a:r>
            <a:r>
              <a:rPr lang="en-US" sz="1200" b="0" i="0" kern="1200" dirty="0">
                <a:solidFill>
                  <a:schemeClr val="tx1"/>
                </a:solidFill>
                <a:effectLst/>
                <a:latin typeface="+mn-lt"/>
                <a:ea typeface="+mn-ea"/>
                <a:cs typeface="+mn-cs"/>
              </a:rPr>
              <a:t> SLOs y </a:t>
            </a:r>
            <a:r>
              <a:rPr lang="en-US" sz="1200" b="0" i="0" kern="1200" dirty="0" err="1">
                <a:solidFill>
                  <a:schemeClr val="tx1"/>
                </a:solidFill>
                <a:effectLst/>
                <a:latin typeface="+mn-lt"/>
                <a:ea typeface="+mn-ea"/>
                <a:cs typeface="+mn-cs"/>
              </a:rPr>
              <a:t>métricas</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confiabilidad</a:t>
            </a:r>
            <a:r>
              <a:rPr lang="en-US" sz="1200" b="0" i="0" kern="1200" dirty="0">
                <a:solidFill>
                  <a:schemeClr val="tx1"/>
                </a:solidFill>
                <a:effectLst/>
                <a:latin typeface="+mn-lt"/>
                <a:ea typeface="+mn-ea"/>
                <a:cs typeface="+mn-cs"/>
              </a:rPr>
              <a:t> antes de </a:t>
            </a:r>
            <a:r>
              <a:rPr lang="en-US" sz="1200" b="0" i="0" kern="1200" dirty="0" err="1">
                <a:solidFill>
                  <a:schemeClr val="tx1"/>
                </a:solidFill>
                <a:effectLst/>
                <a:latin typeface="+mn-lt"/>
                <a:ea typeface="+mn-ea"/>
                <a:cs typeface="+mn-cs"/>
              </a:rPr>
              <a:t>desplegar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modelos</a:t>
            </a:r>
            <a:r>
              <a:rPr lang="en-US" sz="1200" b="0" i="0" kern="1200" dirty="0">
                <a:solidFill>
                  <a:schemeClr val="tx1"/>
                </a:solidFill>
                <a:effectLst/>
                <a:latin typeface="+mn-lt"/>
                <a:ea typeface="+mn-ea"/>
                <a:cs typeface="+mn-cs"/>
              </a:rPr>
              <a:t> (IDs: S1, S3)</a:t>
            </a:r>
          </a:p>
          <a:p>
            <a:r>
              <a:rPr lang="en-US" sz="1200" b="0" i="0" kern="1200" dirty="0">
                <a:solidFill>
                  <a:schemeClr val="tx1"/>
                </a:solidFill>
                <a:effectLst/>
                <a:latin typeface="+mn-lt"/>
                <a:ea typeface="+mn-ea"/>
                <a:cs typeface="+mn-cs"/>
              </a:rPr>
              <a:t>R3: </a:t>
            </a:r>
            <a:r>
              <a:rPr lang="en-US" sz="1200" b="0" i="0" kern="1200" dirty="0" err="1">
                <a:solidFill>
                  <a:schemeClr val="tx1"/>
                </a:solidFill>
                <a:effectLst/>
                <a:latin typeface="+mn-lt"/>
                <a:ea typeface="+mn-ea"/>
                <a:cs typeface="+mn-cs"/>
              </a:rPr>
              <a:t>Incorporar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monitoreo</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desempeño</a:t>
            </a:r>
            <a:r>
              <a:rPr lang="en-US" sz="1200" b="0" i="0" kern="1200" dirty="0">
                <a:solidFill>
                  <a:schemeClr val="tx1"/>
                </a:solidFill>
                <a:effectLst/>
                <a:latin typeface="+mn-lt"/>
                <a:ea typeface="+mn-ea"/>
                <a:cs typeface="+mn-cs"/>
              </a:rPr>
              <a:t> del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auditoría</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sesgos</a:t>
            </a:r>
            <a:r>
              <a:rPr lang="en-US" sz="1200" b="0" i="0" kern="1200" dirty="0">
                <a:solidFill>
                  <a:schemeClr val="tx1"/>
                </a:solidFill>
                <a:effectLst/>
                <a:latin typeface="+mn-lt"/>
                <a:ea typeface="+mn-ea"/>
                <a:cs typeface="+mn-cs"/>
              </a:rPr>
              <a:t> (IDs: S2, S4)</a:t>
            </a:r>
          </a:p>
          <a:p>
            <a:endParaRPr lang="en-US" dirty="0"/>
          </a:p>
        </p:txBody>
      </p:sp>
      <p:sp>
        <p:nvSpPr>
          <p:cNvPr id="4" name="Slide Number Placeholder 3"/>
          <p:cNvSpPr>
            <a:spLocks noGrp="1"/>
          </p:cNvSpPr>
          <p:nvPr>
            <p:ph type="sldNum" sz="quarter" idx="5"/>
          </p:nvPr>
        </p:nvSpPr>
        <p:spPr/>
        <p:txBody>
          <a:bodyPr/>
          <a:lstStyle/>
          <a:p>
            <a:fld id="{23CEAE38-D274-471A-BDCC-0A715AC2A9EB}" type="slidenum">
              <a:rPr lang="es-BO" smtClean="0"/>
              <a:t>13</a:t>
            </a:fld>
            <a:endParaRPr lang="es-BO"/>
          </a:p>
        </p:txBody>
      </p:sp>
    </p:spTree>
    <p:extLst>
      <p:ext uri="{BB962C8B-B14F-4D97-AF65-F5344CB8AC3E}">
        <p14:creationId xmlns:p14="http://schemas.microsoft.com/office/powerpoint/2010/main" val="3867775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s-ES" sz="1200" b="1" i="0" kern="1200" dirty="0" err="1">
                <a:solidFill>
                  <a:schemeClr val="tx1"/>
                </a:solidFill>
                <a:effectLst/>
                <a:latin typeface="+mn-lt"/>
                <a:ea typeface="+mn-ea"/>
                <a:cs typeface="+mn-cs"/>
              </a:rPr>
              <a:t>Slide</a:t>
            </a:r>
            <a:r>
              <a:rPr lang="es-ES" sz="1200" b="1" i="0" kern="1200" dirty="0">
                <a:solidFill>
                  <a:schemeClr val="tx1"/>
                </a:solidFill>
                <a:effectLst/>
                <a:latin typeface="+mn-lt"/>
                <a:ea typeface="+mn-ea"/>
                <a:cs typeface="+mn-cs"/>
              </a:rPr>
              <a:t> 10 — Recomendaciones (implementables) + Top 5</a:t>
            </a:r>
          </a:p>
          <a:p>
            <a:r>
              <a:rPr lang="es-ES" sz="1200" b="1" i="0" kern="1200" dirty="0">
                <a:solidFill>
                  <a:schemeClr val="tx1"/>
                </a:solidFill>
                <a:effectLst/>
                <a:latin typeface="+mn-lt"/>
                <a:ea typeface="+mn-ea"/>
                <a:cs typeface="+mn-cs"/>
              </a:rPr>
              <a:t>Top 5:</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3 ideas/prácticas:</a:t>
            </a:r>
          </a:p>
          <a:p>
            <a:pPr lvl="1"/>
            <a:r>
              <a:rPr lang="es-ES" sz="1200" b="0" i="0" kern="1200" dirty="0">
                <a:solidFill>
                  <a:schemeClr val="tx1"/>
                </a:solidFill>
                <a:effectLst/>
                <a:latin typeface="+mn-lt"/>
                <a:ea typeface="+mn-ea"/>
                <a:cs typeface="+mn-cs"/>
              </a:rPr>
              <a:t>Human-in-</a:t>
            </a:r>
            <a:r>
              <a:rPr lang="es-ES" sz="1200" b="0" i="0" kern="1200" dirty="0" err="1">
                <a:solidFill>
                  <a:schemeClr val="tx1"/>
                </a:solidFill>
                <a:effectLst/>
                <a:latin typeface="+mn-lt"/>
                <a:ea typeface="+mn-ea"/>
                <a:cs typeface="+mn-cs"/>
              </a:rPr>
              <a:t>the</a:t>
            </a:r>
            <a:r>
              <a:rPr lang="es-ES" sz="1200" b="0" i="0" kern="1200" dirty="0">
                <a:solidFill>
                  <a:schemeClr val="tx1"/>
                </a:solidFill>
                <a:effectLst/>
                <a:latin typeface="+mn-lt"/>
                <a:ea typeface="+mn-ea"/>
                <a:cs typeface="+mn-cs"/>
              </a:rPr>
              <a:t>-</a:t>
            </a:r>
            <a:r>
              <a:rPr lang="es-ES" sz="1200" b="0" i="0" kern="1200" dirty="0" err="1">
                <a:solidFill>
                  <a:schemeClr val="tx1"/>
                </a:solidFill>
                <a:effectLst/>
                <a:latin typeface="+mn-lt"/>
                <a:ea typeface="+mn-ea"/>
                <a:cs typeface="+mn-cs"/>
              </a:rPr>
              <a:t>loop</a:t>
            </a:r>
            <a:r>
              <a:rPr lang="es-ES" sz="1200" b="0" i="0" kern="1200" dirty="0">
                <a:solidFill>
                  <a:schemeClr val="tx1"/>
                </a:solidFill>
                <a:effectLst/>
                <a:latin typeface="+mn-lt"/>
                <a:ea typeface="+mn-ea"/>
                <a:cs typeface="+mn-cs"/>
              </a:rPr>
              <a:t> en RCA automatizado.</a:t>
            </a:r>
          </a:p>
          <a:p>
            <a:pPr lvl="1"/>
            <a:r>
              <a:rPr lang="es-ES" sz="1200" b="0" i="0" kern="1200" dirty="0">
                <a:solidFill>
                  <a:schemeClr val="tx1"/>
                </a:solidFill>
                <a:effectLst/>
                <a:latin typeface="+mn-lt"/>
                <a:ea typeface="+mn-ea"/>
                <a:cs typeface="+mn-cs"/>
              </a:rPr>
              <a:t>Observabilidad disciplinada antes de IA.</a:t>
            </a:r>
          </a:p>
          <a:p>
            <a:pPr lvl="1"/>
            <a:r>
              <a:rPr lang="es-ES" sz="1200" b="0" i="0" kern="1200" dirty="0">
                <a:solidFill>
                  <a:schemeClr val="tx1"/>
                </a:solidFill>
                <a:effectLst/>
                <a:latin typeface="+mn-lt"/>
                <a:ea typeface="+mn-ea"/>
                <a:cs typeface="+mn-cs"/>
              </a:rPr>
              <a:t>Medir impacto en MTTR y no solo precisión del modelo.</a:t>
            </a:r>
          </a:p>
          <a:p>
            <a:r>
              <a:rPr lang="es-ES" sz="1200" b="0" i="0" kern="1200" dirty="0">
                <a:solidFill>
                  <a:schemeClr val="tx1"/>
                </a:solidFill>
                <a:effectLst/>
                <a:latin typeface="+mn-lt"/>
                <a:ea typeface="+mn-ea"/>
                <a:cs typeface="+mn-cs"/>
              </a:rPr>
              <a:t>2 </a:t>
            </a:r>
            <a:r>
              <a:rPr lang="es-ES" sz="1200" b="0" i="0" kern="1200" dirty="0" err="1">
                <a:solidFill>
                  <a:schemeClr val="tx1"/>
                </a:solidFill>
                <a:effectLst/>
                <a:latin typeface="+mn-lt"/>
                <a:ea typeface="+mn-ea"/>
                <a:cs typeface="+mn-cs"/>
              </a:rPr>
              <a:t>anti-patrones</a:t>
            </a:r>
            <a:r>
              <a:rPr lang="es-ES" sz="1200" b="0" i="0" kern="1200" dirty="0">
                <a:solidFill>
                  <a:schemeClr val="tx1"/>
                </a:solidFill>
                <a:effectLst/>
                <a:latin typeface="+mn-lt"/>
                <a:ea typeface="+mn-ea"/>
                <a:cs typeface="+mn-cs"/>
              </a:rPr>
              <a:t>/errores a evitar:</a:t>
            </a:r>
          </a:p>
          <a:p>
            <a:pPr lvl="1"/>
            <a:r>
              <a:rPr lang="es-ES" sz="1200" b="0" i="0" kern="1200" dirty="0">
                <a:solidFill>
                  <a:schemeClr val="tx1"/>
                </a:solidFill>
                <a:effectLst/>
                <a:latin typeface="+mn-lt"/>
                <a:ea typeface="+mn-ea"/>
                <a:cs typeface="+mn-cs"/>
              </a:rPr>
              <a:t>Confundir correlación con causalidad.</a:t>
            </a:r>
          </a:p>
          <a:p>
            <a:pPr lvl="1"/>
            <a:r>
              <a:rPr lang="es-ES" sz="1200" b="0" i="0" kern="1200" dirty="0">
                <a:solidFill>
                  <a:schemeClr val="tx1"/>
                </a:solidFill>
                <a:effectLst/>
                <a:latin typeface="+mn-lt"/>
                <a:ea typeface="+mn-ea"/>
                <a:cs typeface="+mn-cs"/>
              </a:rPr>
              <a:t>Automatizar priorización sin auditoría ni explicabilidad.</a:t>
            </a:r>
          </a:p>
          <a:p>
            <a:endParaRPr lang="en-US" dirty="0"/>
          </a:p>
        </p:txBody>
      </p:sp>
      <p:sp>
        <p:nvSpPr>
          <p:cNvPr id="4" name="Slide Number Placeholder 3"/>
          <p:cNvSpPr>
            <a:spLocks noGrp="1"/>
          </p:cNvSpPr>
          <p:nvPr>
            <p:ph type="sldNum" sz="quarter" idx="5"/>
          </p:nvPr>
        </p:nvSpPr>
        <p:spPr/>
        <p:txBody>
          <a:bodyPr/>
          <a:lstStyle/>
          <a:p>
            <a:fld id="{23CEAE38-D274-471A-BDCC-0A715AC2A9EB}" type="slidenum">
              <a:rPr lang="es-BO" smtClean="0"/>
              <a:t>14</a:t>
            </a:fld>
            <a:endParaRPr lang="es-BO"/>
          </a:p>
        </p:txBody>
      </p:sp>
    </p:spTree>
    <p:extLst>
      <p:ext uri="{BB962C8B-B14F-4D97-AF65-F5344CB8AC3E}">
        <p14:creationId xmlns:p14="http://schemas.microsoft.com/office/powerpoint/2010/main" val="2508866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alphaModFix amt="56000"/>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dt="0"/>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3">
            <a:alphaModFix amt="50000"/>
          </a:blip>
          <a:srcRect l="7834" r="7834" b="15789"/>
          <a:stretch>
            <a:fillRect/>
          </a:stretch>
        </p:blipFill>
        <p:spPr>
          <a:xfrm>
            <a:off x="0" y="0"/>
            <a:ext cx="17475200" cy="9753600"/>
          </a:xfrm>
          <a:prstGeom prst="rect">
            <a:avLst/>
          </a:prstGeom>
          <a:noFill/>
        </p:spPr>
      </p:pic>
      <p:sp>
        <p:nvSpPr>
          <p:cNvPr id="5" name="Rectángulo 4"/>
          <p:cNvSpPr/>
          <p:nvPr/>
        </p:nvSpPr>
        <p:spPr>
          <a:xfrm>
            <a:off x="2351315" y="253999"/>
            <a:ext cx="12496800" cy="4767943"/>
          </a:xfrm>
          <a:prstGeom prst="rect">
            <a:avLst/>
          </a:prstGeom>
          <a:noFill/>
        </p:spPr>
        <p:txBody>
          <a:bodyPr lIns="0" tIns="0" rIns="0" bIns="0">
            <a:noAutofit/>
          </a:bodyPr>
          <a:lstStyle/>
          <a:p>
            <a:pPr algn="ctr">
              <a:spcAft>
                <a:spcPts val="840"/>
              </a:spcAft>
            </a:pPr>
            <a:r>
              <a:rPr lang="es-BO" sz="7400" noProof="0" dirty="0">
                <a:latin typeface="Arial" panose="020B0604020202020204" pitchFamily="34" charset="0"/>
                <a:cs typeface="Arial" panose="020B0604020202020204" pitchFamily="34" charset="0"/>
              </a:rPr>
              <a:t>IA para análisis de fallos y calidad operativa</a:t>
            </a:r>
          </a:p>
          <a:p>
            <a:pPr algn="ctr">
              <a:spcAft>
                <a:spcPts val="840"/>
              </a:spcAft>
            </a:pPr>
            <a:r>
              <a:rPr lang="es-BO" sz="2800" noProof="0" dirty="0">
                <a:latin typeface="Arial" panose="020B0604020202020204" pitchFamily="34" charset="0"/>
                <a:cs typeface="Arial" panose="020B0604020202020204" pitchFamily="34" charset="0"/>
              </a:rPr>
              <a:t>Triage, RCA y observabilidad</a:t>
            </a:r>
          </a:p>
          <a:p>
            <a:pPr algn="ctr">
              <a:spcAft>
                <a:spcPts val="840"/>
              </a:spcAft>
            </a:pPr>
            <a:endParaRPr lang="es-BO" sz="2700" noProof="0" dirty="0">
              <a:latin typeface="Arial"/>
            </a:endParaRPr>
          </a:p>
          <a:p>
            <a:pPr algn="ctr">
              <a:spcAft>
                <a:spcPts val="840"/>
              </a:spcAft>
            </a:pPr>
            <a:r>
              <a:rPr lang="es-BO" sz="2400" b="1" noProof="0" dirty="0"/>
              <a:t>¿Cómo puede la IA mejorar el triage, el análisis de causa raíz (RCA) y la observabilidad sin comprometer confiabilidad, auditabilidad y gobernanza?</a:t>
            </a:r>
            <a:endParaRPr lang="es-BO" sz="2400" b="1" noProof="0" dirty="0">
              <a:latin typeface="Arial"/>
            </a:endParaRPr>
          </a:p>
          <a:p>
            <a:pPr algn="ctr">
              <a:spcAft>
                <a:spcPts val="840"/>
              </a:spcAft>
            </a:pPr>
            <a:endParaRPr lang="es-BO" sz="2700" noProof="0" dirty="0">
              <a:latin typeface="Arial"/>
            </a:endParaRPr>
          </a:p>
        </p:txBody>
      </p:sp>
      <p:sp>
        <p:nvSpPr>
          <p:cNvPr id="2" name="Rectángulo 4">
            <a:extLst>
              <a:ext uri="{FF2B5EF4-FFF2-40B4-BE49-F238E27FC236}">
                <a16:creationId xmlns:a16="http://schemas.microsoft.com/office/drawing/2014/main" id="{4E0EBE07-37A6-B206-5432-440FF218D959}"/>
              </a:ext>
            </a:extLst>
          </p:cNvPr>
          <p:cNvSpPr/>
          <p:nvPr/>
        </p:nvSpPr>
        <p:spPr>
          <a:xfrm>
            <a:off x="296929" y="7322458"/>
            <a:ext cx="4731657" cy="2380344"/>
          </a:xfrm>
          <a:prstGeom prst="rect">
            <a:avLst/>
          </a:prstGeom>
          <a:noFill/>
        </p:spPr>
        <p:txBody>
          <a:bodyPr lIns="0" tIns="0" rIns="0" bIns="0">
            <a:noAutofit/>
          </a:bodyPr>
          <a:lstStyle/>
          <a:p>
            <a:pPr>
              <a:spcAft>
                <a:spcPts val="840"/>
              </a:spcAft>
            </a:pPr>
            <a:r>
              <a:rPr lang="es-BO" sz="2000" b="1" noProof="0" dirty="0">
                <a:latin typeface="Arial" panose="020B0604020202020204" pitchFamily="34" charset="0"/>
                <a:cs typeface="Arial" panose="020B0604020202020204" pitchFamily="34" charset="0"/>
              </a:rPr>
              <a:t>Equipo 1: </a:t>
            </a:r>
          </a:p>
          <a:p>
            <a:pPr>
              <a:spcAft>
                <a:spcPts val="840"/>
              </a:spcAft>
            </a:pPr>
            <a:r>
              <a:rPr lang="es-BO" sz="2000" b="1" noProof="0" dirty="0">
                <a:latin typeface="Arial" panose="020B0604020202020204" pitchFamily="34" charset="0"/>
                <a:cs typeface="Arial" panose="020B0604020202020204" pitchFamily="34" charset="0"/>
              </a:rPr>
              <a:t> </a:t>
            </a:r>
          </a:p>
          <a:p>
            <a:pPr>
              <a:spcAft>
                <a:spcPts val="840"/>
              </a:spcAft>
            </a:pPr>
            <a:r>
              <a:rPr lang="es-BO" sz="2000" noProof="0" dirty="0">
                <a:latin typeface="Arial" panose="020B0604020202020204" pitchFamily="34" charset="0"/>
                <a:cs typeface="Arial" panose="020B0604020202020204" pitchFamily="34" charset="0"/>
              </a:rPr>
              <a:t>Jorge Bergman Mostajo Pedraza</a:t>
            </a:r>
          </a:p>
          <a:p>
            <a:pPr>
              <a:spcAft>
                <a:spcPts val="840"/>
              </a:spcAft>
            </a:pPr>
            <a:r>
              <a:rPr lang="es-BO" sz="2000" noProof="0" dirty="0">
                <a:latin typeface="Arial" panose="020B0604020202020204" pitchFamily="34" charset="0"/>
                <a:cs typeface="Arial" panose="020B0604020202020204" pitchFamily="34" charset="0"/>
              </a:rPr>
              <a:t>Edgar </a:t>
            </a:r>
            <a:r>
              <a:rPr lang="es-BO" sz="2000" noProof="0" dirty="0" err="1">
                <a:latin typeface="Arial" panose="020B0604020202020204" pitchFamily="34" charset="0"/>
                <a:cs typeface="Arial" panose="020B0604020202020204" pitchFamily="34" charset="0"/>
              </a:rPr>
              <a:t>Jaldín</a:t>
            </a:r>
            <a:r>
              <a:rPr lang="es-BO" sz="2000" noProof="0" dirty="0">
                <a:latin typeface="Arial" panose="020B0604020202020204" pitchFamily="34" charset="0"/>
                <a:cs typeface="Arial" panose="020B0604020202020204" pitchFamily="34" charset="0"/>
              </a:rPr>
              <a:t> Torrico</a:t>
            </a:r>
          </a:p>
          <a:p>
            <a:pPr>
              <a:spcAft>
                <a:spcPts val="840"/>
              </a:spcAft>
            </a:pPr>
            <a:r>
              <a:rPr lang="es-BO" sz="2000" noProof="0" dirty="0">
                <a:latin typeface="Arial" panose="020B0604020202020204" pitchFamily="34" charset="0"/>
                <a:cs typeface="Arial" panose="020B0604020202020204" pitchFamily="34" charset="0"/>
              </a:rPr>
              <a:t>May </a:t>
            </a:r>
            <a:r>
              <a:rPr lang="es-BO" sz="2000" noProof="0" dirty="0" err="1">
                <a:latin typeface="Arial" panose="020B0604020202020204" pitchFamily="34" charset="0"/>
                <a:cs typeface="Arial" panose="020B0604020202020204" pitchFamily="34" charset="0"/>
              </a:rPr>
              <a:t>Dunnya</a:t>
            </a:r>
            <a:r>
              <a:rPr lang="es-BO" sz="2000" noProof="0" dirty="0">
                <a:latin typeface="Arial" panose="020B0604020202020204" pitchFamily="34" charset="0"/>
                <a:cs typeface="Arial" panose="020B0604020202020204" pitchFamily="34" charset="0"/>
              </a:rPr>
              <a:t> López Negrete</a:t>
            </a:r>
          </a:p>
          <a:p>
            <a:pPr>
              <a:spcAft>
                <a:spcPts val="840"/>
              </a:spcAft>
            </a:pPr>
            <a:r>
              <a:rPr lang="es-BO" sz="2000" noProof="0" dirty="0">
                <a:latin typeface="Arial" panose="020B0604020202020204" pitchFamily="34" charset="0"/>
                <a:cs typeface="Arial" panose="020B0604020202020204" pitchFamily="34" charset="0"/>
              </a:rPr>
              <a:t>Julio César Becerra Lino</a:t>
            </a:r>
          </a:p>
          <a:p>
            <a:pPr algn="r">
              <a:spcAft>
                <a:spcPts val="840"/>
              </a:spcAft>
            </a:pPr>
            <a:endParaRPr lang="es-BO" sz="2000" noProof="0" dirty="0">
              <a:latin typeface="Arial" panose="020B0604020202020204" pitchFamily="34" charset="0"/>
              <a:cs typeface="Arial" panose="020B0604020202020204" pitchFamily="34" charset="0"/>
            </a:endParaRPr>
          </a:p>
        </p:txBody>
      </p:sp>
      <p:sp>
        <p:nvSpPr>
          <p:cNvPr id="7" name="Rectángulo 4">
            <a:extLst>
              <a:ext uri="{FF2B5EF4-FFF2-40B4-BE49-F238E27FC236}">
                <a16:creationId xmlns:a16="http://schemas.microsoft.com/office/drawing/2014/main" id="{7F963EB0-C489-35AB-24FC-9854843AC620}"/>
              </a:ext>
            </a:extLst>
          </p:cNvPr>
          <p:cNvSpPr/>
          <p:nvPr/>
        </p:nvSpPr>
        <p:spPr>
          <a:xfrm>
            <a:off x="12620173" y="7322458"/>
            <a:ext cx="4855028" cy="2380344"/>
          </a:xfrm>
          <a:prstGeom prst="rect">
            <a:avLst/>
          </a:prstGeom>
          <a:noFill/>
        </p:spPr>
        <p:txBody>
          <a:bodyPr lIns="0" tIns="0" rIns="0" bIns="0">
            <a:noAutofit/>
          </a:bodyPr>
          <a:lstStyle/>
          <a:p>
            <a:pPr>
              <a:spcAft>
                <a:spcPts val="840"/>
              </a:spcAft>
            </a:pPr>
            <a:r>
              <a:rPr lang="es-BO" sz="2000" b="1" noProof="0" dirty="0">
                <a:latin typeface="Arial" panose="020B0604020202020204" pitchFamily="34" charset="0"/>
                <a:cs typeface="Arial" panose="020B0604020202020204" pitchFamily="34" charset="0"/>
              </a:rPr>
              <a:t>Programa: </a:t>
            </a:r>
          </a:p>
          <a:p>
            <a:pPr>
              <a:spcAft>
                <a:spcPts val="840"/>
              </a:spcAft>
            </a:pPr>
            <a:r>
              <a:rPr lang="es-BO" sz="2000" noProof="0" dirty="0">
                <a:latin typeface="Arial" panose="020B0604020202020204" pitchFamily="34" charset="0"/>
                <a:cs typeface="Arial" panose="020B0604020202020204" pitchFamily="34" charset="0"/>
              </a:rPr>
              <a:t>Doctorado en Ciencias de la Computación</a:t>
            </a:r>
            <a:endParaRPr lang="es-BO" sz="2000" b="1" noProof="0" dirty="0">
              <a:latin typeface="Arial" panose="020B0604020202020204" pitchFamily="34" charset="0"/>
              <a:cs typeface="Arial" panose="020B0604020202020204" pitchFamily="34" charset="0"/>
            </a:endParaRPr>
          </a:p>
          <a:p>
            <a:pPr>
              <a:spcAft>
                <a:spcPts val="840"/>
              </a:spcAft>
            </a:pPr>
            <a:r>
              <a:rPr lang="es-BO" sz="2000" b="1" noProof="0" dirty="0">
                <a:latin typeface="Arial" panose="020B0604020202020204" pitchFamily="34" charset="0"/>
                <a:cs typeface="Arial" panose="020B0604020202020204" pitchFamily="34" charset="0"/>
              </a:rPr>
              <a:t>Módulo: </a:t>
            </a:r>
          </a:p>
          <a:p>
            <a:pPr>
              <a:spcAft>
                <a:spcPts val="840"/>
              </a:spcAft>
            </a:pPr>
            <a:r>
              <a:rPr lang="es-BO" sz="2000" noProof="0" dirty="0">
                <a:latin typeface="Arial" panose="020B0604020202020204" pitchFamily="34" charset="0"/>
                <a:cs typeface="Arial" panose="020B0604020202020204" pitchFamily="34" charset="0"/>
              </a:rPr>
              <a:t>Calidad de Software</a:t>
            </a:r>
          </a:p>
          <a:p>
            <a:pPr>
              <a:spcAft>
                <a:spcPts val="840"/>
              </a:spcAft>
            </a:pPr>
            <a:r>
              <a:rPr lang="es-BO" sz="2000" b="1" noProof="0" dirty="0">
                <a:latin typeface="Arial" panose="020B0604020202020204" pitchFamily="34" charset="0"/>
                <a:cs typeface="Arial" panose="020B0604020202020204" pitchFamily="34" charset="0"/>
              </a:rPr>
              <a:t>Docente:</a:t>
            </a:r>
          </a:p>
          <a:p>
            <a:pPr>
              <a:spcAft>
                <a:spcPts val="840"/>
              </a:spcAft>
            </a:pPr>
            <a:r>
              <a:rPr lang="es-BO" sz="2000" noProof="0" dirty="0">
                <a:latin typeface="Arial" panose="020B0604020202020204" pitchFamily="34" charset="0"/>
                <a:cs typeface="Arial" panose="020B0604020202020204" pitchFamily="34" charset="0"/>
              </a:rPr>
              <a:t>PhD. Luis Roberto Pérez Ríos</a:t>
            </a:r>
          </a:p>
          <a:p>
            <a:pPr algn="r">
              <a:spcAft>
                <a:spcPts val="840"/>
              </a:spcAft>
            </a:pPr>
            <a:endParaRPr lang="es-BO" sz="2000" noProof="0" dirty="0">
              <a:latin typeface="Arial" panose="020B060402020202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6000"/>
            <a:lum/>
          </a:blip>
          <a:srcRect/>
          <a:stretch>
            <a:fillRect/>
          </a:stretch>
        </a:blipFill>
        <a:effectLst/>
      </p:bgPr>
    </p:bg>
    <p:spTree>
      <p:nvGrpSpPr>
        <p:cNvPr id="1" name=""/>
        <p:cNvGrpSpPr/>
        <p:nvPr/>
      </p:nvGrpSpPr>
      <p:grpSpPr>
        <a:xfrm>
          <a:off x="0" y="0"/>
          <a:ext cx="0" cy="0"/>
          <a:chOff x="0" y="0"/>
          <a:chExt cx="0" cy="0"/>
        </a:xfrm>
      </p:grpSpPr>
      <p:sp>
        <p:nvSpPr>
          <p:cNvPr id="2" name="Rectángulo 1"/>
          <p:cNvSpPr/>
          <p:nvPr/>
        </p:nvSpPr>
        <p:spPr>
          <a:xfrm>
            <a:off x="901700" y="1054100"/>
            <a:ext cx="6680200" cy="4648200"/>
          </a:xfrm>
          <a:prstGeom prst="rect">
            <a:avLst/>
          </a:prstGeom>
          <a:noFill/>
        </p:spPr>
        <p:txBody>
          <a:bodyPr lIns="0" tIns="0" rIns="0" bIns="0">
            <a:noAutofit/>
          </a:bodyPr>
          <a:lstStyle/>
          <a:p>
            <a:pPr marL="0" marR="0" indent="0">
              <a:spcAft>
                <a:spcPts val="1890"/>
              </a:spcAft>
            </a:pPr>
            <a:r>
              <a:rPr lang="es-BO" sz="4100" b="1" noProof="0" dirty="0">
                <a:latin typeface="Arial"/>
              </a:rPr>
              <a:t>La complejidad distribuida supera la capacidad de análisis manual</a:t>
            </a:r>
          </a:p>
          <a:p>
            <a:pPr marL="0" marR="0" indent="0">
              <a:lnSpc>
                <a:spcPct val="123000"/>
              </a:lnSpc>
            </a:pPr>
            <a:r>
              <a:rPr lang="es-BO" sz="2400" noProof="0" dirty="0">
                <a:latin typeface="Arial"/>
              </a:rPr>
              <a:t>Las arquitecturas </a:t>
            </a:r>
            <a:r>
              <a:rPr lang="es-BO" sz="2400" noProof="0" dirty="0" err="1">
                <a:latin typeface="Arial"/>
              </a:rPr>
              <a:t>cloud</a:t>
            </a:r>
            <a:r>
              <a:rPr lang="es-BO" sz="2400" noProof="0" dirty="0">
                <a:latin typeface="Arial"/>
              </a:rPr>
              <a:t>-native y de microservicios han creado un volumen de señales operativas que hace insostenible el diagnóstico tradicional. El MTTR sufre, y el ruido operacional domina el día a día.</a:t>
            </a:r>
          </a:p>
        </p:txBody>
      </p:sp>
      <p:pic>
        <p:nvPicPr>
          <p:cNvPr id="5" name="Picture 4">
            <a:extLst>
              <a:ext uri="{FF2B5EF4-FFF2-40B4-BE49-F238E27FC236}">
                <a16:creationId xmlns:a16="http://schemas.microsoft.com/office/drawing/2014/main" id="{2432CCAF-4639-B1F0-75D7-5C8A5448E94B}"/>
              </a:ext>
            </a:extLst>
          </p:cNvPr>
          <p:cNvPicPr>
            <a:picLocks noChangeAspect="1"/>
          </p:cNvPicPr>
          <p:nvPr/>
        </p:nvPicPr>
        <p:blipFill>
          <a:blip r:embed="rId4"/>
          <a:stretch>
            <a:fillRect/>
          </a:stretch>
        </p:blipFill>
        <p:spPr>
          <a:xfrm>
            <a:off x="8276495" y="1054100"/>
            <a:ext cx="8297005" cy="8147957"/>
          </a:xfrm>
          <a:prstGeom prst="rect">
            <a:avLst/>
          </a:prstGeom>
        </p:spPr>
      </p:pic>
      <p:sp>
        <p:nvSpPr>
          <p:cNvPr id="7" name="Rectángulo 1">
            <a:extLst>
              <a:ext uri="{FF2B5EF4-FFF2-40B4-BE49-F238E27FC236}">
                <a16:creationId xmlns:a16="http://schemas.microsoft.com/office/drawing/2014/main" id="{02AB4E8C-F4FF-276B-D2DA-BD8BD0137AE9}"/>
              </a:ext>
            </a:extLst>
          </p:cNvPr>
          <p:cNvSpPr/>
          <p:nvPr/>
        </p:nvSpPr>
        <p:spPr>
          <a:xfrm rot="16200000">
            <a:off x="-3987067" y="4884858"/>
            <a:ext cx="8783515" cy="778119"/>
          </a:xfrm>
          <a:prstGeom prst="rect">
            <a:avLst/>
          </a:prstGeom>
          <a:noFill/>
        </p:spPr>
        <p:txBody>
          <a:bodyPr lIns="0" tIns="0" rIns="0" bIns="0">
            <a:noAutofit/>
          </a:bodyPr>
          <a:lstStyle/>
          <a:p>
            <a:r>
              <a:rPr lang="es-ES" sz="4000" b="1" dirty="0"/>
              <a:t>Contexto y propósito</a:t>
            </a:r>
          </a:p>
        </p:txBody>
      </p:sp>
      <p:sp>
        <p:nvSpPr>
          <p:cNvPr id="8" name="Rectángulo 3">
            <a:extLst>
              <a:ext uri="{FF2B5EF4-FFF2-40B4-BE49-F238E27FC236}">
                <a16:creationId xmlns:a16="http://schemas.microsoft.com/office/drawing/2014/main" id="{C49BCF35-695D-B65C-2F56-8C5510DA035B}"/>
              </a:ext>
            </a:extLst>
          </p:cNvPr>
          <p:cNvSpPr/>
          <p:nvPr/>
        </p:nvSpPr>
        <p:spPr>
          <a:xfrm>
            <a:off x="723900" y="7596554"/>
            <a:ext cx="7340600" cy="1839546"/>
          </a:xfrm>
          <a:prstGeom prst="rect">
            <a:avLst/>
          </a:prstGeom>
          <a:solidFill>
            <a:srgbClr val="D1DDE9"/>
          </a:solidFill>
          <a:ln>
            <a:solidFill/>
          </a:ln>
        </p:spPr>
        <p:txBody>
          <a:bodyPr lIns="0" tIns="0" rIns="0" bIns="0">
            <a:noAutofit/>
          </a:bodyPr>
          <a:lstStyle/>
          <a:p>
            <a:pPr marL="116400" marR="0" indent="12700">
              <a:lnSpc>
                <a:spcPct val="115000"/>
              </a:lnSpc>
            </a:pPr>
            <a:r>
              <a:rPr lang="es-BO" sz="2000" b="1" noProof="0" dirty="0">
                <a:latin typeface="Arial"/>
              </a:rPr>
              <a:t>Tesis principal</a:t>
            </a:r>
            <a:endParaRPr lang="es-BO" sz="2000" noProof="0" dirty="0">
              <a:latin typeface="Arial"/>
            </a:endParaRPr>
          </a:p>
          <a:p>
            <a:pPr marL="116400" marR="0">
              <a:lnSpc>
                <a:spcPct val="115000"/>
              </a:lnSpc>
            </a:pPr>
            <a:r>
              <a:rPr lang="es-ES" sz="2000" noProof="0" dirty="0">
                <a:latin typeface="Arial"/>
              </a:rPr>
              <a:t>La IA mejora significativamente la velocidad y reducción de ruido en operaciones, pero solo genera valor sostenible cuando está integrada a prácticas disciplinadas de observabilidad, con supervisión humana y gobernanza explícita</a:t>
            </a:r>
            <a:r>
              <a:rPr lang="es-BO" sz="2000" noProof="0" dirty="0">
                <a:latin typeface="Arial"/>
              </a:rPr>
              <a:t>.</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110807" y="3925095"/>
            <a:ext cx="15603574" cy="1866900"/>
          </a:xfrm>
          <a:prstGeom prst="rect">
            <a:avLst/>
          </a:prstGeom>
          <a:noFill/>
        </p:spPr>
        <p:txBody>
          <a:bodyPr lIns="0" tIns="0" rIns="0" bIns="0">
            <a:noAutofit/>
          </a:bodyPr>
          <a:lstStyle/>
          <a:p>
            <a:pPr>
              <a:spcAft>
                <a:spcPts val="910"/>
              </a:spcAft>
            </a:pPr>
            <a:r>
              <a:rPr lang="es-BO" sz="4000" b="1" noProof="0" dirty="0">
                <a:latin typeface="Arial"/>
              </a:rPr>
              <a:t>Respuesta tentativa</a:t>
            </a:r>
          </a:p>
          <a:p>
            <a:pPr marL="0" marR="0" indent="0">
              <a:spcAft>
                <a:spcPts val="910"/>
              </a:spcAft>
            </a:pPr>
            <a:r>
              <a:rPr lang="es-BO" sz="4000" noProof="0" dirty="0">
                <a:latin typeface="Arial"/>
              </a:rPr>
              <a:t>La IA exige disciplina fundacional para generar valor</a:t>
            </a:r>
          </a:p>
          <a:p>
            <a:pPr marL="0" marR="0" indent="0" algn="just">
              <a:lnSpc>
                <a:spcPct val="111000"/>
              </a:lnSpc>
            </a:pPr>
            <a:r>
              <a:rPr lang="es-BO" sz="2400" noProof="0" dirty="0">
                <a:latin typeface="Arial"/>
              </a:rPr>
              <a:t>La inteligencia artificial acelera drásticamente la velocidad de solución y reduce el ruido operacional. Sin embargo, su éxito depende de: instrumentación rigurosa, </a:t>
            </a:r>
            <a:r>
              <a:rPr lang="es-BO" sz="2400" b="1" i="1" noProof="0" dirty="0">
                <a:latin typeface="Arial"/>
              </a:rPr>
              <a:t>supervisión humana continua </a:t>
            </a:r>
            <a:r>
              <a:rPr lang="es-BO" sz="2400" noProof="0" dirty="0">
                <a:latin typeface="Arial"/>
              </a:rPr>
              <a:t>y gobernanza explícita.</a:t>
            </a:r>
          </a:p>
        </p:txBody>
      </p:sp>
      <p:sp>
        <p:nvSpPr>
          <p:cNvPr id="9" name="Rectángulo 8"/>
          <p:cNvSpPr/>
          <p:nvPr/>
        </p:nvSpPr>
        <p:spPr>
          <a:xfrm>
            <a:off x="15074900" y="9263332"/>
            <a:ext cx="2400300" cy="357260"/>
          </a:xfrm>
          <a:prstGeom prst="rect">
            <a:avLst/>
          </a:prstGeom>
          <a:noFill/>
        </p:spPr>
        <p:txBody>
          <a:bodyPr lIns="0" tIns="0" rIns="0" bIns="0">
            <a:noAutofit/>
          </a:bodyPr>
          <a:lstStyle/>
          <a:p>
            <a:pPr marL="0" marR="383100" indent="0" algn="r">
              <a:lnSpc>
                <a:spcPct val="68000"/>
              </a:lnSpc>
              <a:spcAft>
                <a:spcPts val="560"/>
              </a:spcAft>
            </a:pPr>
            <a:r>
              <a:rPr lang="es-BO" sz="1800" noProof="0" dirty="0">
                <a:latin typeface="Arial"/>
              </a:rPr>
              <a:t>[S1, S3]</a:t>
            </a:r>
          </a:p>
        </p:txBody>
      </p:sp>
      <p:pic>
        <p:nvPicPr>
          <p:cNvPr id="11" name="Picture 10">
            <a:extLst>
              <a:ext uri="{FF2B5EF4-FFF2-40B4-BE49-F238E27FC236}">
                <a16:creationId xmlns:a16="http://schemas.microsoft.com/office/drawing/2014/main" id="{71468395-C541-FA99-7F8C-B173E10E160F}"/>
              </a:ext>
            </a:extLst>
          </p:cNvPr>
          <p:cNvPicPr>
            <a:picLocks noChangeAspect="1"/>
          </p:cNvPicPr>
          <p:nvPr/>
        </p:nvPicPr>
        <p:blipFill>
          <a:blip r:embed="rId3"/>
          <a:stretch>
            <a:fillRect/>
          </a:stretch>
        </p:blipFill>
        <p:spPr>
          <a:xfrm>
            <a:off x="2940419" y="6339157"/>
            <a:ext cx="11944350" cy="2924175"/>
          </a:xfrm>
          <a:prstGeom prst="rect">
            <a:avLst/>
          </a:prstGeom>
        </p:spPr>
      </p:pic>
      <p:sp>
        <p:nvSpPr>
          <p:cNvPr id="15" name="Rectángulo 1">
            <a:extLst>
              <a:ext uri="{FF2B5EF4-FFF2-40B4-BE49-F238E27FC236}">
                <a16:creationId xmlns:a16="http://schemas.microsoft.com/office/drawing/2014/main" id="{D9633948-410C-521C-0EE2-8E8CBA60B737}"/>
              </a:ext>
            </a:extLst>
          </p:cNvPr>
          <p:cNvSpPr/>
          <p:nvPr/>
        </p:nvSpPr>
        <p:spPr>
          <a:xfrm>
            <a:off x="1110807" y="594945"/>
            <a:ext cx="15603574" cy="2683595"/>
          </a:xfrm>
          <a:prstGeom prst="rect">
            <a:avLst/>
          </a:prstGeom>
          <a:noFill/>
        </p:spPr>
        <p:txBody>
          <a:bodyPr lIns="0" tIns="0" rIns="0" bIns="0">
            <a:noAutofit/>
          </a:bodyPr>
          <a:lstStyle/>
          <a:p>
            <a:pPr marL="0" marR="0" indent="0">
              <a:spcAft>
                <a:spcPts val="910"/>
              </a:spcAft>
            </a:pPr>
            <a:r>
              <a:rPr lang="es-BO" sz="4300" b="1" noProof="0" dirty="0">
                <a:latin typeface="Arial"/>
              </a:rPr>
              <a:t>Pregunta guía</a:t>
            </a:r>
          </a:p>
          <a:p>
            <a:pPr marL="0" marR="0" indent="0">
              <a:spcAft>
                <a:spcPts val="910"/>
              </a:spcAft>
            </a:pPr>
            <a:endParaRPr lang="es-BO" sz="4300" noProof="0" dirty="0">
              <a:latin typeface="Arial" panose="020B0604020202020204" pitchFamily="34" charset="0"/>
              <a:cs typeface="Arial" panose="020B0604020202020204" pitchFamily="34" charset="0"/>
            </a:endParaRPr>
          </a:p>
          <a:p>
            <a:pPr algn="ctr">
              <a:spcAft>
                <a:spcPts val="910"/>
              </a:spcAft>
            </a:pPr>
            <a:r>
              <a:rPr lang="es-BO" sz="4000" i="1" noProof="0" dirty="0">
                <a:latin typeface="Arial" panose="020B0604020202020204" pitchFamily="34" charset="0"/>
                <a:cs typeface="Arial" panose="020B0604020202020204" pitchFamily="34" charset="0"/>
              </a:rPr>
              <a:t>¿Cómo integrar IA en triage y RCA manteniendo confiabilidad, explicabilidad y control organizacional?</a:t>
            </a:r>
          </a:p>
        </p:txBody>
      </p:sp>
      <p:sp>
        <p:nvSpPr>
          <p:cNvPr id="16" name="Rectángulo 1">
            <a:extLst>
              <a:ext uri="{FF2B5EF4-FFF2-40B4-BE49-F238E27FC236}">
                <a16:creationId xmlns:a16="http://schemas.microsoft.com/office/drawing/2014/main" id="{E79E105A-94C0-0860-B1DF-1A0F7728E056}"/>
              </a:ext>
            </a:extLst>
          </p:cNvPr>
          <p:cNvSpPr/>
          <p:nvPr/>
        </p:nvSpPr>
        <p:spPr>
          <a:xfrm rot="16200000">
            <a:off x="-3987067" y="4884858"/>
            <a:ext cx="8783515" cy="778119"/>
          </a:xfrm>
          <a:prstGeom prst="rect">
            <a:avLst/>
          </a:prstGeom>
          <a:noFill/>
        </p:spPr>
        <p:txBody>
          <a:bodyPr lIns="0" tIns="0" rIns="0" bIns="0">
            <a:noAutofit/>
          </a:bodyPr>
          <a:lstStyle/>
          <a:p>
            <a:r>
              <a:rPr lang="es-ES" sz="4000" b="1" dirty="0"/>
              <a:t>Pregunta guía y alcance</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677F4-D4D6-C195-F5FC-FE86678441CD}"/>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45227946-69F1-8C46-8A20-B57D8EBA36AF}"/>
              </a:ext>
            </a:extLst>
          </p:cNvPr>
          <p:cNvSpPr/>
          <p:nvPr/>
        </p:nvSpPr>
        <p:spPr>
          <a:xfrm>
            <a:off x="1110807" y="558505"/>
            <a:ext cx="15603574" cy="846051"/>
          </a:xfrm>
          <a:prstGeom prst="rect">
            <a:avLst/>
          </a:prstGeom>
          <a:noFill/>
        </p:spPr>
        <p:txBody>
          <a:bodyPr lIns="0" tIns="0" rIns="0" bIns="0">
            <a:noAutofit/>
          </a:bodyPr>
          <a:lstStyle/>
          <a:p>
            <a:pPr marL="0" marR="0" indent="0">
              <a:spcAft>
                <a:spcPts val="910"/>
              </a:spcAft>
            </a:pPr>
            <a:r>
              <a:rPr lang="es-BO" sz="4300" noProof="0" dirty="0">
                <a:latin typeface="Arial"/>
              </a:rPr>
              <a:t>Delimitando el alcance operativo</a:t>
            </a:r>
          </a:p>
        </p:txBody>
      </p:sp>
      <p:graphicFrame>
        <p:nvGraphicFramePr>
          <p:cNvPr id="10" name="Diagrama 9">
            <a:extLst>
              <a:ext uri="{FF2B5EF4-FFF2-40B4-BE49-F238E27FC236}">
                <a16:creationId xmlns:a16="http://schemas.microsoft.com/office/drawing/2014/main" id="{5C5F8AA0-802D-0FCE-9EFD-199E679A0B4C}"/>
              </a:ext>
            </a:extLst>
          </p:cNvPr>
          <p:cNvGraphicFramePr/>
          <p:nvPr>
            <p:extLst>
              <p:ext uri="{D42A27DB-BD31-4B8C-83A1-F6EECF244321}">
                <p14:modId xmlns:p14="http://schemas.microsoft.com/office/powerpoint/2010/main" val="2794055784"/>
              </p:ext>
            </p:extLst>
          </p:nvPr>
        </p:nvGraphicFramePr>
        <p:xfrm>
          <a:off x="-932201" y="973224"/>
          <a:ext cx="12001500" cy="53720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a 9">
            <a:extLst>
              <a:ext uri="{FF2B5EF4-FFF2-40B4-BE49-F238E27FC236}">
                <a16:creationId xmlns:a16="http://schemas.microsoft.com/office/drawing/2014/main" id="{0078EBE4-50AF-9663-AC0A-E5BA5CC23FD5}"/>
              </a:ext>
            </a:extLst>
          </p:cNvPr>
          <p:cNvGraphicFramePr/>
          <p:nvPr>
            <p:extLst>
              <p:ext uri="{D42A27DB-BD31-4B8C-83A1-F6EECF244321}">
                <p14:modId xmlns:p14="http://schemas.microsoft.com/office/powerpoint/2010/main" val="3656008888"/>
              </p:ext>
            </p:extLst>
          </p:nvPr>
        </p:nvGraphicFramePr>
        <p:xfrm>
          <a:off x="6670495" y="4752893"/>
          <a:ext cx="10043886" cy="53721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Rectángulo 8">
            <a:extLst>
              <a:ext uri="{FF2B5EF4-FFF2-40B4-BE49-F238E27FC236}">
                <a16:creationId xmlns:a16="http://schemas.microsoft.com/office/drawing/2014/main" id="{91C4F096-E270-919F-225D-30B74FFE132F}"/>
              </a:ext>
            </a:extLst>
          </p:cNvPr>
          <p:cNvSpPr/>
          <p:nvPr/>
        </p:nvSpPr>
        <p:spPr>
          <a:xfrm>
            <a:off x="15074900" y="9263332"/>
            <a:ext cx="2400300" cy="357260"/>
          </a:xfrm>
          <a:prstGeom prst="rect">
            <a:avLst/>
          </a:prstGeom>
          <a:noFill/>
        </p:spPr>
        <p:txBody>
          <a:bodyPr lIns="0" tIns="0" rIns="0" bIns="0">
            <a:noAutofit/>
          </a:bodyPr>
          <a:lstStyle/>
          <a:p>
            <a:pPr marL="0" marR="383100" indent="0" algn="r">
              <a:lnSpc>
                <a:spcPct val="68000"/>
              </a:lnSpc>
              <a:spcAft>
                <a:spcPts val="560"/>
              </a:spcAft>
            </a:pPr>
            <a:r>
              <a:rPr lang="es-BO" sz="1800" noProof="0" dirty="0">
                <a:latin typeface="Arial"/>
              </a:rPr>
              <a:t>[S1, S3]</a:t>
            </a:r>
          </a:p>
        </p:txBody>
      </p:sp>
      <p:sp>
        <p:nvSpPr>
          <p:cNvPr id="6" name="Rectángulo 1">
            <a:extLst>
              <a:ext uri="{FF2B5EF4-FFF2-40B4-BE49-F238E27FC236}">
                <a16:creationId xmlns:a16="http://schemas.microsoft.com/office/drawing/2014/main" id="{27B489A0-54A8-F8B8-0F8F-1E8D1D84B172}"/>
              </a:ext>
            </a:extLst>
          </p:cNvPr>
          <p:cNvSpPr/>
          <p:nvPr/>
        </p:nvSpPr>
        <p:spPr>
          <a:xfrm rot="16200000">
            <a:off x="-3987067" y="4884858"/>
            <a:ext cx="8783515" cy="778119"/>
          </a:xfrm>
          <a:prstGeom prst="rect">
            <a:avLst/>
          </a:prstGeom>
          <a:noFill/>
        </p:spPr>
        <p:txBody>
          <a:bodyPr lIns="0" tIns="0" rIns="0" bIns="0">
            <a:noAutofit/>
          </a:bodyPr>
          <a:lstStyle/>
          <a:p>
            <a:r>
              <a:rPr lang="es-ES" sz="4000" b="1" dirty="0"/>
              <a:t>Pregunta guía y alcance</a:t>
            </a:r>
          </a:p>
        </p:txBody>
      </p:sp>
    </p:spTree>
    <p:extLst>
      <p:ext uri="{BB962C8B-B14F-4D97-AF65-F5344CB8AC3E}">
        <p14:creationId xmlns:p14="http://schemas.microsoft.com/office/powerpoint/2010/main" val="4012415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61999" y="584200"/>
            <a:ext cx="15732369" cy="1511300"/>
          </a:xfrm>
          <a:prstGeom prst="rect">
            <a:avLst/>
          </a:prstGeom>
          <a:noFill/>
        </p:spPr>
        <p:txBody>
          <a:bodyPr lIns="0" tIns="0" rIns="0" bIns="0">
            <a:noAutofit/>
          </a:bodyPr>
          <a:lstStyle/>
          <a:p>
            <a:pPr marL="0" marR="0" indent="0">
              <a:spcAft>
                <a:spcPts val="700"/>
              </a:spcAft>
            </a:pPr>
            <a:r>
              <a:rPr lang="es-BO" sz="4500" b="1" noProof="0" dirty="0">
                <a:latin typeface="Arial"/>
              </a:rPr>
              <a:t>Respaldo empírico y marcos normativos</a:t>
            </a:r>
          </a:p>
          <a:p>
            <a:pPr marL="0" marR="0" indent="0">
              <a:lnSpc>
                <a:spcPct val="112000"/>
              </a:lnSpc>
            </a:pPr>
            <a:r>
              <a:rPr lang="es-BO" sz="2400" noProof="0" dirty="0">
                <a:latin typeface="Arial"/>
              </a:rPr>
              <a:t>Basado en una revisión exhaustiva de literatura técnica, filtrando opiniones comerciales sin respaldo metodológico.</a:t>
            </a:r>
          </a:p>
        </p:txBody>
      </p:sp>
      <p:sp>
        <p:nvSpPr>
          <p:cNvPr id="7" name="Rectángulo 6"/>
          <p:cNvSpPr/>
          <p:nvPr/>
        </p:nvSpPr>
        <p:spPr>
          <a:xfrm>
            <a:off x="11125200" y="9035565"/>
            <a:ext cx="6223000" cy="762000"/>
          </a:xfrm>
          <a:prstGeom prst="rect">
            <a:avLst/>
          </a:prstGeom>
          <a:noFill/>
        </p:spPr>
        <p:txBody>
          <a:bodyPr lIns="0" tIns="0" rIns="0" bIns="0">
            <a:noAutofit/>
          </a:bodyPr>
          <a:lstStyle/>
          <a:p>
            <a:pPr marL="0" marR="0" indent="0" algn="r"/>
            <a:endParaRPr lang="es-BO" sz="1800" noProof="0" dirty="0">
              <a:latin typeface="Arial"/>
            </a:endParaRPr>
          </a:p>
          <a:p>
            <a:pPr marL="0" marR="0" indent="0" algn="r"/>
            <a:r>
              <a:rPr lang="es-BO" sz="1800" noProof="0" dirty="0">
                <a:latin typeface="Arial"/>
              </a:rPr>
              <a:t>[Evidencia basada en 15 fuentes clave, 2015-2024]</a:t>
            </a:r>
          </a:p>
        </p:txBody>
      </p:sp>
      <p:pic>
        <p:nvPicPr>
          <p:cNvPr id="16" name="Picture 15">
            <a:extLst>
              <a:ext uri="{FF2B5EF4-FFF2-40B4-BE49-F238E27FC236}">
                <a16:creationId xmlns:a16="http://schemas.microsoft.com/office/drawing/2014/main" id="{389DAD7F-DBC3-CE75-3AA1-FF63B1399C0E}"/>
              </a:ext>
            </a:extLst>
          </p:cNvPr>
          <p:cNvPicPr>
            <a:picLocks noChangeAspect="1"/>
          </p:cNvPicPr>
          <p:nvPr/>
        </p:nvPicPr>
        <p:blipFill>
          <a:blip r:embed="rId3">
            <a:alphaModFix/>
          </a:blip>
          <a:stretch>
            <a:fillRect/>
          </a:stretch>
        </p:blipFill>
        <p:spPr>
          <a:xfrm>
            <a:off x="1965894" y="1809384"/>
            <a:ext cx="12916228" cy="5572125"/>
          </a:xfrm>
          <a:prstGeom prst="rect">
            <a:avLst/>
          </a:prstGeom>
        </p:spPr>
      </p:pic>
      <p:sp>
        <p:nvSpPr>
          <p:cNvPr id="17" name="Rectángulo 1">
            <a:extLst>
              <a:ext uri="{FF2B5EF4-FFF2-40B4-BE49-F238E27FC236}">
                <a16:creationId xmlns:a16="http://schemas.microsoft.com/office/drawing/2014/main" id="{300BFCE0-B459-CF1A-D939-81BE47D59D3E}"/>
              </a:ext>
            </a:extLst>
          </p:cNvPr>
          <p:cNvSpPr/>
          <p:nvPr/>
        </p:nvSpPr>
        <p:spPr>
          <a:xfrm>
            <a:off x="1309078" y="8128000"/>
            <a:ext cx="5761894" cy="1511300"/>
          </a:xfrm>
          <a:prstGeom prst="rect">
            <a:avLst/>
          </a:prstGeom>
          <a:noFill/>
        </p:spPr>
        <p:txBody>
          <a:bodyPr lIns="0" tIns="0" rIns="0" bIns="0">
            <a:noAutofit/>
          </a:bodyPr>
          <a:lstStyle/>
          <a:p>
            <a:r>
              <a:rPr lang="es-BO" sz="2000" b="1" noProof="0" dirty="0">
                <a:latin typeface="Arial" panose="020B0604020202020204" pitchFamily="34" charset="0"/>
                <a:cs typeface="Arial" panose="020B0604020202020204" pitchFamily="34" charset="0"/>
              </a:rPr>
              <a:t>Criterios de inclusión:</a:t>
            </a:r>
          </a:p>
          <a:p>
            <a:pPr lvl="1"/>
            <a:r>
              <a:rPr lang="es-BO" sz="2000" noProof="0" dirty="0">
                <a:latin typeface="Arial" panose="020B0604020202020204" pitchFamily="34" charset="0"/>
                <a:cs typeface="Arial" panose="020B0604020202020204" pitchFamily="34" charset="0"/>
              </a:rPr>
              <a:t>Aplicación directa a operaciones reales.</a:t>
            </a:r>
          </a:p>
          <a:p>
            <a:pPr lvl="1"/>
            <a:r>
              <a:rPr lang="es-BO" sz="2000" noProof="0" dirty="0">
                <a:latin typeface="Arial" panose="020B0604020202020204" pitchFamily="34" charset="0"/>
                <a:cs typeface="Arial" panose="020B0604020202020204" pitchFamily="34" charset="0"/>
              </a:rPr>
              <a:t>Evidencia empírica o marco normativo formal.</a:t>
            </a:r>
          </a:p>
          <a:p>
            <a:pPr lvl="1"/>
            <a:r>
              <a:rPr lang="es-BO" sz="2000" noProof="0" dirty="0">
                <a:latin typeface="Arial" panose="020B0604020202020204" pitchFamily="34" charset="0"/>
                <a:cs typeface="Arial" panose="020B0604020202020204" pitchFamily="34" charset="0"/>
              </a:rPr>
              <a:t>Publicaciones 2015–2024.</a:t>
            </a:r>
          </a:p>
        </p:txBody>
      </p:sp>
      <p:sp>
        <p:nvSpPr>
          <p:cNvPr id="18" name="Rectángulo 1">
            <a:extLst>
              <a:ext uri="{FF2B5EF4-FFF2-40B4-BE49-F238E27FC236}">
                <a16:creationId xmlns:a16="http://schemas.microsoft.com/office/drawing/2014/main" id="{E7AB3912-B770-63EC-9FE2-91FF69610AA7}"/>
              </a:ext>
            </a:extLst>
          </p:cNvPr>
          <p:cNvSpPr/>
          <p:nvPr/>
        </p:nvSpPr>
        <p:spPr>
          <a:xfrm>
            <a:off x="6735883" y="8121650"/>
            <a:ext cx="5761894" cy="1511300"/>
          </a:xfrm>
          <a:prstGeom prst="rect">
            <a:avLst/>
          </a:prstGeom>
          <a:noFill/>
        </p:spPr>
        <p:txBody>
          <a:bodyPr lIns="0" tIns="0" rIns="0" bIns="0">
            <a:noAutofit/>
          </a:bodyPr>
          <a:lstStyle/>
          <a:p>
            <a:r>
              <a:rPr lang="es-BO" sz="2000" b="1" noProof="0" dirty="0">
                <a:latin typeface="Arial" panose="020B0604020202020204" pitchFamily="34" charset="0"/>
                <a:cs typeface="Arial" panose="020B0604020202020204" pitchFamily="34" charset="0"/>
              </a:rPr>
              <a:t>Criterios de exclusión:</a:t>
            </a:r>
          </a:p>
          <a:p>
            <a:pPr lvl="1"/>
            <a:r>
              <a:rPr lang="es-BO" sz="2000" noProof="0" dirty="0">
                <a:latin typeface="Arial" panose="020B0604020202020204" pitchFamily="34" charset="0"/>
                <a:cs typeface="Arial" panose="020B0604020202020204" pitchFamily="34" charset="0"/>
              </a:rPr>
              <a:t>Opinión sin respaldo técnico.</a:t>
            </a:r>
          </a:p>
          <a:p>
            <a:pPr lvl="1"/>
            <a:r>
              <a:rPr lang="es-BO" sz="2000" noProof="0" dirty="0">
                <a:latin typeface="Arial" panose="020B0604020202020204" pitchFamily="34" charset="0"/>
                <a:cs typeface="Arial" panose="020B0604020202020204" pitchFamily="34" charset="0"/>
              </a:rPr>
              <a:t>Casos puramente comerciales sin evidencia metodológica.</a:t>
            </a:r>
          </a:p>
        </p:txBody>
      </p:sp>
      <p:sp>
        <p:nvSpPr>
          <p:cNvPr id="19" name="Rectángulo 1">
            <a:extLst>
              <a:ext uri="{FF2B5EF4-FFF2-40B4-BE49-F238E27FC236}">
                <a16:creationId xmlns:a16="http://schemas.microsoft.com/office/drawing/2014/main" id="{4CF0A276-088A-D36E-A191-237DB5E9AE6D}"/>
              </a:ext>
            </a:extLst>
          </p:cNvPr>
          <p:cNvSpPr/>
          <p:nvPr/>
        </p:nvSpPr>
        <p:spPr>
          <a:xfrm rot="16200000">
            <a:off x="-3987067" y="4884858"/>
            <a:ext cx="8783515" cy="778119"/>
          </a:xfrm>
          <a:prstGeom prst="rect">
            <a:avLst/>
          </a:prstGeom>
          <a:noFill/>
        </p:spPr>
        <p:txBody>
          <a:bodyPr lIns="0" tIns="0" rIns="0" bIns="0">
            <a:noAutofit/>
          </a:bodyPr>
          <a:lstStyle/>
          <a:p>
            <a:r>
              <a:rPr lang="es-ES" sz="4000" b="1" dirty="0"/>
              <a:t>Método de revisión </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723899" y="660400"/>
            <a:ext cx="11813931" cy="781538"/>
          </a:xfrm>
          <a:prstGeom prst="rect">
            <a:avLst/>
          </a:prstGeom>
          <a:noFill/>
        </p:spPr>
        <p:txBody>
          <a:bodyPr lIns="0" tIns="0" rIns="0" bIns="0">
            <a:noAutofit/>
          </a:bodyPr>
          <a:lstStyle/>
          <a:p>
            <a:r>
              <a:rPr lang="es-BO" sz="4500" b="1" noProof="0" dirty="0">
                <a:latin typeface="Arial" panose="020B0604020202020204" pitchFamily="34" charset="0"/>
                <a:cs typeface="Arial" panose="020B0604020202020204" pitchFamily="34" charset="0"/>
              </a:rPr>
              <a:t>Visión General - Mapa de hallazgos</a:t>
            </a:r>
          </a:p>
        </p:txBody>
      </p:sp>
      <p:pic>
        <p:nvPicPr>
          <p:cNvPr id="1026" name="Picture 2" descr="Icono de Hallazgo Generic color lineal-color | Freepik">
            <a:extLst>
              <a:ext uri="{FF2B5EF4-FFF2-40B4-BE49-F238E27FC236}">
                <a16:creationId xmlns:a16="http://schemas.microsoft.com/office/drawing/2014/main" id="{6FF34B2E-AA88-3EE9-64D9-27CA34D9D2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6015892"/>
            <a:ext cx="3737708" cy="37377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64631157-9266-F042-102D-072F9B1F00EF}"/>
              </a:ext>
            </a:extLst>
          </p:cNvPr>
          <p:cNvGraphicFramePr>
            <a:graphicFrameLocks noGrp="1"/>
          </p:cNvGraphicFramePr>
          <p:nvPr>
            <p:extLst>
              <p:ext uri="{D42A27DB-BD31-4B8C-83A1-F6EECF244321}">
                <p14:modId xmlns:p14="http://schemas.microsoft.com/office/powerpoint/2010/main" val="593458034"/>
              </p:ext>
            </p:extLst>
          </p:nvPr>
        </p:nvGraphicFramePr>
        <p:xfrm>
          <a:off x="786112" y="2694061"/>
          <a:ext cx="15902976" cy="3108960"/>
        </p:xfrm>
        <a:graphic>
          <a:graphicData uri="http://schemas.openxmlformats.org/drawingml/2006/table">
            <a:tbl>
              <a:tblPr firstRow="1" bandRow="1">
                <a:tableStyleId>{5C22544A-7EE6-4342-B048-85BDC9FD1C3A}</a:tableStyleId>
              </a:tblPr>
              <a:tblGrid>
                <a:gridCol w="1781493">
                  <a:extLst>
                    <a:ext uri="{9D8B030D-6E8A-4147-A177-3AD203B41FA5}">
                      <a16:colId xmlns:a16="http://schemas.microsoft.com/office/drawing/2014/main" val="202751044"/>
                    </a:ext>
                  </a:extLst>
                </a:gridCol>
                <a:gridCol w="10238105">
                  <a:extLst>
                    <a:ext uri="{9D8B030D-6E8A-4147-A177-3AD203B41FA5}">
                      <a16:colId xmlns:a16="http://schemas.microsoft.com/office/drawing/2014/main" val="97385888"/>
                    </a:ext>
                  </a:extLst>
                </a:gridCol>
                <a:gridCol w="3883378">
                  <a:extLst>
                    <a:ext uri="{9D8B030D-6E8A-4147-A177-3AD203B41FA5}">
                      <a16:colId xmlns:a16="http://schemas.microsoft.com/office/drawing/2014/main" val="2489357090"/>
                    </a:ext>
                  </a:extLst>
                </a:gridCol>
              </a:tblGrid>
              <a:tr h="0">
                <a:tc>
                  <a:txBody>
                    <a:bodyPr/>
                    <a:lstStyle/>
                    <a:p>
                      <a:r>
                        <a:rPr lang="es-BO" sz="2800" noProof="0" dirty="0"/>
                        <a:t>Hallazgo</a:t>
                      </a:r>
                    </a:p>
                  </a:txBody>
                  <a:tcPr/>
                </a:tc>
                <a:tc>
                  <a:txBody>
                    <a:bodyPr/>
                    <a:lstStyle/>
                    <a:p>
                      <a:r>
                        <a:rPr lang="es-BO" sz="2800" noProof="0" dirty="0"/>
                        <a:t>Descripción</a:t>
                      </a:r>
                    </a:p>
                  </a:txBody>
                  <a:tcPr/>
                </a:tc>
                <a:tc>
                  <a:txBody>
                    <a:bodyPr/>
                    <a:lstStyle/>
                    <a:p>
                      <a:r>
                        <a:rPr lang="es-BO" sz="2800" noProof="0" dirty="0"/>
                        <a:t>Evidencia</a:t>
                      </a:r>
                    </a:p>
                  </a:txBody>
                  <a:tcPr/>
                </a:tc>
                <a:extLst>
                  <a:ext uri="{0D108BD9-81ED-4DB2-BD59-A6C34878D82A}">
                    <a16:rowId xmlns:a16="http://schemas.microsoft.com/office/drawing/2014/main" val="949047423"/>
                  </a:ext>
                </a:extLst>
              </a:tr>
              <a:tr h="370840">
                <a:tc>
                  <a:txBody>
                    <a:bodyPr/>
                    <a:lstStyle/>
                    <a:p>
                      <a:r>
                        <a:rPr lang="es-BO" sz="2800" noProof="0" dirty="0"/>
                        <a:t>Hallazgo A</a:t>
                      </a:r>
                    </a:p>
                  </a:txBody>
                  <a:tcPr/>
                </a:tc>
                <a:tc>
                  <a:txBody>
                    <a:bodyPr/>
                    <a:lstStyle/>
                    <a:p>
                      <a:r>
                        <a:rPr lang="es-BO" sz="2800" noProof="0" dirty="0"/>
                        <a:t>La IA reduce MTTR pero introduce sesgos históricos</a:t>
                      </a:r>
                    </a:p>
                  </a:txBody>
                  <a:tcPr/>
                </a:tc>
                <a:tc>
                  <a:txBody>
                    <a:bodyPr/>
                    <a:lstStyle/>
                    <a:p>
                      <a:r>
                        <a:rPr lang="es-BO" sz="2800" noProof="0" dirty="0"/>
                        <a:t>S1, S9, S14</a:t>
                      </a:r>
                    </a:p>
                  </a:txBody>
                  <a:tcPr/>
                </a:tc>
                <a:extLst>
                  <a:ext uri="{0D108BD9-81ED-4DB2-BD59-A6C34878D82A}">
                    <a16:rowId xmlns:a16="http://schemas.microsoft.com/office/drawing/2014/main" val="2267639905"/>
                  </a:ext>
                </a:extLst>
              </a:tr>
              <a:tr h="370840">
                <a:tc>
                  <a:txBody>
                    <a:bodyPr/>
                    <a:lstStyle/>
                    <a:p>
                      <a:r>
                        <a:rPr lang="es-BO" sz="2800" noProof="0" dirty="0"/>
                        <a:t>Hallazgo B</a:t>
                      </a:r>
                    </a:p>
                  </a:txBody>
                  <a:tcPr/>
                </a:tc>
                <a:tc>
                  <a:txBody>
                    <a:bodyPr/>
                    <a:lstStyle/>
                    <a:p>
                      <a:r>
                        <a:rPr lang="es-BO" sz="2800" noProof="0" dirty="0"/>
                        <a:t>Correlación multi-señal mejora RCA inicial pero no prueba causalidad</a:t>
                      </a:r>
                    </a:p>
                  </a:txBody>
                  <a:tcPr/>
                </a:tc>
                <a:tc>
                  <a:txBody>
                    <a:bodyPr/>
                    <a:lstStyle/>
                    <a:p>
                      <a:r>
                        <a:rPr lang="es-BO" sz="2800" noProof="0" dirty="0"/>
                        <a:t>S1, S10, S12</a:t>
                      </a:r>
                    </a:p>
                  </a:txBody>
                  <a:tcPr/>
                </a:tc>
                <a:extLst>
                  <a:ext uri="{0D108BD9-81ED-4DB2-BD59-A6C34878D82A}">
                    <a16:rowId xmlns:a16="http://schemas.microsoft.com/office/drawing/2014/main" val="1422222021"/>
                  </a:ext>
                </a:extLst>
              </a:tr>
              <a:tr h="370840">
                <a:tc>
                  <a:txBody>
                    <a:bodyPr/>
                    <a:lstStyle/>
                    <a:p>
                      <a:r>
                        <a:rPr lang="es-BO" sz="2800" noProof="0" dirty="0"/>
                        <a:t>Hallazgo C</a:t>
                      </a:r>
                    </a:p>
                  </a:txBody>
                  <a:tcPr/>
                </a:tc>
                <a:tc>
                  <a:txBody>
                    <a:bodyPr/>
                    <a:lstStyle/>
                    <a:p>
                      <a:r>
                        <a:rPr lang="es-BO" sz="2800" noProof="0" dirty="0"/>
                        <a:t>La detección de anomalías depende críticamente del </a:t>
                      </a:r>
                      <a:r>
                        <a:rPr lang="es-BO" sz="2800" noProof="0" dirty="0" err="1"/>
                        <a:t>baseline</a:t>
                      </a:r>
                      <a:r>
                        <a:rPr lang="es-BO" sz="2800" noProof="0" dirty="0"/>
                        <a:t> estable </a:t>
                      </a:r>
                    </a:p>
                  </a:txBody>
                  <a:tcPr/>
                </a:tc>
                <a:tc>
                  <a:txBody>
                    <a:bodyPr/>
                    <a:lstStyle/>
                    <a:p>
                      <a:r>
                        <a:rPr lang="es-BO" sz="2800" noProof="0" dirty="0"/>
                        <a:t>S11, S12</a:t>
                      </a:r>
                    </a:p>
                  </a:txBody>
                  <a:tcPr/>
                </a:tc>
                <a:extLst>
                  <a:ext uri="{0D108BD9-81ED-4DB2-BD59-A6C34878D82A}">
                    <a16:rowId xmlns:a16="http://schemas.microsoft.com/office/drawing/2014/main" val="2339030948"/>
                  </a:ext>
                </a:extLst>
              </a:tr>
              <a:tr h="370840">
                <a:tc>
                  <a:txBody>
                    <a:bodyPr/>
                    <a:lstStyle/>
                    <a:p>
                      <a:r>
                        <a:rPr lang="es-BO" sz="2800" noProof="0" dirty="0"/>
                        <a:t>Hallazgo D</a:t>
                      </a:r>
                    </a:p>
                  </a:txBody>
                  <a:tcPr/>
                </a:tc>
                <a:tc>
                  <a:txBody>
                    <a:bodyPr/>
                    <a:lstStyle/>
                    <a:p>
                      <a:r>
                        <a:rPr lang="es-BO" sz="2800" noProof="0" dirty="0" err="1"/>
                        <a:t>Automation</a:t>
                      </a:r>
                      <a:r>
                        <a:rPr lang="es-BO" sz="2800" noProof="0" dirty="0"/>
                        <a:t> </a:t>
                      </a:r>
                      <a:r>
                        <a:rPr lang="es-BO" sz="2800" noProof="0" dirty="0" err="1"/>
                        <a:t>bias</a:t>
                      </a:r>
                      <a:r>
                        <a:rPr lang="es-BO" sz="2800" noProof="0" dirty="0"/>
                        <a:t> es un riesgo organizacional real </a:t>
                      </a:r>
                    </a:p>
                  </a:txBody>
                  <a:tcPr/>
                </a:tc>
                <a:tc>
                  <a:txBody>
                    <a:bodyPr/>
                    <a:lstStyle/>
                    <a:p>
                      <a:r>
                        <a:rPr lang="es-BO" sz="2800" noProof="0" dirty="0"/>
                        <a:t>S14, S2</a:t>
                      </a:r>
                    </a:p>
                  </a:txBody>
                  <a:tcPr/>
                </a:tc>
                <a:extLst>
                  <a:ext uri="{0D108BD9-81ED-4DB2-BD59-A6C34878D82A}">
                    <a16:rowId xmlns:a16="http://schemas.microsoft.com/office/drawing/2014/main" val="830227519"/>
                  </a:ext>
                </a:extLst>
              </a:tr>
              <a:tr h="370840">
                <a:tc>
                  <a:txBody>
                    <a:bodyPr/>
                    <a:lstStyle/>
                    <a:p>
                      <a:r>
                        <a:rPr lang="es-BO" sz="2800" noProof="0" dirty="0"/>
                        <a:t>Hallazgo E</a:t>
                      </a:r>
                    </a:p>
                  </a:txBody>
                  <a:tcPr/>
                </a:tc>
                <a:tc>
                  <a:txBody>
                    <a:bodyPr/>
                    <a:lstStyle/>
                    <a:p>
                      <a:r>
                        <a:rPr lang="es-BO" sz="2800" noProof="0" dirty="0"/>
                        <a:t>Sin disciplina en observabilidad, la IA no genera valor </a:t>
                      </a:r>
                    </a:p>
                  </a:txBody>
                  <a:tcPr/>
                </a:tc>
                <a:tc>
                  <a:txBody>
                    <a:bodyPr/>
                    <a:lstStyle/>
                    <a:p>
                      <a:r>
                        <a:rPr lang="es-BO" sz="2800" noProof="0" dirty="0"/>
                        <a:t>S1, S3</a:t>
                      </a:r>
                    </a:p>
                  </a:txBody>
                  <a:tcPr/>
                </a:tc>
                <a:extLst>
                  <a:ext uri="{0D108BD9-81ED-4DB2-BD59-A6C34878D82A}">
                    <a16:rowId xmlns:a16="http://schemas.microsoft.com/office/drawing/2014/main" val="1703160043"/>
                  </a:ext>
                </a:extLst>
              </a:tr>
            </a:tbl>
          </a:graphicData>
        </a:graphic>
      </p:graphicFrame>
      <p:sp>
        <p:nvSpPr>
          <p:cNvPr id="13" name="Rectángulo 1">
            <a:extLst>
              <a:ext uri="{FF2B5EF4-FFF2-40B4-BE49-F238E27FC236}">
                <a16:creationId xmlns:a16="http://schemas.microsoft.com/office/drawing/2014/main" id="{2FE1693C-AC13-F4BD-8395-F278B3379A3F}"/>
              </a:ext>
            </a:extLst>
          </p:cNvPr>
          <p:cNvSpPr/>
          <p:nvPr/>
        </p:nvSpPr>
        <p:spPr>
          <a:xfrm rot="16200000">
            <a:off x="-3987067" y="4884858"/>
            <a:ext cx="8783515" cy="778119"/>
          </a:xfrm>
          <a:prstGeom prst="rect">
            <a:avLst/>
          </a:prstGeom>
          <a:noFill/>
        </p:spPr>
        <p:txBody>
          <a:bodyPr lIns="0" tIns="0" rIns="0" bIns="0">
            <a:noAutofit/>
          </a:bodyPr>
          <a:lstStyle/>
          <a:p>
            <a:r>
              <a:rPr lang="es-BO" sz="4000" b="1" noProof="0" dirty="0"/>
              <a:t>Panorama: mapa de hallazgos</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3A234-561F-5CED-1E77-FBAF334A56A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458D73D9-0BA2-8FB1-15A2-6EF1BF457937}"/>
              </a:ext>
            </a:extLst>
          </p:cNvPr>
          <p:cNvPicPr>
            <a:picLocks noChangeAspect="1"/>
          </p:cNvPicPr>
          <p:nvPr/>
        </p:nvPicPr>
        <p:blipFill>
          <a:blip r:embed="rId3"/>
          <a:stretch>
            <a:fillRect/>
          </a:stretch>
        </p:blipFill>
        <p:spPr>
          <a:xfrm>
            <a:off x="10299700" y="622300"/>
            <a:ext cx="6350000" cy="8305800"/>
          </a:xfrm>
          <a:prstGeom prst="rect">
            <a:avLst/>
          </a:prstGeom>
        </p:spPr>
      </p:pic>
      <p:sp>
        <p:nvSpPr>
          <p:cNvPr id="3" name="Rectángulo 2">
            <a:extLst>
              <a:ext uri="{FF2B5EF4-FFF2-40B4-BE49-F238E27FC236}">
                <a16:creationId xmlns:a16="http://schemas.microsoft.com/office/drawing/2014/main" id="{29311A82-12C0-A563-E7BB-3803D4896FA4}"/>
              </a:ext>
            </a:extLst>
          </p:cNvPr>
          <p:cNvSpPr/>
          <p:nvPr/>
        </p:nvSpPr>
        <p:spPr>
          <a:xfrm>
            <a:off x="723900" y="660400"/>
            <a:ext cx="8585200" cy="4673600"/>
          </a:xfrm>
          <a:prstGeom prst="rect">
            <a:avLst/>
          </a:prstGeom>
          <a:noFill/>
        </p:spPr>
        <p:txBody>
          <a:bodyPr lIns="0" tIns="0" rIns="0" bIns="0">
            <a:noAutofit/>
          </a:bodyPr>
          <a:lstStyle/>
          <a:p>
            <a:pPr marL="0" marR="0" indent="0">
              <a:lnSpc>
                <a:spcPct val="115000"/>
              </a:lnSpc>
              <a:spcAft>
                <a:spcPts val="1330"/>
              </a:spcAft>
            </a:pPr>
            <a:r>
              <a:rPr lang="es-BO" sz="4500" b="1" noProof="0" dirty="0">
                <a:latin typeface="Arial"/>
              </a:rPr>
              <a:t>El triage automatizado reduce el MTTR, pero hereda sesgos</a:t>
            </a:r>
          </a:p>
          <a:p>
            <a:pPr marL="0" marR="0" indent="0">
              <a:lnSpc>
                <a:spcPct val="128000"/>
              </a:lnSpc>
            </a:pPr>
            <a:r>
              <a:rPr lang="es-BO" sz="2700" noProof="0" dirty="0">
                <a:latin typeface="Arial"/>
              </a:rPr>
              <a:t>Los modelos de clasificación son efectivos para priorizar, pero replican los sesgos presentes en los datos operativos pasados. La métrica de éxito debe ser la reducción real del MTTR, no solo la precisión aislada del modelo algorítmico.</a:t>
            </a:r>
          </a:p>
        </p:txBody>
      </p:sp>
      <p:sp>
        <p:nvSpPr>
          <p:cNvPr id="4" name="Rectángulo 3">
            <a:extLst>
              <a:ext uri="{FF2B5EF4-FFF2-40B4-BE49-F238E27FC236}">
                <a16:creationId xmlns:a16="http://schemas.microsoft.com/office/drawing/2014/main" id="{B846F867-DF3C-68E7-2F16-43ECEAD15E4D}"/>
              </a:ext>
            </a:extLst>
          </p:cNvPr>
          <p:cNvSpPr/>
          <p:nvPr/>
        </p:nvSpPr>
        <p:spPr>
          <a:xfrm>
            <a:off x="723900" y="8595946"/>
            <a:ext cx="7340600" cy="840154"/>
          </a:xfrm>
          <a:prstGeom prst="rect">
            <a:avLst/>
          </a:prstGeom>
          <a:solidFill>
            <a:srgbClr val="D1DDE9"/>
          </a:solidFill>
          <a:ln>
            <a:solidFill/>
          </a:ln>
        </p:spPr>
        <p:txBody>
          <a:bodyPr lIns="0" tIns="0" rIns="0" bIns="0">
            <a:noAutofit/>
          </a:bodyPr>
          <a:lstStyle/>
          <a:p>
            <a:pPr marL="116400" marR="0" indent="12700">
              <a:lnSpc>
                <a:spcPct val="115000"/>
              </a:lnSpc>
            </a:pPr>
            <a:r>
              <a:rPr lang="es-BO" sz="2000" b="1" noProof="0" dirty="0">
                <a:latin typeface="Arial"/>
              </a:rPr>
              <a:t>Condición de aplicabilidad</a:t>
            </a:r>
            <a:r>
              <a:rPr lang="es-BO" sz="2000" noProof="0" dirty="0">
                <a:latin typeface="Arial"/>
              </a:rPr>
              <a:t>: </a:t>
            </a:r>
          </a:p>
          <a:p>
            <a:pPr marL="573600" marR="0" indent="-457200">
              <a:lnSpc>
                <a:spcPct val="115000"/>
              </a:lnSpc>
              <a:buFont typeface="Arial" panose="020B0604020202020204" pitchFamily="34" charset="0"/>
              <a:buChar char="•"/>
            </a:pPr>
            <a:r>
              <a:rPr lang="es-BO" sz="2000" noProof="0" dirty="0">
                <a:latin typeface="Arial"/>
              </a:rPr>
              <a:t>Requiere un </a:t>
            </a:r>
            <a:r>
              <a:rPr lang="es-BO" sz="2000" noProof="0" dirty="0" err="1">
                <a:latin typeface="Arial"/>
              </a:rPr>
              <a:t>dataset</a:t>
            </a:r>
            <a:r>
              <a:rPr lang="es-BO" sz="2000" noProof="0" dirty="0">
                <a:latin typeface="Arial"/>
              </a:rPr>
              <a:t> histórico estructurado y balanceado.</a:t>
            </a:r>
          </a:p>
        </p:txBody>
      </p:sp>
      <p:sp>
        <p:nvSpPr>
          <p:cNvPr id="7" name="Rectángulo 6">
            <a:extLst>
              <a:ext uri="{FF2B5EF4-FFF2-40B4-BE49-F238E27FC236}">
                <a16:creationId xmlns:a16="http://schemas.microsoft.com/office/drawing/2014/main" id="{B410C0D8-B2E0-14B5-5D93-30553C0A77C9}"/>
              </a:ext>
            </a:extLst>
          </p:cNvPr>
          <p:cNvSpPr/>
          <p:nvPr/>
        </p:nvSpPr>
        <p:spPr>
          <a:xfrm>
            <a:off x="15443200" y="9207500"/>
            <a:ext cx="1905000" cy="457200"/>
          </a:xfrm>
          <a:prstGeom prst="rect">
            <a:avLst/>
          </a:prstGeom>
          <a:noFill/>
        </p:spPr>
        <p:txBody>
          <a:bodyPr lIns="0" tIns="0" rIns="0" bIns="0">
            <a:noAutofit/>
          </a:bodyPr>
          <a:lstStyle/>
          <a:p>
            <a:pPr marL="0" marR="0" indent="0"/>
            <a:r>
              <a:rPr lang="es-BO" sz="1800" noProof="0" dirty="0">
                <a:latin typeface="Arial"/>
              </a:rPr>
              <a:t>[S1, S9, S14]</a:t>
            </a:r>
          </a:p>
        </p:txBody>
      </p:sp>
      <p:sp>
        <p:nvSpPr>
          <p:cNvPr id="5" name="Rectángulo 3">
            <a:extLst>
              <a:ext uri="{FF2B5EF4-FFF2-40B4-BE49-F238E27FC236}">
                <a16:creationId xmlns:a16="http://schemas.microsoft.com/office/drawing/2014/main" id="{9755812E-7544-141B-A217-C66A8E2FDDD8}"/>
              </a:ext>
            </a:extLst>
          </p:cNvPr>
          <p:cNvSpPr/>
          <p:nvPr/>
        </p:nvSpPr>
        <p:spPr>
          <a:xfrm>
            <a:off x="723900" y="7069015"/>
            <a:ext cx="7340600" cy="1183054"/>
          </a:xfrm>
          <a:prstGeom prst="rect">
            <a:avLst/>
          </a:prstGeom>
          <a:solidFill>
            <a:srgbClr val="D1DDE9"/>
          </a:solidFill>
          <a:ln>
            <a:solidFill/>
          </a:ln>
        </p:spPr>
        <p:txBody>
          <a:bodyPr lIns="0" tIns="0" rIns="0" bIns="0">
            <a:noAutofit/>
          </a:bodyPr>
          <a:lstStyle/>
          <a:p>
            <a:pPr marL="116400" marR="0" indent="12700">
              <a:lnSpc>
                <a:spcPct val="115000"/>
              </a:lnSpc>
            </a:pPr>
            <a:r>
              <a:rPr lang="es-BO" sz="2000" b="1" noProof="0" dirty="0">
                <a:latin typeface="Arial"/>
              </a:rPr>
              <a:t>Implicación práctica</a:t>
            </a:r>
            <a:r>
              <a:rPr lang="es-BO" sz="2000" noProof="0" dirty="0">
                <a:latin typeface="Arial"/>
              </a:rPr>
              <a:t>: </a:t>
            </a:r>
          </a:p>
          <a:p>
            <a:pPr marL="573600" marR="0" indent="-457200">
              <a:lnSpc>
                <a:spcPct val="115000"/>
              </a:lnSpc>
              <a:buFont typeface="Arial" panose="020B0604020202020204" pitchFamily="34" charset="0"/>
              <a:buChar char="•"/>
            </a:pPr>
            <a:r>
              <a:rPr lang="es-ES" sz="2000" noProof="0" dirty="0">
                <a:latin typeface="Arial"/>
              </a:rPr>
              <a:t>Implementar clasificación asistida, no autónoma.</a:t>
            </a:r>
            <a:r>
              <a:rPr lang="es-BO" sz="2000" noProof="0" dirty="0">
                <a:latin typeface="Arial"/>
              </a:rPr>
              <a:t> </a:t>
            </a:r>
          </a:p>
          <a:p>
            <a:pPr marL="573600" marR="0" indent="-457200">
              <a:lnSpc>
                <a:spcPct val="115000"/>
              </a:lnSpc>
              <a:buFont typeface="Arial" panose="020B0604020202020204" pitchFamily="34" charset="0"/>
              <a:buChar char="•"/>
            </a:pPr>
            <a:r>
              <a:rPr lang="es-ES" sz="2000" noProof="0" dirty="0">
                <a:latin typeface="Arial"/>
              </a:rPr>
              <a:t>Medir impacto en MTTR real, no solo precisión del modelo</a:t>
            </a:r>
            <a:endParaRPr lang="es-BO" sz="2000" noProof="0" dirty="0">
              <a:latin typeface="Arial"/>
            </a:endParaRPr>
          </a:p>
        </p:txBody>
      </p:sp>
      <p:sp>
        <p:nvSpPr>
          <p:cNvPr id="8" name="Rectángulo 1">
            <a:extLst>
              <a:ext uri="{FF2B5EF4-FFF2-40B4-BE49-F238E27FC236}">
                <a16:creationId xmlns:a16="http://schemas.microsoft.com/office/drawing/2014/main" id="{BEECF7B6-0934-269E-3185-88D4FE2EAAFB}"/>
              </a:ext>
            </a:extLst>
          </p:cNvPr>
          <p:cNvSpPr/>
          <p:nvPr/>
        </p:nvSpPr>
        <p:spPr>
          <a:xfrm rot="16200000">
            <a:off x="-3987067" y="4884858"/>
            <a:ext cx="8783515" cy="778119"/>
          </a:xfrm>
          <a:prstGeom prst="rect">
            <a:avLst/>
          </a:prstGeom>
          <a:noFill/>
        </p:spPr>
        <p:txBody>
          <a:bodyPr lIns="0" tIns="0" rIns="0" bIns="0">
            <a:noAutofit/>
          </a:bodyPr>
          <a:lstStyle/>
          <a:p>
            <a:r>
              <a:rPr lang="es-ES" sz="4000" b="1" dirty="0"/>
              <a:t>Hallazgo clave 1</a:t>
            </a:r>
          </a:p>
        </p:txBody>
      </p:sp>
    </p:spTree>
    <p:extLst>
      <p:ext uri="{BB962C8B-B14F-4D97-AF65-F5344CB8AC3E}">
        <p14:creationId xmlns:p14="http://schemas.microsoft.com/office/powerpoint/2010/main" val="3694406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49300" y="584200"/>
            <a:ext cx="15849600" cy="1955800"/>
          </a:xfrm>
          <a:prstGeom prst="rect">
            <a:avLst/>
          </a:prstGeom>
          <a:noFill/>
        </p:spPr>
        <p:txBody>
          <a:bodyPr lIns="0" tIns="0" rIns="0" bIns="0">
            <a:noAutofit/>
          </a:bodyPr>
          <a:lstStyle/>
          <a:p>
            <a:pPr marL="0" marR="0" indent="0">
              <a:spcAft>
                <a:spcPts val="700"/>
              </a:spcAft>
            </a:pPr>
            <a:r>
              <a:rPr lang="es-BO" sz="4500" b="1" noProof="0" dirty="0">
                <a:latin typeface="Arial"/>
              </a:rPr>
              <a:t>Correlación multi-señal no garantiza causalidad</a:t>
            </a:r>
          </a:p>
          <a:p>
            <a:pPr marL="0" marR="0" indent="0">
              <a:lnSpc>
                <a:spcPct val="111000"/>
              </a:lnSpc>
            </a:pPr>
            <a:r>
              <a:rPr lang="es-BO" sz="2700" noProof="0" dirty="0">
                <a:latin typeface="Arial"/>
              </a:rPr>
              <a:t>La integración de logs estructurados, métricas y trazas distribuidas acelera drásticamente la formulación de hipótesis iniciales. Sin embargo, la IA actúa como generador de hipótesis, no como un motor de verdades causales definitivas.</a:t>
            </a:r>
          </a:p>
        </p:txBody>
      </p:sp>
      <p:sp>
        <p:nvSpPr>
          <p:cNvPr id="14" name="Rectángulo 13"/>
          <p:cNvSpPr/>
          <p:nvPr/>
        </p:nvSpPr>
        <p:spPr>
          <a:xfrm>
            <a:off x="7818316" y="8354520"/>
            <a:ext cx="6618654" cy="1078643"/>
          </a:xfrm>
          <a:prstGeom prst="rect">
            <a:avLst/>
          </a:prstGeom>
          <a:solidFill>
            <a:srgbClr val="CFDBE7"/>
          </a:solidFill>
          <a:ln>
            <a:solidFill/>
          </a:ln>
        </p:spPr>
        <p:txBody>
          <a:bodyPr lIns="0" tIns="0" rIns="0" bIns="0">
            <a:noAutofit/>
          </a:bodyPr>
          <a:lstStyle/>
          <a:p>
            <a:pPr marL="116400" marR="0" indent="0">
              <a:lnSpc>
                <a:spcPct val="113000"/>
              </a:lnSpc>
            </a:pPr>
            <a:r>
              <a:rPr lang="es-BO" sz="2000" b="1" noProof="0" dirty="0">
                <a:latin typeface="Arial"/>
              </a:rPr>
              <a:t>Condición de aplicabilidad:</a:t>
            </a:r>
          </a:p>
          <a:p>
            <a:pPr marL="573600" marR="0" indent="-457200">
              <a:lnSpc>
                <a:spcPct val="113000"/>
              </a:lnSpc>
              <a:buFont typeface="Arial" panose="020B0604020202020204" pitchFamily="34" charset="0"/>
              <a:buChar char="•"/>
            </a:pPr>
            <a:r>
              <a:rPr lang="es-ES" sz="2000" noProof="0" dirty="0">
                <a:latin typeface="Arial"/>
              </a:rPr>
              <a:t>Instrumentación consistente (logs estructurados y trazabilidad distribuida)</a:t>
            </a:r>
            <a:endParaRPr lang="es-BO" sz="2000" noProof="0" dirty="0">
              <a:latin typeface="Arial"/>
            </a:endParaRPr>
          </a:p>
        </p:txBody>
      </p:sp>
      <p:sp>
        <p:nvSpPr>
          <p:cNvPr id="15" name="Rectángulo 14"/>
          <p:cNvSpPr/>
          <p:nvPr/>
        </p:nvSpPr>
        <p:spPr>
          <a:xfrm>
            <a:off x="15684500" y="9220200"/>
            <a:ext cx="1663700" cy="406400"/>
          </a:xfrm>
          <a:prstGeom prst="rect">
            <a:avLst/>
          </a:prstGeom>
          <a:noFill/>
        </p:spPr>
        <p:txBody>
          <a:bodyPr lIns="0" tIns="0" rIns="0" bIns="0">
            <a:noAutofit/>
          </a:bodyPr>
          <a:lstStyle/>
          <a:p>
            <a:pPr marL="0" marR="0" indent="0" algn="r"/>
            <a:r>
              <a:rPr lang="es-BO" sz="1800" noProof="0" dirty="0">
                <a:latin typeface="Arial"/>
              </a:rPr>
              <a:t>[S10, S12]</a:t>
            </a:r>
          </a:p>
        </p:txBody>
      </p:sp>
      <p:pic>
        <p:nvPicPr>
          <p:cNvPr id="7" name="Picture 6">
            <a:extLst>
              <a:ext uri="{FF2B5EF4-FFF2-40B4-BE49-F238E27FC236}">
                <a16:creationId xmlns:a16="http://schemas.microsoft.com/office/drawing/2014/main" id="{A922C6B0-22CA-83B0-FDD5-ED878BD6A5F6}"/>
              </a:ext>
            </a:extLst>
          </p:cNvPr>
          <p:cNvPicPr>
            <a:picLocks noChangeAspect="1"/>
          </p:cNvPicPr>
          <p:nvPr/>
        </p:nvPicPr>
        <p:blipFill>
          <a:blip r:embed="rId3"/>
          <a:stretch>
            <a:fillRect/>
          </a:stretch>
        </p:blipFill>
        <p:spPr>
          <a:xfrm>
            <a:off x="2763044" y="2628403"/>
            <a:ext cx="11949112" cy="4119941"/>
          </a:xfrm>
          <a:prstGeom prst="rect">
            <a:avLst/>
          </a:prstGeom>
        </p:spPr>
      </p:pic>
      <p:sp>
        <p:nvSpPr>
          <p:cNvPr id="9" name="Rectángulo 13">
            <a:extLst>
              <a:ext uri="{FF2B5EF4-FFF2-40B4-BE49-F238E27FC236}">
                <a16:creationId xmlns:a16="http://schemas.microsoft.com/office/drawing/2014/main" id="{49070597-CEA1-216B-3FD2-C7251B421658}"/>
              </a:ext>
            </a:extLst>
          </p:cNvPr>
          <p:cNvSpPr/>
          <p:nvPr/>
        </p:nvSpPr>
        <p:spPr>
          <a:xfrm>
            <a:off x="749300" y="8354521"/>
            <a:ext cx="6618654" cy="1078643"/>
          </a:xfrm>
          <a:prstGeom prst="rect">
            <a:avLst/>
          </a:prstGeom>
          <a:solidFill>
            <a:srgbClr val="CFDBE7"/>
          </a:solidFill>
          <a:ln>
            <a:solidFill/>
          </a:ln>
        </p:spPr>
        <p:txBody>
          <a:bodyPr lIns="0" tIns="0" rIns="0" bIns="0">
            <a:noAutofit/>
          </a:bodyPr>
          <a:lstStyle/>
          <a:p>
            <a:pPr marL="116400" marR="0" indent="0">
              <a:lnSpc>
                <a:spcPct val="113000"/>
              </a:lnSpc>
            </a:pPr>
            <a:r>
              <a:rPr lang="es-ES" sz="2000" b="1" noProof="0" dirty="0">
                <a:latin typeface="Arial"/>
              </a:rPr>
              <a:t>Implicación práctica:</a:t>
            </a:r>
          </a:p>
          <a:p>
            <a:pPr marL="459300" marR="0" indent="-342900">
              <a:lnSpc>
                <a:spcPct val="113000"/>
              </a:lnSpc>
              <a:buFont typeface="Arial" panose="020B0604020202020204" pitchFamily="34" charset="0"/>
              <a:buChar char="•"/>
            </a:pPr>
            <a:r>
              <a:rPr lang="es-ES" sz="2000" noProof="0" dirty="0">
                <a:latin typeface="Arial"/>
              </a:rPr>
              <a:t>Usar IA como generador de hipótesis.</a:t>
            </a:r>
          </a:p>
          <a:p>
            <a:pPr marL="459300" marR="0" indent="-342900">
              <a:lnSpc>
                <a:spcPct val="113000"/>
              </a:lnSpc>
              <a:buFont typeface="Arial" panose="020B0604020202020204" pitchFamily="34" charset="0"/>
              <a:buChar char="•"/>
            </a:pPr>
            <a:r>
              <a:rPr lang="es-ES" sz="2000" noProof="0" dirty="0">
                <a:latin typeface="Arial"/>
              </a:rPr>
              <a:t>Exigir validación humana antes de cierre de incidente.</a:t>
            </a:r>
          </a:p>
        </p:txBody>
      </p:sp>
      <p:sp>
        <p:nvSpPr>
          <p:cNvPr id="11" name="Rectángulo 1">
            <a:extLst>
              <a:ext uri="{FF2B5EF4-FFF2-40B4-BE49-F238E27FC236}">
                <a16:creationId xmlns:a16="http://schemas.microsoft.com/office/drawing/2014/main" id="{BF946952-395D-3908-E508-67FFEE54619F}"/>
              </a:ext>
            </a:extLst>
          </p:cNvPr>
          <p:cNvSpPr/>
          <p:nvPr/>
        </p:nvSpPr>
        <p:spPr>
          <a:xfrm>
            <a:off x="4447626" y="6748344"/>
            <a:ext cx="9426636" cy="1078643"/>
          </a:xfrm>
          <a:prstGeom prst="rect">
            <a:avLst/>
          </a:prstGeom>
          <a:noFill/>
        </p:spPr>
        <p:txBody>
          <a:bodyPr lIns="0" tIns="0" rIns="0" bIns="0">
            <a:noAutofit/>
          </a:bodyPr>
          <a:lstStyle/>
          <a:p>
            <a:pPr marL="0" marR="0" indent="0">
              <a:spcAft>
                <a:spcPts val="700"/>
              </a:spcAft>
            </a:pPr>
            <a:r>
              <a:rPr lang="es-BO" sz="6000" b="1" noProof="0" dirty="0">
                <a:latin typeface="Arial"/>
              </a:rPr>
              <a:t>Correlación ≠ Causalidad</a:t>
            </a:r>
            <a:endParaRPr lang="es-BO" sz="6000" noProof="0" dirty="0">
              <a:latin typeface="Arial"/>
            </a:endParaRPr>
          </a:p>
        </p:txBody>
      </p:sp>
      <p:sp>
        <p:nvSpPr>
          <p:cNvPr id="13" name="Rectángulo 1">
            <a:extLst>
              <a:ext uri="{FF2B5EF4-FFF2-40B4-BE49-F238E27FC236}">
                <a16:creationId xmlns:a16="http://schemas.microsoft.com/office/drawing/2014/main" id="{D44B68C1-DBA8-012C-DC7B-69FAF0626AD1}"/>
              </a:ext>
            </a:extLst>
          </p:cNvPr>
          <p:cNvSpPr/>
          <p:nvPr/>
        </p:nvSpPr>
        <p:spPr>
          <a:xfrm rot="16200000">
            <a:off x="-3987067" y="4884858"/>
            <a:ext cx="8783515" cy="778119"/>
          </a:xfrm>
          <a:prstGeom prst="rect">
            <a:avLst/>
          </a:prstGeom>
          <a:noFill/>
        </p:spPr>
        <p:txBody>
          <a:bodyPr lIns="0" tIns="0" rIns="0" bIns="0">
            <a:noAutofit/>
          </a:bodyPr>
          <a:lstStyle/>
          <a:p>
            <a:r>
              <a:rPr lang="es-ES" sz="4000" b="1" dirty="0"/>
              <a:t>Hallazgo clave 2</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711200" y="647700"/>
            <a:ext cx="9728200" cy="647700"/>
          </a:xfrm>
          <a:prstGeom prst="rect">
            <a:avLst/>
          </a:prstGeom>
          <a:noFill/>
        </p:spPr>
        <p:txBody>
          <a:bodyPr wrap="none" lIns="0" tIns="0" rIns="0" bIns="0">
            <a:noAutofit/>
          </a:bodyPr>
          <a:lstStyle/>
          <a:p>
            <a:pPr marL="0" marR="0" indent="0"/>
            <a:r>
              <a:rPr lang="es-BO" sz="4500" b="1" noProof="0" dirty="0">
                <a:latin typeface="Arial"/>
              </a:rPr>
              <a:t>La detección de anomalías exige</a:t>
            </a:r>
          </a:p>
        </p:txBody>
      </p:sp>
      <p:sp>
        <p:nvSpPr>
          <p:cNvPr id="4" name="Rectángulo 3"/>
          <p:cNvSpPr/>
          <p:nvPr/>
        </p:nvSpPr>
        <p:spPr>
          <a:xfrm>
            <a:off x="711200" y="1409700"/>
            <a:ext cx="7759700" cy="3911600"/>
          </a:xfrm>
          <a:prstGeom prst="rect">
            <a:avLst/>
          </a:prstGeom>
          <a:noFill/>
        </p:spPr>
        <p:txBody>
          <a:bodyPr lIns="0" tIns="0" rIns="0" bIns="0">
            <a:noAutofit/>
          </a:bodyPr>
          <a:lstStyle/>
          <a:p>
            <a:pPr marL="0" marR="0" indent="0">
              <a:spcAft>
                <a:spcPts val="1540"/>
              </a:spcAft>
            </a:pPr>
            <a:r>
              <a:rPr lang="es-BO" sz="4500" b="1" noProof="0" dirty="0" err="1">
                <a:latin typeface="Arial"/>
              </a:rPr>
              <a:t>baselines</a:t>
            </a:r>
            <a:r>
              <a:rPr lang="es-BO" sz="4500" b="1" noProof="0" dirty="0">
                <a:latin typeface="Arial"/>
              </a:rPr>
              <a:t> estables y </a:t>
            </a:r>
            <a:r>
              <a:rPr lang="es-BO" sz="4500" b="1" noProof="0" dirty="0" err="1">
                <a:latin typeface="Arial"/>
              </a:rPr>
              <a:t>SLOs</a:t>
            </a:r>
            <a:endParaRPr lang="es-BO" sz="4500" b="1" noProof="0" dirty="0">
              <a:latin typeface="Arial"/>
            </a:endParaRPr>
          </a:p>
          <a:p>
            <a:pPr marL="0" marR="0" indent="0">
              <a:lnSpc>
                <a:spcPct val="107000"/>
              </a:lnSpc>
              <a:spcAft>
                <a:spcPts val="910"/>
              </a:spcAft>
            </a:pPr>
            <a:r>
              <a:rPr lang="es-BO" sz="3000" noProof="0" dirty="0">
                <a:latin typeface="Arial"/>
              </a:rPr>
              <a:t>Los algoritmos de detección sufren de alta sensibilidad a los cambios (concept </a:t>
            </a:r>
            <a:r>
              <a:rPr lang="es-BO" sz="3000" noProof="0" dirty="0" err="1">
                <a:latin typeface="Arial"/>
              </a:rPr>
              <a:t>drift</a:t>
            </a:r>
            <a:r>
              <a:rPr lang="es-BO" sz="3000" noProof="0" dirty="0">
                <a:latin typeface="Arial"/>
              </a:rPr>
              <a:t>).</a:t>
            </a:r>
          </a:p>
          <a:p>
            <a:pPr marL="0" marR="0" indent="0">
              <a:lnSpc>
                <a:spcPct val="107000"/>
              </a:lnSpc>
            </a:pPr>
            <a:r>
              <a:rPr lang="es-BO" sz="3000" noProof="0" dirty="0">
                <a:latin typeface="Arial"/>
              </a:rPr>
              <a:t>El valor real solo se obtiene cuando el sistema tiene una base operativa predecible y se auditan rigurosamente los falsos positivos y negativos.</a:t>
            </a:r>
          </a:p>
        </p:txBody>
      </p:sp>
      <p:sp>
        <p:nvSpPr>
          <p:cNvPr id="10" name="Rectángulo 9"/>
          <p:cNvSpPr/>
          <p:nvPr/>
        </p:nvSpPr>
        <p:spPr>
          <a:xfrm>
            <a:off x="15303500" y="9207500"/>
            <a:ext cx="2044700" cy="457200"/>
          </a:xfrm>
          <a:prstGeom prst="rect">
            <a:avLst/>
          </a:prstGeom>
          <a:noFill/>
        </p:spPr>
        <p:txBody>
          <a:bodyPr lIns="0" tIns="0" rIns="0" bIns="0">
            <a:noAutofit/>
          </a:bodyPr>
          <a:lstStyle/>
          <a:p>
            <a:pPr marL="0" marR="0" indent="0"/>
            <a:r>
              <a:rPr lang="es-BO" sz="1800" noProof="0" dirty="0">
                <a:latin typeface="Arial"/>
              </a:rPr>
              <a:t>[S1, S11, S12]</a:t>
            </a:r>
          </a:p>
        </p:txBody>
      </p:sp>
      <p:pic>
        <p:nvPicPr>
          <p:cNvPr id="6" name="Picture 5">
            <a:extLst>
              <a:ext uri="{FF2B5EF4-FFF2-40B4-BE49-F238E27FC236}">
                <a16:creationId xmlns:a16="http://schemas.microsoft.com/office/drawing/2014/main" id="{D2013CDD-0949-C794-ACB4-AE52DAFC692E}"/>
              </a:ext>
            </a:extLst>
          </p:cNvPr>
          <p:cNvPicPr>
            <a:picLocks noChangeAspect="1"/>
          </p:cNvPicPr>
          <p:nvPr/>
        </p:nvPicPr>
        <p:blipFill>
          <a:blip r:embed="rId3"/>
          <a:stretch>
            <a:fillRect/>
          </a:stretch>
        </p:blipFill>
        <p:spPr>
          <a:xfrm>
            <a:off x="10049852" y="1726772"/>
            <a:ext cx="6650648" cy="6300055"/>
          </a:xfrm>
          <a:prstGeom prst="rect">
            <a:avLst/>
          </a:prstGeom>
        </p:spPr>
      </p:pic>
      <p:sp>
        <p:nvSpPr>
          <p:cNvPr id="8" name="Rectángulo 3">
            <a:extLst>
              <a:ext uri="{FF2B5EF4-FFF2-40B4-BE49-F238E27FC236}">
                <a16:creationId xmlns:a16="http://schemas.microsoft.com/office/drawing/2014/main" id="{3696CCED-D22A-9A45-649E-2380CFA48305}"/>
              </a:ext>
            </a:extLst>
          </p:cNvPr>
          <p:cNvSpPr/>
          <p:nvPr/>
        </p:nvSpPr>
        <p:spPr>
          <a:xfrm>
            <a:off x="723900" y="8595946"/>
            <a:ext cx="8402514" cy="840154"/>
          </a:xfrm>
          <a:prstGeom prst="rect">
            <a:avLst/>
          </a:prstGeom>
          <a:solidFill>
            <a:srgbClr val="D1DDE9"/>
          </a:solidFill>
          <a:ln>
            <a:solidFill/>
          </a:ln>
        </p:spPr>
        <p:txBody>
          <a:bodyPr lIns="0" tIns="0" rIns="0" bIns="0">
            <a:noAutofit/>
          </a:bodyPr>
          <a:lstStyle/>
          <a:p>
            <a:pPr marL="116400" marR="0" indent="12700">
              <a:lnSpc>
                <a:spcPct val="115000"/>
              </a:lnSpc>
            </a:pPr>
            <a:r>
              <a:rPr lang="es-BO" sz="2000" b="1" noProof="0" dirty="0">
                <a:latin typeface="Arial"/>
              </a:rPr>
              <a:t>Condición de aplicabilidad</a:t>
            </a:r>
            <a:r>
              <a:rPr lang="es-BO" sz="2000" noProof="0" dirty="0">
                <a:latin typeface="Arial"/>
              </a:rPr>
              <a:t>: </a:t>
            </a:r>
          </a:p>
          <a:p>
            <a:pPr marL="573600" marR="0" indent="-457200">
              <a:lnSpc>
                <a:spcPct val="115000"/>
              </a:lnSpc>
              <a:buFont typeface="Arial" panose="020B0604020202020204" pitchFamily="34" charset="0"/>
              <a:buChar char="•"/>
            </a:pPr>
            <a:r>
              <a:rPr lang="es-BO" sz="2000" noProof="0" dirty="0">
                <a:latin typeface="Arial"/>
              </a:rPr>
              <a:t>Sistemas con métricas históricas consolidadas.</a:t>
            </a:r>
          </a:p>
        </p:txBody>
      </p:sp>
      <p:sp>
        <p:nvSpPr>
          <p:cNvPr id="11" name="Rectángulo 3">
            <a:extLst>
              <a:ext uri="{FF2B5EF4-FFF2-40B4-BE49-F238E27FC236}">
                <a16:creationId xmlns:a16="http://schemas.microsoft.com/office/drawing/2014/main" id="{FFAEF7AE-3600-413E-C621-A71E9F2E3A07}"/>
              </a:ext>
            </a:extLst>
          </p:cNvPr>
          <p:cNvSpPr/>
          <p:nvPr/>
        </p:nvSpPr>
        <p:spPr>
          <a:xfrm>
            <a:off x="723899" y="7069015"/>
            <a:ext cx="8402515" cy="1183054"/>
          </a:xfrm>
          <a:prstGeom prst="rect">
            <a:avLst/>
          </a:prstGeom>
          <a:solidFill>
            <a:srgbClr val="D1DDE9"/>
          </a:solidFill>
          <a:ln>
            <a:solidFill/>
          </a:ln>
        </p:spPr>
        <p:txBody>
          <a:bodyPr lIns="0" tIns="0" rIns="0" bIns="0">
            <a:noAutofit/>
          </a:bodyPr>
          <a:lstStyle/>
          <a:p>
            <a:pPr marL="116400" marR="0" indent="12700">
              <a:lnSpc>
                <a:spcPct val="115000"/>
              </a:lnSpc>
            </a:pPr>
            <a:r>
              <a:rPr lang="es-BO" sz="2000" b="1" noProof="0" dirty="0">
                <a:latin typeface="Arial"/>
              </a:rPr>
              <a:t>Implicación práctica</a:t>
            </a:r>
            <a:r>
              <a:rPr lang="es-BO" sz="2000" noProof="0" dirty="0">
                <a:latin typeface="Arial"/>
              </a:rPr>
              <a:t>: </a:t>
            </a:r>
          </a:p>
          <a:p>
            <a:pPr marL="573600" marR="0" indent="-457200">
              <a:lnSpc>
                <a:spcPct val="115000"/>
              </a:lnSpc>
              <a:buFont typeface="Arial" panose="020B0604020202020204" pitchFamily="34" charset="0"/>
              <a:buChar char="•"/>
            </a:pPr>
            <a:r>
              <a:rPr lang="es-ES" sz="2000" noProof="0" dirty="0">
                <a:latin typeface="Arial"/>
              </a:rPr>
              <a:t>Definir </a:t>
            </a:r>
            <a:r>
              <a:rPr lang="es-ES" sz="2000" noProof="0" dirty="0" err="1">
                <a:latin typeface="Arial"/>
              </a:rPr>
              <a:t>SLOs</a:t>
            </a:r>
            <a:r>
              <a:rPr lang="es-ES" sz="2000" noProof="0" dirty="0">
                <a:latin typeface="Arial"/>
              </a:rPr>
              <a:t> (</a:t>
            </a:r>
            <a:r>
              <a:rPr lang="es-ES" sz="2000" noProof="0" dirty="0" err="1">
                <a:latin typeface="Arial"/>
              </a:rPr>
              <a:t>Service</a:t>
            </a:r>
            <a:r>
              <a:rPr lang="es-ES" sz="2000" noProof="0" dirty="0">
                <a:latin typeface="Arial"/>
              </a:rPr>
              <a:t> </a:t>
            </a:r>
            <a:r>
              <a:rPr lang="es-ES" sz="2000" noProof="0" dirty="0" err="1">
                <a:latin typeface="Arial"/>
              </a:rPr>
              <a:t>Level</a:t>
            </a:r>
            <a:r>
              <a:rPr lang="es-ES" sz="2000" noProof="0" dirty="0">
                <a:latin typeface="Arial"/>
              </a:rPr>
              <a:t> </a:t>
            </a:r>
            <a:r>
              <a:rPr lang="es-ES" sz="2000" noProof="0" dirty="0" err="1">
                <a:latin typeface="Arial"/>
              </a:rPr>
              <a:t>Objectives</a:t>
            </a:r>
            <a:r>
              <a:rPr lang="es-ES" sz="2000" noProof="0" dirty="0">
                <a:latin typeface="Arial"/>
              </a:rPr>
              <a:t>) antes de entrenar modelos.</a:t>
            </a:r>
          </a:p>
          <a:p>
            <a:pPr marL="573600" marR="0" indent="-457200">
              <a:lnSpc>
                <a:spcPct val="115000"/>
              </a:lnSpc>
              <a:buFont typeface="Arial" panose="020B0604020202020204" pitchFamily="34" charset="0"/>
              <a:buChar char="•"/>
            </a:pPr>
            <a:r>
              <a:rPr lang="es-ES" sz="2000" noProof="0" dirty="0">
                <a:latin typeface="Arial"/>
              </a:rPr>
              <a:t>Auditar falsos positivos y negativos trimestralmente</a:t>
            </a:r>
            <a:endParaRPr lang="es-BO" sz="2000" noProof="0" dirty="0">
              <a:latin typeface="Arial"/>
            </a:endParaRPr>
          </a:p>
        </p:txBody>
      </p:sp>
      <p:sp>
        <p:nvSpPr>
          <p:cNvPr id="12" name="Rectángulo 1">
            <a:extLst>
              <a:ext uri="{FF2B5EF4-FFF2-40B4-BE49-F238E27FC236}">
                <a16:creationId xmlns:a16="http://schemas.microsoft.com/office/drawing/2014/main" id="{07B5F127-6130-F682-4C46-099139170EC1}"/>
              </a:ext>
            </a:extLst>
          </p:cNvPr>
          <p:cNvSpPr/>
          <p:nvPr/>
        </p:nvSpPr>
        <p:spPr>
          <a:xfrm rot="16200000">
            <a:off x="-3987067" y="4884858"/>
            <a:ext cx="8783515" cy="778119"/>
          </a:xfrm>
          <a:prstGeom prst="rect">
            <a:avLst/>
          </a:prstGeom>
          <a:noFill/>
        </p:spPr>
        <p:txBody>
          <a:bodyPr lIns="0" tIns="0" rIns="0" bIns="0">
            <a:noAutofit/>
          </a:bodyPr>
          <a:lstStyle/>
          <a:p>
            <a:r>
              <a:rPr lang="es-ES" sz="4000" b="1" dirty="0"/>
              <a:t>Hallazgo clave 3</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850900" y="787400"/>
            <a:ext cx="15595600" cy="1943100"/>
          </a:xfrm>
          <a:prstGeom prst="rect">
            <a:avLst/>
          </a:prstGeom>
          <a:noFill/>
        </p:spPr>
        <p:txBody>
          <a:bodyPr lIns="0" tIns="0" rIns="0" bIns="0">
            <a:noAutofit/>
          </a:bodyPr>
          <a:lstStyle/>
          <a:p>
            <a:pPr marL="0" marR="0" indent="0">
              <a:spcAft>
                <a:spcPts val="910"/>
              </a:spcAft>
            </a:pPr>
            <a:r>
              <a:rPr lang="es-BO" sz="4900" b="1" noProof="0" dirty="0">
                <a:latin typeface="Arial"/>
              </a:rPr>
              <a:t>Gobernanza a través de estándares internacionales</a:t>
            </a:r>
          </a:p>
          <a:p>
            <a:pPr marL="0" marR="0" indent="0">
              <a:lnSpc>
                <a:spcPct val="110000"/>
              </a:lnSpc>
            </a:pPr>
            <a:r>
              <a:rPr lang="es-BO" sz="3000" noProof="0" dirty="0">
                <a:latin typeface="Arial"/>
              </a:rPr>
              <a:t>Mitigación del riesgo apoyada en marcos normativos consolidados para garantizar confiabilidad y auditabilidad continua.</a:t>
            </a:r>
          </a:p>
        </p:txBody>
      </p:sp>
      <p:pic>
        <p:nvPicPr>
          <p:cNvPr id="7" name="Picture 6">
            <a:extLst>
              <a:ext uri="{FF2B5EF4-FFF2-40B4-BE49-F238E27FC236}">
                <a16:creationId xmlns:a16="http://schemas.microsoft.com/office/drawing/2014/main" id="{50A6D3C5-1172-E3B4-42AE-87C151F54395}"/>
              </a:ext>
            </a:extLst>
          </p:cNvPr>
          <p:cNvPicPr>
            <a:picLocks noChangeAspect="1"/>
          </p:cNvPicPr>
          <p:nvPr/>
        </p:nvPicPr>
        <p:blipFill>
          <a:blip r:embed="rId3"/>
          <a:stretch>
            <a:fillRect/>
          </a:stretch>
        </p:blipFill>
        <p:spPr>
          <a:xfrm>
            <a:off x="1832111" y="3539393"/>
            <a:ext cx="13810978" cy="5662979"/>
          </a:xfrm>
          <a:prstGeom prst="rect">
            <a:avLst/>
          </a:prstGeom>
        </p:spPr>
      </p:pic>
      <p:sp>
        <p:nvSpPr>
          <p:cNvPr id="11" name="Rectángulo 2">
            <a:extLst>
              <a:ext uri="{FF2B5EF4-FFF2-40B4-BE49-F238E27FC236}">
                <a16:creationId xmlns:a16="http://schemas.microsoft.com/office/drawing/2014/main" id="{CEB8AC0B-E499-4795-DA80-A3550C4983E3}"/>
              </a:ext>
            </a:extLst>
          </p:cNvPr>
          <p:cNvSpPr/>
          <p:nvPr/>
        </p:nvSpPr>
        <p:spPr>
          <a:xfrm>
            <a:off x="3771900" y="2841383"/>
            <a:ext cx="1767254" cy="755649"/>
          </a:xfrm>
          <a:prstGeom prst="rect">
            <a:avLst/>
          </a:prstGeom>
          <a:noFill/>
        </p:spPr>
        <p:txBody>
          <a:bodyPr lIns="0" tIns="0" rIns="0" bIns="0">
            <a:noAutofit/>
          </a:bodyPr>
          <a:lstStyle/>
          <a:p>
            <a:pPr marL="0" marR="0" indent="0">
              <a:spcAft>
                <a:spcPts val="910"/>
              </a:spcAft>
            </a:pPr>
            <a:r>
              <a:rPr lang="es-BO" sz="4000" b="1" i="1" u="sng" noProof="0" dirty="0">
                <a:latin typeface="Arial"/>
              </a:rPr>
              <a:t>Aporte</a:t>
            </a:r>
          </a:p>
        </p:txBody>
      </p:sp>
      <p:sp>
        <p:nvSpPr>
          <p:cNvPr id="13" name="Rectángulo 2">
            <a:extLst>
              <a:ext uri="{FF2B5EF4-FFF2-40B4-BE49-F238E27FC236}">
                <a16:creationId xmlns:a16="http://schemas.microsoft.com/office/drawing/2014/main" id="{F12D89DA-6AFE-973A-24A0-7893E7D2E2C2}"/>
              </a:ext>
            </a:extLst>
          </p:cNvPr>
          <p:cNvSpPr/>
          <p:nvPr/>
        </p:nvSpPr>
        <p:spPr>
          <a:xfrm>
            <a:off x="11767038" y="2841383"/>
            <a:ext cx="2283070" cy="755649"/>
          </a:xfrm>
          <a:prstGeom prst="rect">
            <a:avLst/>
          </a:prstGeom>
          <a:noFill/>
        </p:spPr>
        <p:txBody>
          <a:bodyPr lIns="0" tIns="0" rIns="0" bIns="0">
            <a:noAutofit/>
          </a:bodyPr>
          <a:lstStyle/>
          <a:p>
            <a:pPr marL="0" marR="0" indent="0">
              <a:spcAft>
                <a:spcPts val="910"/>
              </a:spcAft>
            </a:pPr>
            <a:r>
              <a:rPr lang="es-BO" sz="4000" b="1" i="1" u="sng" noProof="0" dirty="0">
                <a:latin typeface="Arial"/>
              </a:rPr>
              <a:t>Estándar</a:t>
            </a:r>
          </a:p>
        </p:txBody>
      </p:sp>
      <p:sp>
        <p:nvSpPr>
          <p:cNvPr id="14" name="Rectángulo 1">
            <a:extLst>
              <a:ext uri="{FF2B5EF4-FFF2-40B4-BE49-F238E27FC236}">
                <a16:creationId xmlns:a16="http://schemas.microsoft.com/office/drawing/2014/main" id="{16C407D8-5F1F-301A-1CFE-15EF614B2144}"/>
              </a:ext>
            </a:extLst>
          </p:cNvPr>
          <p:cNvSpPr/>
          <p:nvPr/>
        </p:nvSpPr>
        <p:spPr>
          <a:xfrm rot="16200000">
            <a:off x="-3987067" y="4920028"/>
            <a:ext cx="8783515" cy="778119"/>
          </a:xfrm>
          <a:prstGeom prst="rect">
            <a:avLst/>
          </a:prstGeom>
          <a:noFill/>
        </p:spPr>
        <p:txBody>
          <a:bodyPr lIns="0" tIns="0" rIns="0" bIns="0">
            <a:noAutofit/>
          </a:bodyPr>
          <a:lstStyle/>
          <a:p>
            <a:pPr marL="0" marR="0" indent="0">
              <a:spcAft>
                <a:spcPts val="980"/>
              </a:spcAft>
            </a:pPr>
            <a:r>
              <a:rPr lang="es-BO" sz="4000" b="1" noProof="0" dirty="0">
                <a:latin typeface="Arial"/>
              </a:rPr>
              <a:t>Marco aplicable</a:t>
            </a:r>
            <a:endParaRPr lang="es-BO" sz="4000" noProof="0" dirty="0">
              <a:latin typeface="Arial"/>
            </a:endParaRP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3"/>
          <a:stretch>
            <a:fillRect/>
          </a:stretch>
        </p:blipFill>
        <p:spPr>
          <a:xfrm>
            <a:off x="2324100" y="4089400"/>
            <a:ext cx="1930400" cy="1930400"/>
          </a:xfrm>
          <a:prstGeom prst="rect">
            <a:avLst/>
          </a:prstGeom>
        </p:spPr>
      </p:pic>
      <p:pic>
        <p:nvPicPr>
          <p:cNvPr id="4" name="Imagen 3"/>
          <p:cNvPicPr>
            <a:picLocks noChangeAspect="1"/>
          </p:cNvPicPr>
          <p:nvPr/>
        </p:nvPicPr>
        <p:blipFill>
          <a:blip r:embed="rId4"/>
          <a:stretch>
            <a:fillRect/>
          </a:stretch>
        </p:blipFill>
        <p:spPr>
          <a:xfrm>
            <a:off x="7747000" y="4114800"/>
            <a:ext cx="1955800" cy="1905000"/>
          </a:xfrm>
          <a:prstGeom prst="rect">
            <a:avLst/>
          </a:prstGeom>
        </p:spPr>
      </p:pic>
      <p:pic>
        <p:nvPicPr>
          <p:cNvPr id="5" name="Imagen 4"/>
          <p:cNvPicPr>
            <a:picLocks noChangeAspect="1"/>
          </p:cNvPicPr>
          <p:nvPr/>
        </p:nvPicPr>
        <p:blipFill>
          <a:blip r:embed="rId5"/>
          <a:stretch>
            <a:fillRect/>
          </a:stretch>
        </p:blipFill>
        <p:spPr>
          <a:xfrm>
            <a:off x="13258800" y="4102100"/>
            <a:ext cx="1879600" cy="1917700"/>
          </a:xfrm>
          <a:prstGeom prst="rect">
            <a:avLst/>
          </a:prstGeom>
        </p:spPr>
      </p:pic>
      <p:sp>
        <p:nvSpPr>
          <p:cNvPr id="2" name="Rectángulo 1"/>
          <p:cNvSpPr/>
          <p:nvPr/>
        </p:nvSpPr>
        <p:spPr>
          <a:xfrm>
            <a:off x="889000" y="774700"/>
            <a:ext cx="15328900" cy="1917700"/>
          </a:xfrm>
          <a:prstGeom prst="rect">
            <a:avLst/>
          </a:prstGeom>
          <a:noFill/>
        </p:spPr>
        <p:txBody>
          <a:bodyPr lIns="0" tIns="0" rIns="0" bIns="0">
            <a:noAutofit/>
          </a:bodyPr>
          <a:lstStyle/>
          <a:p>
            <a:pPr marL="0" marR="0" indent="0">
              <a:spcAft>
                <a:spcPts val="980"/>
              </a:spcAft>
            </a:pPr>
            <a:r>
              <a:rPr lang="es-BO" sz="4900" b="1" noProof="0" dirty="0">
                <a:latin typeface="Arial"/>
              </a:rPr>
              <a:t>Riesgos sistémicos y fricción operativa</a:t>
            </a:r>
          </a:p>
          <a:p>
            <a:pPr marL="0" marR="0" indent="0">
              <a:lnSpc>
                <a:spcPct val="122000"/>
              </a:lnSpc>
            </a:pPr>
            <a:r>
              <a:rPr lang="es-BO" sz="2700" noProof="0" dirty="0">
                <a:latin typeface="Arial"/>
              </a:rPr>
              <a:t>La adopción de IA operativa intercambia profundidad analítica inicial por velocidad extrema. Esto introduce vulnerabilidades organizacionales que requieren mitigación activa.</a:t>
            </a:r>
          </a:p>
        </p:txBody>
      </p:sp>
      <p:sp>
        <p:nvSpPr>
          <p:cNvPr id="6" name="Rectángulo 5"/>
          <p:cNvSpPr/>
          <p:nvPr/>
        </p:nvSpPr>
        <p:spPr>
          <a:xfrm>
            <a:off x="1092200" y="6578600"/>
            <a:ext cx="4381500" cy="1778000"/>
          </a:xfrm>
          <a:prstGeom prst="rect">
            <a:avLst/>
          </a:prstGeom>
          <a:noFill/>
        </p:spPr>
        <p:txBody>
          <a:bodyPr lIns="0" tIns="0" rIns="0" bIns="0">
            <a:noAutofit/>
          </a:bodyPr>
          <a:lstStyle/>
          <a:p>
            <a:pPr marL="0" marR="0" indent="0" algn="ctr">
              <a:spcAft>
                <a:spcPts val="1330"/>
              </a:spcAft>
            </a:pPr>
            <a:r>
              <a:rPr lang="es-BO" sz="3000" b="1" noProof="0" dirty="0" err="1">
                <a:latin typeface="Arial"/>
              </a:rPr>
              <a:t>Unknown</a:t>
            </a:r>
            <a:r>
              <a:rPr lang="es-BO" sz="3000" b="1" noProof="0" dirty="0">
                <a:latin typeface="Arial"/>
              </a:rPr>
              <a:t> </a:t>
            </a:r>
            <a:r>
              <a:rPr lang="es-BO" sz="3000" b="1" noProof="0" dirty="0" err="1">
                <a:latin typeface="Arial"/>
              </a:rPr>
              <a:t>Unknowns</a:t>
            </a:r>
            <a:endParaRPr lang="es-BO" sz="3000" b="1" noProof="0" dirty="0">
              <a:latin typeface="Arial"/>
            </a:endParaRPr>
          </a:p>
          <a:p>
            <a:pPr marL="0" marR="0" indent="0" algn="ctr">
              <a:lnSpc>
                <a:spcPct val="118000"/>
              </a:lnSpc>
            </a:pPr>
            <a:r>
              <a:rPr lang="es-BO" sz="2400" noProof="0" dirty="0">
                <a:latin typeface="Arial"/>
              </a:rPr>
              <a:t>La IA no puede diagnosticar causas raíz fuera de su espacio de entrenamiento.</a:t>
            </a:r>
          </a:p>
        </p:txBody>
      </p:sp>
      <p:sp>
        <p:nvSpPr>
          <p:cNvPr id="7" name="Rectángulo 6"/>
          <p:cNvSpPr/>
          <p:nvPr/>
        </p:nvSpPr>
        <p:spPr>
          <a:xfrm>
            <a:off x="6540500" y="6578600"/>
            <a:ext cx="4394200" cy="1854200"/>
          </a:xfrm>
          <a:prstGeom prst="rect">
            <a:avLst/>
          </a:prstGeom>
          <a:noFill/>
        </p:spPr>
        <p:txBody>
          <a:bodyPr lIns="0" tIns="0" rIns="0" bIns="0">
            <a:noAutofit/>
          </a:bodyPr>
          <a:lstStyle/>
          <a:p>
            <a:pPr marL="0" marR="0" indent="0" algn="ctr">
              <a:spcAft>
                <a:spcPts val="1330"/>
              </a:spcAft>
            </a:pPr>
            <a:r>
              <a:rPr lang="es-BO" sz="3000" b="1" noProof="0" dirty="0" err="1">
                <a:latin typeface="Arial"/>
              </a:rPr>
              <a:t>Automation</a:t>
            </a:r>
            <a:r>
              <a:rPr lang="es-BO" sz="3000" b="1" noProof="0" dirty="0">
                <a:latin typeface="Arial"/>
              </a:rPr>
              <a:t> </a:t>
            </a:r>
            <a:r>
              <a:rPr lang="es-BO" sz="3000" b="1" noProof="0" dirty="0" err="1">
                <a:latin typeface="Arial"/>
              </a:rPr>
              <a:t>Bias</a:t>
            </a:r>
            <a:endParaRPr lang="es-BO" sz="3000" b="1" noProof="0" dirty="0">
              <a:latin typeface="Arial"/>
            </a:endParaRPr>
          </a:p>
          <a:p>
            <a:pPr marL="0" marR="0" indent="0" algn="ctr">
              <a:lnSpc>
                <a:spcPct val="118000"/>
              </a:lnSpc>
            </a:pPr>
            <a:r>
              <a:rPr lang="es-BO" sz="2400" noProof="0" dirty="0">
                <a:latin typeface="Arial"/>
              </a:rPr>
              <a:t>El riesgo crítico de que los ingenieros confíen ciegamente en las sugerencias del modelo.</a:t>
            </a:r>
          </a:p>
        </p:txBody>
      </p:sp>
      <p:sp>
        <p:nvSpPr>
          <p:cNvPr id="8" name="Rectángulo 7"/>
          <p:cNvSpPr/>
          <p:nvPr/>
        </p:nvSpPr>
        <p:spPr>
          <a:xfrm>
            <a:off x="12255500" y="6578600"/>
            <a:ext cx="3873500" cy="1435100"/>
          </a:xfrm>
          <a:prstGeom prst="rect">
            <a:avLst/>
          </a:prstGeom>
          <a:noFill/>
        </p:spPr>
        <p:txBody>
          <a:bodyPr lIns="0" tIns="0" rIns="0" bIns="0">
            <a:noAutofit/>
          </a:bodyPr>
          <a:lstStyle/>
          <a:p>
            <a:pPr marL="0" marR="0" indent="0" algn="ctr">
              <a:spcAft>
                <a:spcPts val="1330"/>
              </a:spcAft>
            </a:pPr>
            <a:r>
              <a:rPr lang="es-BO" sz="3000" b="1" noProof="0" dirty="0">
                <a:latin typeface="Arial"/>
              </a:rPr>
              <a:t>Opacidad</a:t>
            </a:r>
          </a:p>
          <a:p>
            <a:pPr marL="0" marR="0" indent="0" algn="ctr">
              <a:lnSpc>
                <a:spcPct val="120000"/>
              </a:lnSpc>
            </a:pPr>
            <a:r>
              <a:rPr lang="es-BO" sz="2400" noProof="0" dirty="0">
                <a:latin typeface="Arial"/>
              </a:rPr>
              <a:t>Hipótesis sin explicabilidad algorítmica.</a:t>
            </a:r>
          </a:p>
        </p:txBody>
      </p:sp>
      <p:sp>
        <p:nvSpPr>
          <p:cNvPr id="11" name="Rectángulo 1">
            <a:extLst>
              <a:ext uri="{FF2B5EF4-FFF2-40B4-BE49-F238E27FC236}">
                <a16:creationId xmlns:a16="http://schemas.microsoft.com/office/drawing/2014/main" id="{9CF918E0-E1D1-5B5E-96CF-B6A6C2BD77B5}"/>
              </a:ext>
            </a:extLst>
          </p:cNvPr>
          <p:cNvSpPr/>
          <p:nvPr/>
        </p:nvSpPr>
        <p:spPr>
          <a:xfrm rot="16200000">
            <a:off x="-3987067" y="4972783"/>
            <a:ext cx="8783515" cy="778119"/>
          </a:xfrm>
          <a:prstGeom prst="rect">
            <a:avLst/>
          </a:prstGeom>
          <a:noFill/>
        </p:spPr>
        <p:txBody>
          <a:bodyPr lIns="0" tIns="0" rIns="0" bIns="0">
            <a:noAutofit/>
          </a:bodyPr>
          <a:lstStyle/>
          <a:p>
            <a:pPr marL="0" marR="0" indent="0">
              <a:spcAft>
                <a:spcPts val="980"/>
              </a:spcAft>
            </a:pPr>
            <a:r>
              <a:rPr lang="es-BO" sz="4000" b="1" noProof="0" dirty="0">
                <a:latin typeface="Arial"/>
              </a:rPr>
              <a:t> Límites, riesgos y </a:t>
            </a:r>
            <a:r>
              <a:rPr lang="es-BO" sz="4000" b="1" noProof="0" dirty="0" err="1">
                <a:latin typeface="Arial"/>
              </a:rPr>
              <a:t>trade-offs</a:t>
            </a:r>
            <a:endParaRPr lang="es-BO" sz="4000" noProof="0" dirty="0">
              <a:latin typeface="Arial"/>
            </a:endParaRPr>
          </a:p>
        </p:txBody>
      </p:sp>
      <p:sp>
        <p:nvSpPr>
          <p:cNvPr id="13" name="Rectángulo 9">
            <a:extLst>
              <a:ext uri="{FF2B5EF4-FFF2-40B4-BE49-F238E27FC236}">
                <a16:creationId xmlns:a16="http://schemas.microsoft.com/office/drawing/2014/main" id="{54A541B9-AF77-BFA3-7A9B-17A19A8C2386}"/>
              </a:ext>
            </a:extLst>
          </p:cNvPr>
          <p:cNvSpPr/>
          <p:nvPr/>
        </p:nvSpPr>
        <p:spPr>
          <a:xfrm>
            <a:off x="16004932" y="9296400"/>
            <a:ext cx="1454638" cy="457200"/>
          </a:xfrm>
          <a:prstGeom prst="rect">
            <a:avLst/>
          </a:prstGeom>
          <a:noFill/>
        </p:spPr>
        <p:txBody>
          <a:bodyPr lIns="0" tIns="0" rIns="0" bIns="0">
            <a:noAutofit/>
          </a:bodyPr>
          <a:lstStyle/>
          <a:p>
            <a:pPr marL="0" marR="0" indent="0"/>
            <a:r>
              <a:rPr lang="es-BO" sz="1800" noProof="0" dirty="0">
                <a:latin typeface="Arial"/>
              </a:rPr>
              <a:t>[S10, S16]</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3">
            <a:alphaModFix amt="85000"/>
          </a:blip>
          <a:stretch>
            <a:fillRect/>
          </a:stretch>
        </p:blipFill>
        <p:spPr>
          <a:xfrm>
            <a:off x="1402596" y="3647830"/>
            <a:ext cx="14670007" cy="4276970"/>
          </a:xfrm>
          <a:prstGeom prst="rect">
            <a:avLst/>
          </a:prstGeom>
        </p:spPr>
      </p:pic>
      <p:sp>
        <p:nvSpPr>
          <p:cNvPr id="2" name="Rectángulo 1"/>
          <p:cNvSpPr/>
          <p:nvPr/>
        </p:nvSpPr>
        <p:spPr>
          <a:xfrm>
            <a:off x="761999" y="927100"/>
            <a:ext cx="14589369" cy="673100"/>
          </a:xfrm>
          <a:prstGeom prst="rect">
            <a:avLst/>
          </a:prstGeom>
          <a:noFill/>
        </p:spPr>
        <p:txBody>
          <a:bodyPr wrap="none" lIns="0" tIns="0" rIns="0" bIns="0">
            <a:noAutofit/>
          </a:bodyPr>
          <a:lstStyle/>
          <a:p>
            <a:pPr marL="0" marR="0" indent="0"/>
            <a:r>
              <a:rPr lang="es-BO" sz="5100" b="1" noProof="0" dirty="0">
                <a:latin typeface="Arial"/>
              </a:rPr>
              <a:t>Mitigación: El imperativo del human-in-</a:t>
            </a:r>
            <a:r>
              <a:rPr lang="es-BO" sz="5100" b="1" noProof="0" dirty="0" err="1">
                <a:latin typeface="Arial"/>
              </a:rPr>
              <a:t>the</a:t>
            </a:r>
            <a:r>
              <a:rPr lang="es-BO" sz="5100" b="1" noProof="0" dirty="0">
                <a:latin typeface="Arial"/>
              </a:rPr>
              <a:t>-</a:t>
            </a:r>
            <a:r>
              <a:rPr lang="es-BO" sz="5100" b="1" noProof="0" dirty="0" err="1">
                <a:latin typeface="Arial"/>
              </a:rPr>
              <a:t>loop</a:t>
            </a:r>
            <a:endParaRPr lang="es-BO" sz="5100" b="1" noProof="0" dirty="0">
              <a:latin typeface="Arial"/>
            </a:endParaRPr>
          </a:p>
        </p:txBody>
      </p:sp>
      <p:sp>
        <p:nvSpPr>
          <p:cNvPr id="5" name="Rectángulo 4"/>
          <p:cNvSpPr/>
          <p:nvPr/>
        </p:nvSpPr>
        <p:spPr>
          <a:xfrm>
            <a:off x="711200" y="1828800"/>
            <a:ext cx="15557500" cy="1460500"/>
          </a:xfrm>
          <a:prstGeom prst="rect">
            <a:avLst/>
          </a:prstGeom>
          <a:noFill/>
        </p:spPr>
        <p:txBody>
          <a:bodyPr lIns="0" tIns="0" rIns="0" bIns="0">
            <a:noAutofit/>
          </a:bodyPr>
          <a:lstStyle/>
          <a:p>
            <a:pPr marL="0" marR="0" indent="0">
              <a:lnSpc>
                <a:spcPct val="112000"/>
              </a:lnSpc>
            </a:pPr>
            <a:r>
              <a:rPr lang="es-BO" sz="3000" noProof="0" dirty="0">
                <a:latin typeface="Arial"/>
              </a:rPr>
              <a:t>Para contrarrestar el sesgo de automatización y asegurar la precisión causal, la IA debe integrarse como un copiloto, no como un piloto automático. Ningún incidente complejo </a:t>
            </a:r>
            <a:r>
              <a:rPr lang="es-BO" sz="3000" b="1" noProof="0" dirty="0">
                <a:latin typeface="Arial"/>
              </a:rPr>
              <a:t>debe cerrarse sin revisión.</a:t>
            </a:r>
          </a:p>
        </p:txBody>
      </p:sp>
      <p:sp>
        <p:nvSpPr>
          <p:cNvPr id="3" name="Rectángulo 1">
            <a:extLst>
              <a:ext uri="{FF2B5EF4-FFF2-40B4-BE49-F238E27FC236}">
                <a16:creationId xmlns:a16="http://schemas.microsoft.com/office/drawing/2014/main" id="{44A4A368-62C6-0CA0-8380-7553802415C8}"/>
              </a:ext>
            </a:extLst>
          </p:cNvPr>
          <p:cNvSpPr/>
          <p:nvPr/>
        </p:nvSpPr>
        <p:spPr>
          <a:xfrm rot="16200000">
            <a:off x="-3987067" y="4972783"/>
            <a:ext cx="8783515" cy="778119"/>
          </a:xfrm>
          <a:prstGeom prst="rect">
            <a:avLst/>
          </a:prstGeom>
          <a:noFill/>
        </p:spPr>
        <p:txBody>
          <a:bodyPr lIns="0" tIns="0" rIns="0" bIns="0">
            <a:noAutofit/>
          </a:bodyPr>
          <a:lstStyle/>
          <a:p>
            <a:pPr marL="0" marR="0" indent="0">
              <a:spcAft>
                <a:spcPts val="980"/>
              </a:spcAft>
            </a:pPr>
            <a:r>
              <a:rPr lang="es-BO" sz="4000" b="1" noProof="0" dirty="0">
                <a:latin typeface="Arial"/>
              </a:rPr>
              <a:t> Límites, riesgos y </a:t>
            </a:r>
            <a:r>
              <a:rPr lang="es-BO" sz="4000" b="1" noProof="0" dirty="0" err="1">
                <a:latin typeface="Arial"/>
              </a:rPr>
              <a:t>trade-offs</a:t>
            </a:r>
            <a:endParaRPr lang="es-BO" sz="4000" noProof="0" dirty="0">
              <a:latin typeface="Arial"/>
            </a:endParaRPr>
          </a:p>
        </p:txBody>
      </p:sp>
      <p:sp>
        <p:nvSpPr>
          <p:cNvPr id="7" name="Rectángulo 9">
            <a:extLst>
              <a:ext uri="{FF2B5EF4-FFF2-40B4-BE49-F238E27FC236}">
                <a16:creationId xmlns:a16="http://schemas.microsoft.com/office/drawing/2014/main" id="{66E68CBE-C365-42CD-B52A-11B97683B331}"/>
              </a:ext>
            </a:extLst>
          </p:cNvPr>
          <p:cNvSpPr/>
          <p:nvPr/>
        </p:nvSpPr>
        <p:spPr>
          <a:xfrm>
            <a:off x="15755815" y="9296400"/>
            <a:ext cx="1703755" cy="457200"/>
          </a:xfrm>
          <a:prstGeom prst="rect">
            <a:avLst/>
          </a:prstGeom>
          <a:noFill/>
        </p:spPr>
        <p:txBody>
          <a:bodyPr lIns="0" tIns="0" rIns="0" bIns="0">
            <a:noAutofit/>
          </a:bodyPr>
          <a:lstStyle/>
          <a:p>
            <a:pPr marL="0" marR="0" indent="0"/>
            <a:r>
              <a:rPr lang="es-BO" sz="1800" noProof="0" dirty="0">
                <a:latin typeface="Arial"/>
              </a:rPr>
              <a:t>[S10, S14, S16]</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723900" y="825500"/>
            <a:ext cx="14706600" cy="1536700"/>
          </a:xfrm>
          <a:prstGeom prst="rect">
            <a:avLst/>
          </a:prstGeom>
          <a:noFill/>
        </p:spPr>
        <p:txBody>
          <a:bodyPr lIns="0" tIns="0" rIns="0" bIns="0">
            <a:noAutofit/>
          </a:bodyPr>
          <a:lstStyle/>
          <a:p>
            <a:pPr marL="0" marR="0" indent="0">
              <a:spcAft>
                <a:spcPts val="1050"/>
              </a:spcAft>
            </a:pPr>
            <a:r>
              <a:rPr lang="es-BO" sz="6000" b="1" noProof="0" dirty="0" err="1">
                <a:latin typeface="Arial"/>
              </a:rPr>
              <a:t>Playbook</a:t>
            </a:r>
            <a:r>
              <a:rPr lang="es-BO" sz="6000" b="1" noProof="0" dirty="0">
                <a:latin typeface="Arial"/>
              </a:rPr>
              <a:t> de ejecución</a:t>
            </a:r>
          </a:p>
          <a:p>
            <a:pPr marL="0" marR="0" indent="0"/>
            <a:r>
              <a:rPr lang="es-BO" sz="3600" noProof="0" dirty="0">
                <a:latin typeface="Arial"/>
              </a:rPr>
              <a:t>Pasos tácticos para integrar IA operativa en sus equipos de ingeniería.</a:t>
            </a:r>
          </a:p>
        </p:txBody>
      </p:sp>
      <p:cxnSp>
        <p:nvCxnSpPr>
          <p:cNvPr id="9" name="Conector recto 8"/>
          <p:cNvCxnSpPr/>
          <p:nvPr/>
        </p:nvCxnSpPr>
        <p:spPr>
          <a:xfrm>
            <a:off x="2070100" y="8788400"/>
            <a:ext cx="14566900" cy="0"/>
          </a:xfrm>
          <a:prstGeom prst="line">
            <a:avLst/>
          </a:prstGeom>
          <a:ln w="63500" cmpd="sng">
            <a:solidFill>
              <a:srgbClr val="000000"/>
            </a:solidFill>
          </a:ln>
        </p:spPr>
      </p:cxnSp>
      <p:sp>
        <p:nvSpPr>
          <p:cNvPr id="2" name="Rectángulo 1">
            <a:extLst>
              <a:ext uri="{FF2B5EF4-FFF2-40B4-BE49-F238E27FC236}">
                <a16:creationId xmlns:a16="http://schemas.microsoft.com/office/drawing/2014/main" id="{F23DAD8C-8A1C-8691-2679-8D94E7914DF7}"/>
              </a:ext>
            </a:extLst>
          </p:cNvPr>
          <p:cNvSpPr/>
          <p:nvPr/>
        </p:nvSpPr>
        <p:spPr>
          <a:xfrm rot="16200000">
            <a:off x="-4375394" y="4514115"/>
            <a:ext cx="9560169" cy="778119"/>
          </a:xfrm>
          <a:prstGeom prst="rect">
            <a:avLst/>
          </a:prstGeom>
          <a:noFill/>
        </p:spPr>
        <p:txBody>
          <a:bodyPr lIns="0" tIns="0" rIns="0" bIns="0">
            <a:noAutofit/>
          </a:bodyPr>
          <a:lstStyle/>
          <a:p>
            <a:pPr marL="0" marR="0" indent="0">
              <a:spcAft>
                <a:spcPts val="980"/>
              </a:spcAft>
            </a:pPr>
            <a:r>
              <a:rPr lang="es-BO" sz="4000" b="1" noProof="0" dirty="0">
                <a:latin typeface="Arial"/>
              </a:rPr>
              <a:t>Recomendaciones + Top 5</a:t>
            </a:r>
            <a:endParaRPr lang="es-BO" sz="4000" noProof="0" dirty="0">
              <a:latin typeface="Arial"/>
            </a:endParaRPr>
          </a:p>
        </p:txBody>
      </p:sp>
      <p:pic>
        <p:nvPicPr>
          <p:cNvPr id="10" name="Picture 9">
            <a:extLst>
              <a:ext uri="{FF2B5EF4-FFF2-40B4-BE49-F238E27FC236}">
                <a16:creationId xmlns:a16="http://schemas.microsoft.com/office/drawing/2014/main" id="{B21C34FD-5A3C-0656-CB85-CDC458E20B55}"/>
              </a:ext>
            </a:extLst>
          </p:cNvPr>
          <p:cNvPicPr>
            <a:picLocks noChangeAspect="1"/>
          </p:cNvPicPr>
          <p:nvPr/>
        </p:nvPicPr>
        <p:blipFill>
          <a:blip r:embed="rId3"/>
          <a:stretch>
            <a:fillRect/>
          </a:stretch>
        </p:blipFill>
        <p:spPr>
          <a:xfrm>
            <a:off x="1982178" y="2785695"/>
            <a:ext cx="13600732" cy="1654798"/>
          </a:xfrm>
          <a:prstGeom prst="rect">
            <a:avLst/>
          </a:prstGeom>
        </p:spPr>
      </p:pic>
      <p:pic>
        <p:nvPicPr>
          <p:cNvPr id="12" name="Picture 11">
            <a:extLst>
              <a:ext uri="{FF2B5EF4-FFF2-40B4-BE49-F238E27FC236}">
                <a16:creationId xmlns:a16="http://schemas.microsoft.com/office/drawing/2014/main" id="{18EF6916-B374-7805-1A1D-E8A83C8AB2DF}"/>
              </a:ext>
            </a:extLst>
          </p:cNvPr>
          <p:cNvPicPr>
            <a:picLocks noChangeAspect="1"/>
          </p:cNvPicPr>
          <p:nvPr/>
        </p:nvPicPr>
        <p:blipFill>
          <a:blip r:embed="rId4"/>
          <a:stretch>
            <a:fillRect/>
          </a:stretch>
        </p:blipFill>
        <p:spPr>
          <a:xfrm>
            <a:off x="1982178" y="4612294"/>
            <a:ext cx="13600732" cy="1654796"/>
          </a:xfrm>
          <a:prstGeom prst="rect">
            <a:avLst/>
          </a:prstGeom>
        </p:spPr>
      </p:pic>
      <p:pic>
        <p:nvPicPr>
          <p:cNvPr id="14" name="Picture 13">
            <a:extLst>
              <a:ext uri="{FF2B5EF4-FFF2-40B4-BE49-F238E27FC236}">
                <a16:creationId xmlns:a16="http://schemas.microsoft.com/office/drawing/2014/main" id="{FDBEDC90-467F-F3C9-C4ED-3BAB267BBBD1}"/>
              </a:ext>
            </a:extLst>
          </p:cNvPr>
          <p:cNvPicPr>
            <a:picLocks noChangeAspect="1"/>
          </p:cNvPicPr>
          <p:nvPr/>
        </p:nvPicPr>
        <p:blipFill>
          <a:blip r:embed="rId5"/>
          <a:stretch>
            <a:fillRect/>
          </a:stretch>
        </p:blipFill>
        <p:spPr>
          <a:xfrm>
            <a:off x="2133379" y="6438891"/>
            <a:ext cx="13502086" cy="165478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079500" y="965200"/>
            <a:ext cx="15290800" cy="673100"/>
          </a:xfrm>
          <a:prstGeom prst="rect">
            <a:avLst/>
          </a:prstGeom>
          <a:noFill/>
        </p:spPr>
        <p:txBody>
          <a:bodyPr wrap="none" lIns="0" tIns="0" rIns="0" bIns="0">
            <a:noAutofit/>
          </a:bodyPr>
          <a:lstStyle/>
          <a:p>
            <a:pPr marL="0" marR="0" indent="0"/>
            <a:r>
              <a:rPr lang="es-BO" sz="4500" b="1" noProof="0" dirty="0">
                <a:latin typeface="Arial"/>
              </a:rPr>
              <a:t>Resumen Ejecutivo: Top 5 Prácticas y </a:t>
            </a:r>
            <a:r>
              <a:rPr lang="es-BO" sz="4500" b="1" noProof="0" dirty="0" err="1">
                <a:latin typeface="Arial"/>
              </a:rPr>
              <a:t>Anti-patrones</a:t>
            </a:r>
            <a:endParaRPr lang="es-BO" sz="4500" b="1" noProof="0" dirty="0">
              <a:latin typeface="Arial"/>
            </a:endParaRPr>
          </a:p>
        </p:txBody>
      </p:sp>
      <p:sp>
        <p:nvSpPr>
          <p:cNvPr id="8" name="Rectángulo 1">
            <a:extLst>
              <a:ext uri="{FF2B5EF4-FFF2-40B4-BE49-F238E27FC236}">
                <a16:creationId xmlns:a16="http://schemas.microsoft.com/office/drawing/2014/main" id="{77DB8709-80B4-9110-3F1A-E4B691083EA9}"/>
              </a:ext>
            </a:extLst>
          </p:cNvPr>
          <p:cNvSpPr/>
          <p:nvPr/>
        </p:nvSpPr>
        <p:spPr>
          <a:xfrm rot="16200000">
            <a:off x="-4375394" y="4514115"/>
            <a:ext cx="9560169" cy="778119"/>
          </a:xfrm>
          <a:prstGeom prst="rect">
            <a:avLst/>
          </a:prstGeom>
          <a:noFill/>
        </p:spPr>
        <p:txBody>
          <a:bodyPr lIns="0" tIns="0" rIns="0" bIns="0">
            <a:noAutofit/>
          </a:bodyPr>
          <a:lstStyle/>
          <a:p>
            <a:pPr marL="0" marR="0" indent="0">
              <a:spcAft>
                <a:spcPts val="980"/>
              </a:spcAft>
            </a:pPr>
            <a:r>
              <a:rPr lang="es-BO" sz="4000" b="1" noProof="0" dirty="0">
                <a:latin typeface="Arial"/>
              </a:rPr>
              <a:t>Recomendaciones + Top 5</a:t>
            </a:r>
            <a:endParaRPr lang="es-BO" sz="4000" noProof="0" dirty="0">
              <a:latin typeface="Arial"/>
            </a:endParaRPr>
          </a:p>
        </p:txBody>
      </p:sp>
      <p:pic>
        <p:nvPicPr>
          <p:cNvPr id="10" name="Picture 9">
            <a:extLst>
              <a:ext uri="{FF2B5EF4-FFF2-40B4-BE49-F238E27FC236}">
                <a16:creationId xmlns:a16="http://schemas.microsoft.com/office/drawing/2014/main" id="{8C8373F8-2FCF-8121-9C75-6D48F148D435}"/>
              </a:ext>
            </a:extLst>
          </p:cNvPr>
          <p:cNvPicPr>
            <a:picLocks noChangeAspect="1"/>
          </p:cNvPicPr>
          <p:nvPr/>
        </p:nvPicPr>
        <p:blipFill>
          <a:blip r:embed="rId3"/>
          <a:stretch>
            <a:fillRect/>
          </a:stretch>
        </p:blipFill>
        <p:spPr>
          <a:xfrm>
            <a:off x="1407746" y="2782398"/>
            <a:ext cx="6447894" cy="5535125"/>
          </a:xfrm>
          <a:prstGeom prst="rect">
            <a:avLst/>
          </a:prstGeom>
        </p:spPr>
      </p:pic>
      <p:pic>
        <p:nvPicPr>
          <p:cNvPr id="12" name="Picture 11">
            <a:extLst>
              <a:ext uri="{FF2B5EF4-FFF2-40B4-BE49-F238E27FC236}">
                <a16:creationId xmlns:a16="http://schemas.microsoft.com/office/drawing/2014/main" id="{F39E4E39-2266-3E9F-94E6-7F56F7CA2923}"/>
              </a:ext>
            </a:extLst>
          </p:cNvPr>
          <p:cNvPicPr>
            <a:picLocks noChangeAspect="1"/>
          </p:cNvPicPr>
          <p:nvPr/>
        </p:nvPicPr>
        <p:blipFill>
          <a:blip r:embed="rId4"/>
          <a:stretch>
            <a:fillRect/>
          </a:stretch>
        </p:blipFill>
        <p:spPr>
          <a:xfrm>
            <a:off x="8883162" y="2782398"/>
            <a:ext cx="6447894" cy="5575601"/>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B7EE7C3-E0CC-47A4-B55A-5430E08604D5}"/>
              </a:ext>
            </a:extLst>
          </p:cNvPr>
          <p:cNvGraphicFramePr>
            <a:graphicFrameLocks noGrp="1"/>
          </p:cNvGraphicFramePr>
          <p:nvPr>
            <p:extLst>
              <p:ext uri="{D42A27DB-BD31-4B8C-83A1-F6EECF244321}">
                <p14:modId xmlns:p14="http://schemas.microsoft.com/office/powerpoint/2010/main" val="2375890521"/>
              </p:ext>
            </p:extLst>
          </p:nvPr>
        </p:nvGraphicFramePr>
        <p:xfrm>
          <a:off x="1090490" y="1974250"/>
          <a:ext cx="15812060" cy="5805099"/>
        </p:xfrm>
        <a:graphic>
          <a:graphicData uri="http://schemas.openxmlformats.org/drawingml/2006/table">
            <a:tbl>
              <a:tblPr firstRow="1" bandRow="1">
                <a:tableStyleId>{5C22544A-7EE6-4342-B048-85BDC9FD1C3A}</a:tableStyleId>
              </a:tblPr>
              <a:tblGrid>
                <a:gridCol w="606425">
                  <a:extLst>
                    <a:ext uri="{9D8B030D-6E8A-4147-A177-3AD203B41FA5}">
                      <a16:colId xmlns:a16="http://schemas.microsoft.com/office/drawing/2014/main" val="2430732726"/>
                    </a:ext>
                  </a:extLst>
                </a:gridCol>
                <a:gridCol w="1323975">
                  <a:extLst>
                    <a:ext uri="{9D8B030D-6E8A-4147-A177-3AD203B41FA5}">
                      <a16:colId xmlns:a16="http://schemas.microsoft.com/office/drawing/2014/main" val="4108020938"/>
                    </a:ext>
                  </a:extLst>
                </a:gridCol>
                <a:gridCol w="2713160">
                  <a:extLst>
                    <a:ext uri="{9D8B030D-6E8A-4147-A177-3AD203B41FA5}">
                      <a16:colId xmlns:a16="http://schemas.microsoft.com/office/drawing/2014/main" val="604016913"/>
                    </a:ext>
                  </a:extLst>
                </a:gridCol>
                <a:gridCol w="933450">
                  <a:extLst>
                    <a:ext uri="{9D8B030D-6E8A-4147-A177-3AD203B41FA5}">
                      <a16:colId xmlns:a16="http://schemas.microsoft.com/office/drawing/2014/main" val="3743877504"/>
                    </a:ext>
                  </a:extLst>
                </a:gridCol>
                <a:gridCol w="3219450">
                  <a:extLst>
                    <a:ext uri="{9D8B030D-6E8A-4147-A177-3AD203B41FA5}">
                      <a16:colId xmlns:a16="http://schemas.microsoft.com/office/drawing/2014/main" val="1404078307"/>
                    </a:ext>
                  </a:extLst>
                </a:gridCol>
                <a:gridCol w="2076450">
                  <a:extLst>
                    <a:ext uri="{9D8B030D-6E8A-4147-A177-3AD203B41FA5}">
                      <a16:colId xmlns:a16="http://schemas.microsoft.com/office/drawing/2014/main" val="2406208534"/>
                    </a:ext>
                  </a:extLst>
                </a:gridCol>
                <a:gridCol w="2330813">
                  <a:extLst>
                    <a:ext uri="{9D8B030D-6E8A-4147-A177-3AD203B41FA5}">
                      <a16:colId xmlns:a16="http://schemas.microsoft.com/office/drawing/2014/main" val="3400805605"/>
                    </a:ext>
                  </a:extLst>
                </a:gridCol>
                <a:gridCol w="2608337">
                  <a:extLst>
                    <a:ext uri="{9D8B030D-6E8A-4147-A177-3AD203B41FA5}">
                      <a16:colId xmlns:a16="http://schemas.microsoft.com/office/drawing/2014/main" val="1300061632"/>
                    </a:ext>
                  </a:extLst>
                </a:gridCol>
              </a:tblGrid>
              <a:tr h="395641">
                <a:tc>
                  <a:txBody>
                    <a:bodyPr/>
                    <a:lstStyle/>
                    <a:p>
                      <a:pPr algn="ctr" fontAlgn="b">
                        <a:buNone/>
                      </a:pPr>
                      <a:r>
                        <a:rPr lang="en-US" sz="2000" b="1" u="none" strike="noStrike" dirty="0">
                          <a:solidFill>
                            <a:srgbClr val="000000"/>
                          </a:solidFill>
                          <a:effectLst/>
                          <a:latin typeface="Arial" panose="020B0604020202020204" pitchFamily="34" charset="0"/>
                          <a:cs typeface="Arial" panose="020B0604020202020204" pitchFamily="34" charset="0"/>
                        </a:rPr>
                        <a:t>ID</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Tipo</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n-US" sz="2000" b="1" u="none" strike="noStrike" dirty="0">
                          <a:solidFill>
                            <a:srgbClr val="000000"/>
                          </a:solidFill>
                          <a:effectLst/>
                          <a:latin typeface="Arial" panose="020B0604020202020204" pitchFamily="34" charset="0"/>
                          <a:cs typeface="Arial" panose="020B0604020202020204" pitchFamily="34" charset="0"/>
                        </a:rPr>
                        <a:t>Fuente </a:t>
                      </a:r>
                    </a:p>
                    <a:p>
                      <a:pPr algn="ctr" fontAlgn="b">
                        <a:buNone/>
                      </a:pPr>
                      <a:r>
                        <a:rPr lang="en-US" sz="2000" b="1" u="none" strike="noStrike" dirty="0">
                          <a:solidFill>
                            <a:srgbClr val="000000"/>
                          </a:solidFill>
                          <a:effectLst/>
                          <a:latin typeface="Arial" panose="020B0604020202020204" pitchFamily="34" charset="0"/>
                          <a:cs typeface="Arial" panose="020B0604020202020204" pitchFamily="34" charset="0"/>
                        </a:rPr>
                        <a:t>(</a:t>
                      </a:r>
                      <a:r>
                        <a:rPr lang="en-US" sz="2000" b="1" u="none" strike="noStrike" dirty="0" err="1">
                          <a:solidFill>
                            <a:srgbClr val="000000"/>
                          </a:solidFill>
                          <a:effectLst/>
                          <a:latin typeface="Arial" panose="020B0604020202020204" pitchFamily="34" charset="0"/>
                          <a:cs typeface="Arial" panose="020B0604020202020204" pitchFamily="34" charset="0"/>
                        </a:rPr>
                        <a:t>título</a:t>
                      </a:r>
                      <a:r>
                        <a:rPr lang="en-US" sz="2000" b="1" u="none" strike="noStrike" dirty="0">
                          <a:solidFill>
                            <a:srgbClr val="000000"/>
                          </a:solidFill>
                          <a:effectLst/>
                          <a:latin typeface="Arial" panose="020B0604020202020204" pitchFamily="34" charset="0"/>
                          <a:cs typeface="Arial" panose="020B0604020202020204" pitchFamily="34" charset="0"/>
                        </a:rPr>
                        <a:t> </a:t>
                      </a:r>
                      <a:r>
                        <a:rPr lang="en-US" sz="2000" b="1" u="none" strike="noStrike" dirty="0" err="1">
                          <a:solidFill>
                            <a:srgbClr val="000000"/>
                          </a:solidFill>
                          <a:effectLst/>
                          <a:latin typeface="Arial" panose="020B0604020202020204" pitchFamily="34" charset="0"/>
                          <a:cs typeface="Arial" panose="020B0604020202020204" pitchFamily="34" charset="0"/>
                        </a:rPr>
                        <a:t>corto</a:t>
                      </a:r>
                      <a:r>
                        <a:rPr lang="en-US" sz="2000" b="1" u="none" strike="noStrike" dirty="0">
                          <a:solidFill>
                            <a:srgbClr val="000000"/>
                          </a:solidFill>
                          <a:effectLst/>
                          <a:latin typeface="Arial" panose="020B0604020202020204" pitchFamily="34" charset="0"/>
                          <a:cs typeface="Arial" panose="020B0604020202020204" pitchFamily="34" charset="0"/>
                        </a:rPr>
                        <a:t>)</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1" u="none" strike="noStrike" dirty="0">
                          <a:solidFill>
                            <a:srgbClr val="000000"/>
                          </a:solidFill>
                          <a:effectLst/>
                          <a:latin typeface="Arial" panose="020B0604020202020204" pitchFamily="34" charset="0"/>
                          <a:cs typeface="Arial" panose="020B0604020202020204" pitchFamily="34" charset="0"/>
                        </a:rPr>
                        <a:t>Año</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1" u="none" strike="noStrike" dirty="0">
                          <a:solidFill>
                            <a:srgbClr val="000000"/>
                          </a:solidFill>
                          <a:effectLst/>
                          <a:latin typeface="Arial" panose="020B0604020202020204" pitchFamily="34" charset="0"/>
                          <a:cs typeface="Arial" panose="020B0604020202020204" pitchFamily="34" charset="0"/>
                        </a:rPr>
                        <a:t>Idea clave</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Qué aporta</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Riesgo/limitación</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Recomendación derivada</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885803291"/>
                  </a:ext>
                </a:extLst>
              </a:tr>
              <a:tr h="783208">
                <a:tc>
                  <a:txBody>
                    <a:bodyPr/>
                    <a:lstStyle/>
                    <a:p>
                      <a:pPr algn="l" fontAlgn="b">
                        <a:buNone/>
                      </a:pPr>
                      <a:r>
                        <a:rPr lang="en-US" sz="2000" b="0" u="none" strike="noStrike" dirty="0">
                          <a:solidFill>
                            <a:srgbClr val="000000"/>
                          </a:solidFill>
                          <a:effectLst/>
                          <a:latin typeface="Arial" panose="020B0604020202020204" pitchFamily="34" charset="0"/>
                          <a:cs typeface="Arial" panose="020B0604020202020204" pitchFamily="34" charset="0"/>
                        </a:rPr>
                        <a:t>S1</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Industria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dirty="0">
                          <a:solidFill>
                            <a:srgbClr val="000000"/>
                          </a:solidFill>
                          <a:effectLst/>
                          <a:latin typeface="Arial" panose="020B0604020202020204" pitchFamily="34" charset="0"/>
                          <a:cs typeface="Arial" panose="020B0604020202020204" pitchFamily="34" charset="0"/>
                        </a:rPr>
                        <a:t>Google SRE Book</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2016</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ES" sz="2000" b="0" u="none" strike="noStrike">
                          <a:solidFill>
                            <a:srgbClr val="000000"/>
                          </a:solidFill>
                          <a:effectLst/>
                          <a:latin typeface="Arial" panose="020B0604020202020204" pitchFamily="34" charset="0"/>
                          <a:cs typeface="Arial" panose="020B0604020202020204" pitchFamily="34" charset="0"/>
                        </a:rPr>
                        <a:t>MTTR y error budgets estructuran confiabilidad</a:t>
                      </a:r>
                      <a:endParaRPr lang="es-E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Marco operativo real</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No aborda IA directamente</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ES" sz="2000" b="0" u="none" strike="noStrike" dirty="0">
                          <a:solidFill>
                            <a:srgbClr val="000000"/>
                          </a:solidFill>
                          <a:effectLst/>
                          <a:latin typeface="Arial" panose="020B0604020202020204" pitchFamily="34" charset="0"/>
                          <a:cs typeface="Arial" panose="020B0604020202020204" pitchFamily="34" charset="0"/>
                        </a:rPr>
                        <a:t>Medir impacto en SLO/MTTR</a:t>
                      </a:r>
                      <a:endParaRPr lang="es-E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321875695"/>
                  </a:ext>
                </a:extLst>
              </a:tr>
              <a:tr h="346968">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S2</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Estándar</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dirty="0">
                          <a:solidFill>
                            <a:srgbClr val="000000"/>
                          </a:solidFill>
                          <a:effectLst/>
                          <a:latin typeface="Arial" panose="020B0604020202020204" pitchFamily="34" charset="0"/>
                          <a:cs typeface="Arial" panose="020B0604020202020204" pitchFamily="34" charset="0"/>
                        </a:rPr>
                        <a:t>NIST AI RMF</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2023</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Gestión de riesgo IA</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Gobernanza formal</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Generalista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Auditoría y monitoreo IA</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340177752"/>
                  </a:ext>
                </a:extLst>
              </a:tr>
              <a:tr h="589425">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S3</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Estándar</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ISO 25010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2011</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Modelo calidad software</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Define confiabilidad</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No específico a 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pt-BR" sz="2000" b="0" u="none" strike="noStrike" dirty="0">
                          <a:solidFill>
                            <a:srgbClr val="000000"/>
                          </a:solidFill>
                          <a:effectLst/>
                          <a:latin typeface="Arial" panose="020B0604020202020204" pitchFamily="34" charset="0"/>
                          <a:cs typeface="Arial" panose="020B0604020202020204" pitchFamily="34" charset="0"/>
                        </a:rPr>
                        <a:t>Alinear métricas IA a confiabilidad</a:t>
                      </a:r>
                      <a:endParaRPr lang="pt-BR"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735091168"/>
                  </a:ext>
                </a:extLst>
              </a:tr>
              <a:tr h="589425">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S4</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Estándar</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ISO 42001</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2023</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Sistema gestión IA</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Gobernanza organizacional</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Implementación compleja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Establecer comité 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64638287"/>
                  </a:ext>
                </a:extLst>
              </a:tr>
              <a:tr h="395641">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Industria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dirty="0">
                          <a:solidFill>
                            <a:srgbClr val="000000"/>
                          </a:solidFill>
                          <a:effectLst/>
                          <a:latin typeface="Arial" panose="020B0604020202020204" pitchFamily="34" charset="0"/>
                          <a:cs typeface="Arial" panose="020B0604020202020204" pitchFamily="34" charset="0"/>
                        </a:rPr>
                        <a:t>Microsoft RCA guidance</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2020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Postmortem estructurado</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Formaliza análisis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Manual intensivo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IA como soporte</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219034632"/>
                  </a:ext>
                </a:extLst>
              </a:tr>
              <a:tr h="395641">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S6</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Industria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IBM AIOps report</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2021</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Reducción de incidentes repetitivos</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Evidencia industrial</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Marketing parcial</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Validar con métricas propias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8032374"/>
                  </a:ext>
                </a:extLst>
              </a:tr>
              <a:tr h="688016">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S7</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Industria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Dynatrace observability</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2022</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Correlación multi-señal</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RCA más rápido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Correlación ≠ causalidad</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Validación humana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997154552"/>
                  </a:ext>
                </a:extLst>
              </a:tr>
              <a:tr h="395641">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S8</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Industria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dirty="0">
                          <a:solidFill>
                            <a:srgbClr val="000000"/>
                          </a:solidFill>
                          <a:effectLst/>
                          <a:latin typeface="Arial" panose="020B0604020202020204" pitchFamily="34" charset="0"/>
                          <a:cs typeface="Arial" panose="020B0604020202020204" pitchFamily="34" charset="0"/>
                        </a:rPr>
                        <a:t>Datadog anomaly detection</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2022</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err="1">
                          <a:solidFill>
                            <a:srgbClr val="000000"/>
                          </a:solidFill>
                          <a:effectLst/>
                          <a:latin typeface="Arial" panose="020B0604020202020204" pitchFamily="34" charset="0"/>
                          <a:cs typeface="Arial" panose="020B0604020202020204" pitchFamily="34" charset="0"/>
                        </a:rPr>
                        <a:t>Baseline</a:t>
                      </a:r>
                      <a:r>
                        <a:rPr lang="es-BO" sz="2000" b="0" u="none" strike="noStrike" noProof="0" dirty="0">
                          <a:solidFill>
                            <a:srgbClr val="000000"/>
                          </a:solidFill>
                          <a:effectLst/>
                          <a:latin typeface="Arial" panose="020B0604020202020204" pitchFamily="34" charset="0"/>
                          <a:cs typeface="Arial" panose="020B0604020202020204" pitchFamily="34" charset="0"/>
                        </a:rPr>
                        <a:t> crítico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Reduce ruido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Falsos positivos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Ajustar umbrales dinámicos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41841846"/>
                  </a:ext>
                </a:extLst>
              </a:tr>
            </a:tbl>
          </a:graphicData>
        </a:graphic>
      </p:graphicFrame>
      <p:sp>
        <p:nvSpPr>
          <p:cNvPr id="5" name="Rectángulo 1">
            <a:extLst>
              <a:ext uri="{FF2B5EF4-FFF2-40B4-BE49-F238E27FC236}">
                <a16:creationId xmlns:a16="http://schemas.microsoft.com/office/drawing/2014/main" id="{8B8B8EA1-E8BE-721A-702E-5A8FD1A74A94}"/>
              </a:ext>
            </a:extLst>
          </p:cNvPr>
          <p:cNvSpPr/>
          <p:nvPr/>
        </p:nvSpPr>
        <p:spPr>
          <a:xfrm rot="16200000">
            <a:off x="-4375394" y="4514115"/>
            <a:ext cx="9560169" cy="778119"/>
          </a:xfrm>
          <a:prstGeom prst="rect">
            <a:avLst/>
          </a:prstGeom>
          <a:noFill/>
        </p:spPr>
        <p:txBody>
          <a:bodyPr lIns="0" tIns="0" rIns="0" bIns="0">
            <a:noAutofit/>
          </a:bodyPr>
          <a:lstStyle/>
          <a:p>
            <a:pPr marL="0" marR="0" indent="0">
              <a:spcAft>
                <a:spcPts val="980"/>
              </a:spcAft>
            </a:pPr>
            <a:r>
              <a:rPr lang="es-BO" sz="4000" b="1" noProof="0" dirty="0">
                <a:latin typeface="Arial"/>
              </a:rPr>
              <a:t>Matriz de evidencia</a:t>
            </a:r>
            <a:endParaRPr lang="es-BO" sz="4000" noProof="0" dirty="0">
              <a:latin typeface="Arial"/>
            </a:endParaRPr>
          </a:p>
        </p:txBody>
      </p:sp>
      <p:sp>
        <p:nvSpPr>
          <p:cNvPr id="6" name="Rectángulo 1">
            <a:extLst>
              <a:ext uri="{FF2B5EF4-FFF2-40B4-BE49-F238E27FC236}">
                <a16:creationId xmlns:a16="http://schemas.microsoft.com/office/drawing/2014/main" id="{5AD28DDD-93E4-B19C-D5CA-329092A27488}"/>
              </a:ext>
            </a:extLst>
          </p:cNvPr>
          <p:cNvSpPr/>
          <p:nvPr/>
        </p:nvSpPr>
        <p:spPr>
          <a:xfrm>
            <a:off x="1079500" y="965200"/>
            <a:ext cx="15290800" cy="673100"/>
          </a:xfrm>
          <a:prstGeom prst="rect">
            <a:avLst/>
          </a:prstGeom>
          <a:noFill/>
        </p:spPr>
        <p:txBody>
          <a:bodyPr wrap="none" lIns="0" tIns="0" rIns="0" bIns="0">
            <a:noAutofit/>
          </a:bodyPr>
          <a:lstStyle/>
          <a:p>
            <a:pPr marL="0" marR="0" indent="0"/>
            <a:r>
              <a:rPr lang="es-BO" sz="4500" b="1" noProof="0" dirty="0">
                <a:latin typeface="Arial"/>
              </a:rPr>
              <a:t>Anexo</a:t>
            </a:r>
          </a:p>
        </p:txBody>
      </p:sp>
    </p:spTree>
    <p:extLst>
      <p:ext uri="{BB962C8B-B14F-4D97-AF65-F5344CB8AC3E}">
        <p14:creationId xmlns:p14="http://schemas.microsoft.com/office/powerpoint/2010/main" val="3604893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2C312-BB97-8F6E-0FD5-1E0780835FA3}"/>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7473B93-FB87-1490-1E9F-AD714E8D569A}"/>
              </a:ext>
            </a:extLst>
          </p:cNvPr>
          <p:cNvGraphicFramePr>
            <a:graphicFrameLocks noGrp="1"/>
          </p:cNvGraphicFramePr>
          <p:nvPr>
            <p:extLst>
              <p:ext uri="{D42A27DB-BD31-4B8C-83A1-F6EECF244321}">
                <p14:modId xmlns:p14="http://schemas.microsoft.com/office/powerpoint/2010/main" val="33756463"/>
              </p:ext>
            </p:extLst>
          </p:nvPr>
        </p:nvGraphicFramePr>
        <p:xfrm>
          <a:off x="1022350" y="1748324"/>
          <a:ext cx="15473957" cy="5090782"/>
        </p:xfrm>
        <a:graphic>
          <a:graphicData uri="http://schemas.openxmlformats.org/drawingml/2006/table">
            <a:tbl>
              <a:tblPr firstRow="1" bandRow="1">
                <a:tableStyleId>{5C22544A-7EE6-4342-B048-85BDC9FD1C3A}</a:tableStyleId>
              </a:tblPr>
              <a:tblGrid>
                <a:gridCol w="541338">
                  <a:extLst>
                    <a:ext uri="{9D8B030D-6E8A-4147-A177-3AD203B41FA5}">
                      <a16:colId xmlns:a16="http://schemas.microsoft.com/office/drawing/2014/main" val="2430732726"/>
                    </a:ext>
                  </a:extLst>
                </a:gridCol>
                <a:gridCol w="1551143">
                  <a:extLst>
                    <a:ext uri="{9D8B030D-6E8A-4147-A177-3AD203B41FA5}">
                      <a16:colId xmlns:a16="http://schemas.microsoft.com/office/drawing/2014/main" val="4108020938"/>
                    </a:ext>
                  </a:extLst>
                </a:gridCol>
                <a:gridCol w="2434702">
                  <a:extLst>
                    <a:ext uri="{9D8B030D-6E8A-4147-A177-3AD203B41FA5}">
                      <a16:colId xmlns:a16="http://schemas.microsoft.com/office/drawing/2014/main" val="604016913"/>
                    </a:ext>
                  </a:extLst>
                </a:gridCol>
                <a:gridCol w="679428">
                  <a:extLst>
                    <a:ext uri="{9D8B030D-6E8A-4147-A177-3AD203B41FA5}">
                      <a16:colId xmlns:a16="http://schemas.microsoft.com/office/drawing/2014/main" val="3743877504"/>
                    </a:ext>
                  </a:extLst>
                </a:gridCol>
                <a:gridCol w="2789687">
                  <a:extLst>
                    <a:ext uri="{9D8B030D-6E8A-4147-A177-3AD203B41FA5}">
                      <a16:colId xmlns:a16="http://schemas.microsoft.com/office/drawing/2014/main" val="1404078307"/>
                    </a:ext>
                  </a:extLst>
                </a:gridCol>
                <a:gridCol w="2278002">
                  <a:extLst>
                    <a:ext uri="{9D8B030D-6E8A-4147-A177-3AD203B41FA5}">
                      <a16:colId xmlns:a16="http://schemas.microsoft.com/office/drawing/2014/main" val="2406208534"/>
                    </a:ext>
                  </a:extLst>
                </a:gridCol>
                <a:gridCol w="2591319">
                  <a:extLst>
                    <a:ext uri="{9D8B030D-6E8A-4147-A177-3AD203B41FA5}">
                      <a16:colId xmlns:a16="http://schemas.microsoft.com/office/drawing/2014/main" val="3400805605"/>
                    </a:ext>
                  </a:extLst>
                </a:gridCol>
                <a:gridCol w="2608338">
                  <a:extLst>
                    <a:ext uri="{9D8B030D-6E8A-4147-A177-3AD203B41FA5}">
                      <a16:colId xmlns:a16="http://schemas.microsoft.com/office/drawing/2014/main" val="1300061632"/>
                    </a:ext>
                  </a:extLst>
                </a:gridCol>
              </a:tblGrid>
              <a:tr h="395641">
                <a:tc>
                  <a:txBody>
                    <a:bodyPr/>
                    <a:lstStyle/>
                    <a:p>
                      <a:pPr algn="ctr" fontAlgn="b">
                        <a:buNone/>
                      </a:pPr>
                      <a:r>
                        <a:rPr lang="en-US" sz="2000" b="1" u="none" strike="noStrike" dirty="0">
                          <a:solidFill>
                            <a:srgbClr val="000000"/>
                          </a:solidFill>
                          <a:effectLst/>
                          <a:latin typeface="Arial" panose="020B0604020202020204" pitchFamily="34" charset="0"/>
                          <a:cs typeface="Arial" panose="020B0604020202020204" pitchFamily="34" charset="0"/>
                        </a:rPr>
                        <a:t>ID</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Tipo</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Fuente (título corto)</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n-US" sz="2000" b="1" u="none" strike="noStrike" dirty="0">
                          <a:solidFill>
                            <a:srgbClr val="000000"/>
                          </a:solidFill>
                          <a:effectLst/>
                          <a:latin typeface="Arial" panose="020B0604020202020204" pitchFamily="34" charset="0"/>
                          <a:cs typeface="Arial" panose="020B0604020202020204" pitchFamily="34" charset="0"/>
                        </a:rPr>
                        <a:t>Año</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Idea clave</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Qué aporta</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Riesgo/limitación</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Recomendación derivada</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885803291"/>
                  </a:ext>
                </a:extLst>
              </a:tr>
              <a:tr h="688016">
                <a:tc>
                  <a:txBody>
                    <a:bodyPr/>
                    <a:lstStyle/>
                    <a:p>
                      <a:pPr algn="l" fontAlgn="b">
                        <a:buNone/>
                      </a:pPr>
                      <a:r>
                        <a:rPr lang="en-US" sz="2000" b="0" u="none" strike="noStrike" dirty="0">
                          <a:solidFill>
                            <a:srgbClr val="000000"/>
                          </a:solidFill>
                          <a:effectLst/>
                          <a:latin typeface="Arial" panose="020B0604020202020204" pitchFamily="34" charset="0"/>
                          <a:cs typeface="Arial" panose="020B0604020202020204" pitchFamily="34" charset="0"/>
                        </a:rPr>
                        <a:t>S9</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Industria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IBM </a:t>
                      </a:r>
                      <a:r>
                        <a:rPr lang="es-BO" sz="2000" b="0" u="none" strike="noStrike" noProof="0" dirty="0" err="1">
                          <a:solidFill>
                            <a:srgbClr val="000000"/>
                          </a:solidFill>
                          <a:effectLst/>
                          <a:latin typeface="Arial" panose="020B0604020202020204" pitchFamily="34" charset="0"/>
                          <a:cs typeface="Arial" panose="020B0604020202020204" pitchFamily="34" charset="0"/>
                        </a:rPr>
                        <a:t>AIOps</a:t>
                      </a:r>
                      <a:r>
                        <a:rPr lang="es-BO" sz="2000" b="0" u="none" strike="noStrike" noProof="0" dirty="0">
                          <a:solidFill>
                            <a:srgbClr val="000000"/>
                          </a:solidFill>
                          <a:effectLst/>
                          <a:latin typeface="Arial" panose="020B0604020202020204" pitchFamily="34" charset="0"/>
                          <a:cs typeface="Arial" panose="020B0604020202020204" pitchFamily="34" charset="0"/>
                        </a:rPr>
                        <a:t> case </a:t>
                      </a:r>
                      <a:r>
                        <a:rPr lang="es-BO" sz="2000" b="0" u="none" strike="noStrike" noProof="0" dirty="0" err="1">
                          <a:solidFill>
                            <a:srgbClr val="000000"/>
                          </a:solidFill>
                          <a:effectLst/>
                          <a:latin typeface="Arial" panose="020B0604020202020204" pitchFamily="34" charset="0"/>
                          <a:cs typeface="Arial" panose="020B0604020202020204" pitchFamily="34" charset="0"/>
                        </a:rPr>
                        <a:t>study</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buNone/>
                      </a:pPr>
                      <a:r>
                        <a:rPr lang="en-US" sz="2000" b="0" u="none" strike="noStrike">
                          <a:solidFill>
                            <a:srgbClr val="000000"/>
                          </a:solidFill>
                          <a:effectLst/>
                          <a:latin typeface="Arial" panose="020B0604020202020204" pitchFamily="34" charset="0"/>
                          <a:cs typeface="Arial" panose="020B0604020202020204" pitchFamily="34" charset="0"/>
                        </a:rPr>
                        <a:t>2021</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Triage automatizado reduce tiempo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Caso real</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Dependencia de datos históricos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Supervisión continua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026646383"/>
                  </a:ext>
                </a:extLst>
              </a:tr>
              <a:tr h="517492">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S10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Industria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err="1">
                          <a:solidFill>
                            <a:srgbClr val="000000"/>
                          </a:solidFill>
                          <a:effectLst/>
                          <a:latin typeface="Arial" panose="020B0604020202020204" pitchFamily="34" charset="0"/>
                          <a:cs typeface="Arial" panose="020B0604020202020204" pitchFamily="34" charset="0"/>
                        </a:rPr>
                        <a:t>Dynatrace</a:t>
                      </a:r>
                      <a:r>
                        <a:rPr lang="es-BO" sz="2000" b="0" u="none" strike="noStrike" noProof="0" dirty="0">
                          <a:solidFill>
                            <a:srgbClr val="000000"/>
                          </a:solidFill>
                          <a:effectLst/>
                          <a:latin typeface="Arial" panose="020B0604020202020204" pitchFamily="34" charset="0"/>
                          <a:cs typeface="Arial" panose="020B0604020202020204" pitchFamily="34" charset="0"/>
                        </a:rPr>
                        <a:t> Davis AI</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buNone/>
                      </a:pPr>
                      <a:r>
                        <a:rPr lang="en-US" sz="2000" b="0" u="none" strike="noStrike">
                          <a:solidFill>
                            <a:srgbClr val="000000"/>
                          </a:solidFill>
                          <a:effectLst/>
                          <a:latin typeface="Arial" panose="020B0604020202020204" pitchFamily="34" charset="0"/>
                          <a:cs typeface="Arial" panose="020B0604020202020204" pitchFamily="34" charset="0"/>
                        </a:rPr>
                        <a:t>2022</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Análisis causal automatizado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Hipótesis rápidas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Opacidad algorítmica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Exigir explicabilidad</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194148121"/>
                  </a:ext>
                </a:extLst>
              </a:tr>
              <a:tr h="688016">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S11</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Industria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err="1">
                          <a:solidFill>
                            <a:srgbClr val="000000"/>
                          </a:solidFill>
                          <a:effectLst/>
                          <a:latin typeface="Arial" panose="020B0604020202020204" pitchFamily="34" charset="0"/>
                          <a:cs typeface="Arial" panose="020B0604020202020204" pitchFamily="34" charset="0"/>
                        </a:rPr>
                        <a:t>Datadog</a:t>
                      </a:r>
                      <a:r>
                        <a:rPr lang="es-BO" sz="2000" b="0" u="none" strike="noStrike" noProof="0" dirty="0">
                          <a:solidFill>
                            <a:srgbClr val="000000"/>
                          </a:solidFill>
                          <a:effectLst/>
                          <a:latin typeface="Arial" panose="020B0604020202020204" pitchFamily="34" charset="0"/>
                          <a:cs typeface="Arial" panose="020B0604020202020204" pitchFamily="34" charset="0"/>
                        </a:rPr>
                        <a:t> </a:t>
                      </a:r>
                      <a:r>
                        <a:rPr lang="es-BO" sz="2000" b="0" u="none" strike="noStrike" noProof="0" dirty="0" err="1">
                          <a:solidFill>
                            <a:srgbClr val="000000"/>
                          </a:solidFill>
                          <a:effectLst/>
                          <a:latin typeface="Arial" panose="020B0604020202020204" pitchFamily="34" charset="0"/>
                          <a:cs typeface="Arial" panose="020B0604020202020204" pitchFamily="34" charset="0"/>
                        </a:rPr>
                        <a:t>engineering</a:t>
                      </a:r>
                      <a:r>
                        <a:rPr lang="es-BO" sz="2000" b="0" u="none" strike="noStrike" noProof="0" dirty="0">
                          <a:solidFill>
                            <a:srgbClr val="000000"/>
                          </a:solidFill>
                          <a:effectLst/>
                          <a:latin typeface="Arial" panose="020B0604020202020204" pitchFamily="34" charset="0"/>
                          <a:cs typeface="Arial" panose="020B0604020202020204" pitchFamily="34" charset="0"/>
                        </a:rPr>
                        <a:t> blog</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buNone/>
                      </a:pPr>
                      <a:r>
                        <a:rPr lang="en-US" sz="2000" b="0" u="none" strike="noStrike" dirty="0">
                          <a:solidFill>
                            <a:srgbClr val="000000"/>
                          </a:solidFill>
                          <a:effectLst/>
                          <a:latin typeface="Arial" panose="020B0604020202020204" pitchFamily="34" charset="0"/>
                          <a:cs typeface="Arial" panose="020B0604020202020204" pitchFamily="34" charset="0"/>
                        </a:rPr>
                        <a:t>2021</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Anomalías dependen del </a:t>
                      </a:r>
                      <a:r>
                        <a:rPr lang="es-BO" sz="2000" b="0" u="none" strike="noStrike" noProof="0" dirty="0" err="1">
                          <a:solidFill>
                            <a:srgbClr val="000000"/>
                          </a:solidFill>
                          <a:effectLst/>
                          <a:latin typeface="Arial" panose="020B0604020202020204" pitchFamily="34" charset="0"/>
                          <a:cs typeface="Arial" panose="020B0604020202020204" pitchFamily="34" charset="0"/>
                        </a:rPr>
                        <a:t>baseline</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Práctica real</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Alta sensibilidad a cambios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Definir </a:t>
                      </a:r>
                      <a:r>
                        <a:rPr lang="es-BO" sz="2000" b="0" u="none" strike="noStrike" noProof="0" dirty="0" err="1">
                          <a:solidFill>
                            <a:srgbClr val="000000"/>
                          </a:solidFill>
                          <a:effectLst/>
                          <a:latin typeface="Arial" panose="020B0604020202020204" pitchFamily="34" charset="0"/>
                          <a:cs typeface="Arial" panose="020B0604020202020204" pitchFamily="34" charset="0"/>
                        </a:rPr>
                        <a:t>SLOs</a:t>
                      </a:r>
                      <a:r>
                        <a:rPr lang="es-BO" sz="2000" b="0" u="none" strike="noStrike" noProof="0" dirty="0">
                          <a:solidFill>
                            <a:srgbClr val="000000"/>
                          </a:solidFill>
                          <a:effectLst/>
                          <a:latin typeface="Arial" panose="020B0604020202020204" pitchFamily="34" charset="0"/>
                          <a:cs typeface="Arial" panose="020B0604020202020204" pitchFamily="34" charset="0"/>
                        </a:rPr>
                        <a:t> previos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156924270"/>
                  </a:ext>
                </a:extLst>
              </a:tr>
              <a:tr h="395641">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S12</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Estudio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Log </a:t>
                      </a:r>
                      <a:r>
                        <a:rPr lang="es-BO" sz="2000" b="0" u="none" strike="noStrike" noProof="0" dirty="0" err="1">
                          <a:solidFill>
                            <a:srgbClr val="000000"/>
                          </a:solidFill>
                          <a:effectLst/>
                          <a:latin typeface="Arial" panose="020B0604020202020204" pitchFamily="34" charset="0"/>
                          <a:cs typeface="Arial" panose="020B0604020202020204" pitchFamily="34" charset="0"/>
                        </a:rPr>
                        <a:t>Anomaly</a:t>
                      </a:r>
                      <a:r>
                        <a:rPr lang="es-BO" sz="2000" b="0" u="none" strike="noStrike" noProof="0" dirty="0">
                          <a:solidFill>
                            <a:srgbClr val="000000"/>
                          </a:solidFill>
                          <a:effectLst/>
                          <a:latin typeface="Arial" panose="020B0604020202020204" pitchFamily="34" charset="0"/>
                          <a:cs typeface="Arial" panose="020B0604020202020204" pitchFamily="34" charset="0"/>
                        </a:rPr>
                        <a:t> </a:t>
                      </a:r>
                      <a:r>
                        <a:rPr lang="es-BO" sz="2000" b="0" u="none" strike="noStrike" noProof="0" dirty="0" err="1">
                          <a:solidFill>
                            <a:srgbClr val="000000"/>
                          </a:solidFill>
                          <a:effectLst/>
                          <a:latin typeface="Arial" panose="020B0604020202020204" pitchFamily="34" charset="0"/>
                          <a:cs typeface="Arial" panose="020B0604020202020204" pitchFamily="34" charset="0"/>
                        </a:rPr>
                        <a:t>Detection</a:t>
                      </a:r>
                      <a:r>
                        <a:rPr lang="es-BO" sz="2000" b="0" u="none" strike="noStrike" noProof="0" dirty="0">
                          <a:solidFill>
                            <a:srgbClr val="000000"/>
                          </a:solidFill>
                          <a:effectLst/>
                          <a:latin typeface="Arial" panose="020B0604020202020204" pitchFamily="34" charset="0"/>
                          <a:cs typeface="Arial" panose="020B0604020202020204" pitchFamily="34" charset="0"/>
                        </a:rPr>
                        <a:t> (ICSE)</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buNone/>
                      </a:pPr>
                      <a:r>
                        <a:rPr lang="en-US" sz="2000" b="0" u="none" strike="noStrike">
                          <a:solidFill>
                            <a:srgbClr val="000000"/>
                          </a:solidFill>
                          <a:effectLst/>
                          <a:latin typeface="Arial" panose="020B0604020202020204" pitchFamily="34" charset="0"/>
                          <a:cs typeface="Arial" panose="020B0604020202020204" pitchFamily="34" charset="0"/>
                        </a:rPr>
                        <a:t>2018</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ML detecta patrones anómalos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Evidencia empírica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Concept </a:t>
                      </a:r>
                      <a:r>
                        <a:rPr lang="es-BO" sz="2000" b="0" u="none" strike="noStrike" noProof="0" dirty="0" err="1">
                          <a:solidFill>
                            <a:srgbClr val="000000"/>
                          </a:solidFill>
                          <a:effectLst/>
                          <a:latin typeface="Arial" panose="020B0604020202020204" pitchFamily="34" charset="0"/>
                          <a:cs typeface="Arial" panose="020B0604020202020204" pitchFamily="34" charset="0"/>
                        </a:rPr>
                        <a:t>drift</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Reentrenamiento periódico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690753969"/>
                  </a:ext>
                </a:extLst>
              </a:tr>
              <a:tr h="517492">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S13</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Estudio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err="1">
                          <a:solidFill>
                            <a:srgbClr val="000000"/>
                          </a:solidFill>
                          <a:effectLst/>
                          <a:latin typeface="Arial" panose="020B0604020202020204" pitchFamily="34" charset="0"/>
                          <a:cs typeface="Arial" panose="020B0604020202020204" pitchFamily="34" charset="0"/>
                        </a:rPr>
                        <a:t>Mining</a:t>
                      </a:r>
                      <a:r>
                        <a:rPr lang="es-BO" sz="2000" b="0" u="none" strike="noStrike" noProof="0" dirty="0">
                          <a:solidFill>
                            <a:srgbClr val="000000"/>
                          </a:solidFill>
                          <a:effectLst/>
                          <a:latin typeface="Arial" panose="020B0604020202020204" pitchFamily="34" charset="0"/>
                          <a:cs typeface="Arial" panose="020B0604020202020204" pitchFamily="34" charset="0"/>
                        </a:rPr>
                        <a:t> </a:t>
                      </a:r>
                      <a:r>
                        <a:rPr lang="es-BO" sz="2000" b="0" u="none" strike="noStrike" noProof="0" dirty="0" err="1">
                          <a:solidFill>
                            <a:srgbClr val="000000"/>
                          </a:solidFill>
                          <a:effectLst/>
                          <a:latin typeface="Arial" panose="020B0604020202020204" pitchFamily="34" charset="0"/>
                          <a:cs typeface="Arial" panose="020B0604020202020204" pitchFamily="34" charset="0"/>
                        </a:rPr>
                        <a:t>Metrics</a:t>
                      </a:r>
                      <a:r>
                        <a:rPr lang="es-BO" sz="2000" b="0" u="none" strike="noStrike" noProof="0" dirty="0">
                          <a:solidFill>
                            <a:srgbClr val="000000"/>
                          </a:solidFill>
                          <a:effectLst/>
                          <a:latin typeface="Arial" panose="020B0604020202020204" pitchFamily="34" charset="0"/>
                          <a:cs typeface="Arial" panose="020B0604020202020204" pitchFamily="34" charset="0"/>
                        </a:rPr>
                        <a:t> </a:t>
                      </a:r>
                      <a:r>
                        <a:rPr lang="es-BO" sz="2000" b="0" u="none" strike="noStrike" noProof="0" dirty="0" err="1">
                          <a:solidFill>
                            <a:srgbClr val="000000"/>
                          </a:solidFill>
                          <a:effectLst/>
                          <a:latin typeface="Arial" panose="020B0604020202020204" pitchFamily="34" charset="0"/>
                          <a:cs typeface="Arial" panose="020B0604020202020204" pitchFamily="34" charset="0"/>
                        </a:rPr>
                        <a:t>for</a:t>
                      </a:r>
                      <a:r>
                        <a:rPr lang="es-BO" sz="2000" b="0" u="none" strike="noStrike" noProof="0" dirty="0">
                          <a:solidFill>
                            <a:srgbClr val="000000"/>
                          </a:solidFill>
                          <a:effectLst/>
                          <a:latin typeface="Arial" panose="020B0604020202020204" pitchFamily="34" charset="0"/>
                          <a:cs typeface="Arial" panose="020B0604020202020204" pitchFamily="34" charset="0"/>
                        </a:rPr>
                        <a:t> RCA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buNone/>
                      </a:pPr>
                      <a:r>
                        <a:rPr lang="en-US" sz="2000" b="0" u="none" strike="noStrike">
                          <a:solidFill>
                            <a:srgbClr val="000000"/>
                          </a:solidFill>
                          <a:effectLst/>
                          <a:latin typeface="Arial" panose="020B0604020202020204" pitchFamily="34" charset="0"/>
                          <a:cs typeface="Arial" panose="020B0604020202020204" pitchFamily="34" charset="0"/>
                        </a:rPr>
                        <a:t>2019</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Métricas ayudan a RCA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Base cuantitativa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Dependencia de datos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Validación cruzada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21918871"/>
                  </a:ext>
                </a:extLst>
              </a:tr>
              <a:tr h="589425">
                <a:tc>
                  <a:txBody>
                    <a:bodyPr/>
                    <a:lstStyle/>
                    <a:p>
                      <a:pPr algn="l" fontAlgn="b">
                        <a:buNone/>
                      </a:pPr>
                      <a:r>
                        <a:rPr lang="en-US" sz="2000" b="0" u="none" strike="noStrike">
                          <a:solidFill>
                            <a:srgbClr val="000000"/>
                          </a:solidFill>
                          <a:effectLst/>
                          <a:latin typeface="Arial" panose="020B0604020202020204" pitchFamily="34" charset="0"/>
                          <a:cs typeface="Arial" panose="020B0604020202020204" pitchFamily="34" charset="0"/>
                        </a:rPr>
                        <a:t>S14</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Estudio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err="1">
                          <a:solidFill>
                            <a:srgbClr val="000000"/>
                          </a:solidFill>
                          <a:effectLst/>
                          <a:latin typeface="Arial" panose="020B0604020202020204" pitchFamily="34" charset="0"/>
                          <a:cs typeface="Arial" panose="020B0604020202020204" pitchFamily="34" charset="0"/>
                        </a:rPr>
                        <a:t>Schäferling</a:t>
                      </a:r>
                      <a:r>
                        <a:rPr lang="es-BO" sz="2000" b="0" u="none" strike="noStrike" noProof="0" dirty="0">
                          <a:solidFill>
                            <a:srgbClr val="000000"/>
                          </a:solidFill>
                          <a:effectLst/>
                          <a:latin typeface="Arial" panose="020B0604020202020204" pitchFamily="34" charset="0"/>
                          <a:cs typeface="Arial" panose="020B0604020202020204" pitchFamily="34" charset="0"/>
                        </a:rPr>
                        <a:t> – </a:t>
                      </a:r>
                      <a:r>
                        <a:rPr lang="es-BO" sz="2000" b="0" u="none" strike="noStrike" noProof="0" dirty="0" err="1">
                          <a:solidFill>
                            <a:srgbClr val="000000"/>
                          </a:solidFill>
                          <a:effectLst/>
                          <a:latin typeface="Arial" panose="020B0604020202020204" pitchFamily="34" charset="0"/>
                          <a:cs typeface="Arial" panose="020B0604020202020204" pitchFamily="34" charset="0"/>
                        </a:rPr>
                        <a:t>Gov</a:t>
                      </a:r>
                      <a:r>
                        <a:rPr lang="es-BO" sz="2000" b="0" u="none" strike="noStrike" noProof="0" dirty="0">
                          <a:solidFill>
                            <a:srgbClr val="000000"/>
                          </a:solidFill>
                          <a:effectLst/>
                          <a:latin typeface="Arial" panose="020B0604020202020204" pitchFamily="34" charset="0"/>
                          <a:cs typeface="Arial" panose="020B0604020202020204" pitchFamily="34" charset="0"/>
                        </a:rPr>
                        <a:t>. ADM</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buNone/>
                      </a:pPr>
                      <a:r>
                        <a:rPr lang="en-US" sz="2000" b="0" u="none" strike="noStrike">
                          <a:solidFill>
                            <a:srgbClr val="000000"/>
                          </a:solidFill>
                          <a:effectLst/>
                          <a:latin typeface="Arial" panose="020B0604020202020204" pitchFamily="34" charset="0"/>
                          <a:cs typeface="Arial" panose="020B0604020202020204" pitchFamily="34" charset="0"/>
                        </a:rPr>
                        <a:t>2023</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IA pública impacta derechos</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Marco legal comparado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Poco enfoque técnico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Complementar con enfoque técnico</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048659514"/>
                  </a:ext>
                </a:extLst>
              </a:tr>
              <a:tr h="501296">
                <a:tc>
                  <a:txBody>
                    <a:bodyPr/>
                    <a:lstStyle/>
                    <a:p>
                      <a:pPr algn="l" fontAlgn="b">
                        <a:buNone/>
                      </a:pPr>
                      <a:r>
                        <a:rPr lang="en-US" sz="2000" b="0" u="none" strike="noStrike" dirty="0">
                          <a:solidFill>
                            <a:srgbClr val="000000"/>
                          </a:solidFill>
                          <a:effectLst/>
                          <a:latin typeface="Arial" panose="020B0604020202020204" pitchFamily="34" charset="0"/>
                          <a:cs typeface="Arial" panose="020B0604020202020204" pitchFamily="34" charset="0"/>
                        </a:rPr>
                        <a:t>S15</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i="0" u="none" strike="noStrike" noProof="0" dirty="0">
                          <a:solidFill>
                            <a:srgbClr val="000000"/>
                          </a:solidFill>
                          <a:effectLst/>
                          <a:latin typeface="Arial" panose="020B0604020202020204" pitchFamily="34" charset="0"/>
                          <a:cs typeface="Arial" panose="020B0604020202020204" pitchFamily="34" charset="0"/>
                        </a:rPr>
                        <a:t>Industria</a:t>
                      </a:r>
                    </a:p>
                  </a:txBody>
                  <a:tcPr marL="9525" marR="9525" marT="9525" marB="0" anchor="b"/>
                </a:tc>
                <a:tc>
                  <a:txBody>
                    <a:bodyPr/>
                    <a:lstStyle/>
                    <a:p>
                      <a:pPr algn="l" fontAlgn="b">
                        <a:buNone/>
                      </a:pPr>
                      <a:r>
                        <a:rPr lang="es-BO" sz="2000" b="0" i="0" u="none" strike="noStrike" dirty="0">
                          <a:solidFill>
                            <a:srgbClr val="000000"/>
                          </a:solidFill>
                          <a:effectLst/>
                          <a:latin typeface="Arial" panose="020B0604020202020204" pitchFamily="34" charset="0"/>
                          <a:cs typeface="Arial" panose="020B0604020202020204" pitchFamily="34" charset="0"/>
                        </a:rPr>
                        <a:t>Azure </a:t>
                      </a:r>
                      <a:r>
                        <a:rPr lang="es-BO" sz="2000" b="0" i="0" u="none" strike="noStrike" dirty="0" err="1">
                          <a:solidFill>
                            <a:srgbClr val="000000"/>
                          </a:solidFill>
                          <a:effectLst/>
                          <a:latin typeface="Arial" panose="020B0604020202020204" pitchFamily="34" charset="0"/>
                          <a:cs typeface="Arial" panose="020B0604020202020204" pitchFamily="34" charset="0"/>
                        </a:rPr>
                        <a:t>Reliability</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buNone/>
                      </a:pPr>
                      <a:r>
                        <a:rPr lang="es-BO" sz="2000" b="0" i="0" u="none" strike="noStrike" dirty="0">
                          <a:solidFill>
                            <a:srgbClr val="000000"/>
                          </a:solidFill>
                          <a:effectLst/>
                          <a:latin typeface="Arial" panose="020B0604020202020204" pitchFamily="34" charset="0"/>
                          <a:cs typeface="Arial" panose="020B0604020202020204" pitchFamily="34" charset="0"/>
                        </a:rPr>
                        <a:t>2021</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i="0" u="none" strike="noStrike" noProof="0" dirty="0">
                          <a:solidFill>
                            <a:srgbClr val="000000"/>
                          </a:solidFill>
                          <a:effectLst/>
                          <a:latin typeface="Arial" panose="020B0604020202020204" pitchFamily="34" charset="0"/>
                          <a:cs typeface="Arial" panose="020B0604020202020204" pitchFamily="34" charset="0"/>
                        </a:rPr>
                        <a:t>Disciplina en </a:t>
                      </a:r>
                      <a:r>
                        <a:rPr lang="es-BO" sz="2000" b="0" i="0" u="none" strike="noStrike" noProof="0" dirty="0" err="1">
                          <a:solidFill>
                            <a:srgbClr val="000000"/>
                          </a:solidFill>
                          <a:effectLst/>
                          <a:latin typeface="Arial" panose="020B0604020202020204" pitchFamily="34" charset="0"/>
                          <a:cs typeface="Arial" panose="020B0604020202020204" pitchFamily="34" charset="0"/>
                        </a:rPr>
                        <a:t>incident</a:t>
                      </a:r>
                      <a:r>
                        <a:rPr lang="es-BO" sz="2000" b="0" i="0" u="none" strike="noStrike" noProof="0" dirty="0">
                          <a:solidFill>
                            <a:srgbClr val="000000"/>
                          </a:solidFill>
                          <a:effectLst/>
                          <a:latin typeface="Arial" panose="020B0604020202020204" pitchFamily="34" charset="0"/>
                          <a:cs typeface="Arial" panose="020B0604020202020204" pitchFamily="34" charset="0"/>
                        </a:rPr>
                        <a:t> </a:t>
                      </a:r>
                      <a:r>
                        <a:rPr lang="es-BO" sz="2000" b="0" i="0" u="none" strike="noStrike" noProof="0" dirty="0" err="1">
                          <a:solidFill>
                            <a:srgbClr val="000000"/>
                          </a:solidFill>
                          <a:effectLst/>
                          <a:latin typeface="Arial" panose="020B0604020202020204" pitchFamily="34" charset="0"/>
                          <a:cs typeface="Arial" panose="020B0604020202020204" pitchFamily="34" charset="0"/>
                        </a:rPr>
                        <a:t>mgmt</a:t>
                      </a:r>
                      <a:r>
                        <a:rPr lang="es-BO" sz="2000" b="0" i="0" u="none" strike="noStrike" noProof="0" dirty="0">
                          <a:solidFill>
                            <a:srgbClr val="000000"/>
                          </a:solidFill>
                          <a:effectLst/>
                          <a:latin typeface="Arial" panose="020B0604020202020204" pitchFamily="34" charset="0"/>
                          <a:cs typeface="Arial" panose="020B0604020202020204" pitchFamily="34" charset="0"/>
                        </a:rPr>
                        <a:t>.</a:t>
                      </a:r>
                    </a:p>
                  </a:txBody>
                  <a:tcPr marL="9525" marR="9525" marT="9525" marB="0" anchor="b"/>
                </a:tc>
                <a:tc>
                  <a:txBody>
                    <a:bodyPr/>
                    <a:lstStyle/>
                    <a:p>
                      <a:pPr algn="l" fontAlgn="b">
                        <a:buNone/>
                      </a:pPr>
                      <a:r>
                        <a:rPr lang="es-BO" sz="2000" b="0" i="0" u="none" strike="noStrike" dirty="0">
                          <a:solidFill>
                            <a:srgbClr val="000000"/>
                          </a:solidFill>
                          <a:effectLst/>
                          <a:latin typeface="Arial" panose="020B0604020202020204" pitchFamily="34" charset="0"/>
                          <a:cs typeface="Arial" panose="020B0604020202020204" pitchFamily="34" charset="0"/>
                        </a:rPr>
                        <a:t>Operación Real</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i="0" u="none" strike="noStrike" dirty="0">
                          <a:solidFill>
                            <a:srgbClr val="000000"/>
                          </a:solidFill>
                          <a:effectLst/>
                          <a:latin typeface="Arial" panose="020B0604020202020204" pitchFamily="34" charset="0"/>
                          <a:cs typeface="Arial" panose="020B0604020202020204" pitchFamily="34" charset="0"/>
                        </a:rPr>
                        <a:t>No IA específica</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r>
                        <a:rPr lang="es-BO" sz="2000" b="0" i="0" u="none" strike="noStrike" noProof="0" dirty="0">
                          <a:solidFill>
                            <a:srgbClr val="000000"/>
                          </a:solidFill>
                          <a:effectLst/>
                          <a:latin typeface="Arial" panose="020B0604020202020204" pitchFamily="34" charset="0"/>
                          <a:cs typeface="Arial" panose="020B0604020202020204" pitchFamily="34" charset="0"/>
                        </a:rPr>
                        <a:t>Integrar IA sin sustituir proceso</a:t>
                      </a:r>
                      <a:endParaRPr lang="es-BO" noProof="0" dirty="0"/>
                    </a:p>
                  </a:txBody>
                  <a:tcPr marL="9525" marR="9525" marT="9525" marB="0" anchor="b"/>
                </a:tc>
                <a:extLst>
                  <a:ext uri="{0D108BD9-81ED-4DB2-BD59-A6C34878D82A}">
                    <a16:rowId xmlns:a16="http://schemas.microsoft.com/office/drawing/2014/main" val="422652087"/>
                  </a:ext>
                </a:extLst>
              </a:tr>
            </a:tbl>
          </a:graphicData>
        </a:graphic>
      </p:graphicFrame>
      <p:sp>
        <p:nvSpPr>
          <p:cNvPr id="5" name="Rectángulo 1">
            <a:extLst>
              <a:ext uri="{FF2B5EF4-FFF2-40B4-BE49-F238E27FC236}">
                <a16:creationId xmlns:a16="http://schemas.microsoft.com/office/drawing/2014/main" id="{C5660875-C50E-4BA1-406E-7031E996E4C7}"/>
              </a:ext>
            </a:extLst>
          </p:cNvPr>
          <p:cNvSpPr/>
          <p:nvPr/>
        </p:nvSpPr>
        <p:spPr>
          <a:xfrm rot="16200000">
            <a:off x="-4375394" y="4514115"/>
            <a:ext cx="9560169" cy="778119"/>
          </a:xfrm>
          <a:prstGeom prst="rect">
            <a:avLst/>
          </a:prstGeom>
          <a:noFill/>
        </p:spPr>
        <p:txBody>
          <a:bodyPr lIns="0" tIns="0" rIns="0" bIns="0">
            <a:noAutofit/>
          </a:bodyPr>
          <a:lstStyle/>
          <a:p>
            <a:pPr marL="0" marR="0" indent="0">
              <a:spcAft>
                <a:spcPts val="980"/>
              </a:spcAft>
            </a:pPr>
            <a:r>
              <a:rPr lang="es-BO" sz="4000" b="1" noProof="0" dirty="0">
                <a:latin typeface="Arial"/>
              </a:rPr>
              <a:t>Matriz de evidencia</a:t>
            </a:r>
            <a:endParaRPr lang="es-BO" sz="4000" noProof="0" dirty="0">
              <a:latin typeface="Arial"/>
            </a:endParaRPr>
          </a:p>
        </p:txBody>
      </p:sp>
      <p:sp>
        <p:nvSpPr>
          <p:cNvPr id="2" name="Rectángulo 1">
            <a:extLst>
              <a:ext uri="{FF2B5EF4-FFF2-40B4-BE49-F238E27FC236}">
                <a16:creationId xmlns:a16="http://schemas.microsoft.com/office/drawing/2014/main" id="{0CAAD4BF-0317-9A88-1919-ABCDE8BA58FE}"/>
              </a:ext>
            </a:extLst>
          </p:cNvPr>
          <p:cNvSpPr/>
          <p:nvPr/>
        </p:nvSpPr>
        <p:spPr>
          <a:xfrm>
            <a:off x="1079500" y="965200"/>
            <a:ext cx="15290800" cy="673100"/>
          </a:xfrm>
          <a:prstGeom prst="rect">
            <a:avLst/>
          </a:prstGeom>
          <a:noFill/>
        </p:spPr>
        <p:txBody>
          <a:bodyPr wrap="none" lIns="0" tIns="0" rIns="0" bIns="0">
            <a:noAutofit/>
          </a:bodyPr>
          <a:lstStyle/>
          <a:p>
            <a:pPr marL="0" marR="0" indent="0"/>
            <a:r>
              <a:rPr lang="es-BO" sz="4500" b="1" noProof="0" dirty="0">
                <a:latin typeface="Arial"/>
              </a:rPr>
              <a:t>Anexo</a:t>
            </a:r>
          </a:p>
        </p:txBody>
      </p:sp>
      <p:graphicFrame>
        <p:nvGraphicFramePr>
          <p:cNvPr id="4" name="Table 3">
            <a:extLst>
              <a:ext uri="{FF2B5EF4-FFF2-40B4-BE49-F238E27FC236}">
                <a16:creationId xmlns:a16="http://schemas.microsoft.com/office/drawing/2014/main" id="{54081D37-3FAC-A98F-74C6-47C45E6C3C60}"/>
              </a:ext>
            </a:extLst>
          </p:cNvPr>
          <p:cNvGraphicFramePr>
            <a:graphicFrameLocks noGrp="1"/>
          </p:cNvGraphicFramePr>
          <p:nvPr>
            <p:extLst>
              <p:ext uri="{D42A27DB-BD31-4B8C-83A1-F6EECF244321}">
                <p14:modId xmlns:p14="http://schemas.microsoft.com/office/powerpoint/2010/main" val="302982493"/>
              </p:ext>
            </p:extLst>
          </p:nvPr>
        </p:nvGraphicFramePr>
        <p:xfrm>
          <a:off x="987921" y="7920524"/>
          <a:ext cx="15473957" cy="1307141"/>
        </p:xfrm>
        <a:graphic>
          <a:graphicData uri="http://schemas.openxmlformats.org/drawingml/2006/table">
            <a:tbl>
              <a:tblPr firstRow="1" bandRow="1">
                <a:tableStyleId>{5C22544A-7EE6-4342-B048-85BDC9FD1C3A}</a:tableStyleId>
              </a:tblPr>
              <a:tblGrid>
                <a:gridCol w="541338">
                  <a:extLst>
                    <a:ext uri="{9D8B030D-6E8A-4147-A177-3AD203B41FA5}">
                      <a16:colId xmlns:a16="http://schemas.microsoft.com/office/drawing/2014/main" val="2430732726"/>
                    </a:ext>
                  </a:extLst>
                </a:gridCol>
                <a:gridCol w="1551143">
                  <a:extLst>
                    <a:ext uri="{9D8B030D-6E8A-4147-A177-3AD203B41FA5}">
                      <a16:colId xmlns:a16="http://schemas.microsoft.com/office/drawing/2014/main" val="4108020938"/>
                    </a:ext>
                  </a:extLst>
                </a:gridCol>
                <a:gridCol w="2434702">
                  <a:extLst>
                    <a:ext uri="{9D8B030D-6E8A-4147-A177-3AD203B41FA5}">
                      <a16:colId xmlns:a16="http://schemas.microsoft.com/office/drawing/2014/main" val="604016913"/>
                    </a:ext>
                  </a:extLst>
                </a:gridCol>
                <a:gridCol w="679428">
                  <a:extLst>
                    <a:ext uri="{9D8B030D-6E8A-4147-A177-3AD203B41FA5}">
                      <a16:colId xmlns:a16="http://schemas.microsoft.com/office/drawing/2014/main" val="3743877504"/>
                    </a:ext>
                  </a:extLst>
                </a:gridCol>
                <a:gridCol w="2789687">
                  <a:extLst>
                    <a:ext uri="{9D8B030D-6E8A-4147-A177-3AD203B41FA5}">
                      <a16:colId xmlns:a16="http://schemas.microsoft.com/office/drawing/2014/main" val="1404078307"/>
                    </a:ext>
                  </a:extLst>
                </a:gridCol>
                <a:gridCol w="2278002">
                  <a:extLst>
                    <a:ext uri="{9D8B030D-6E8A-4147-A177-3AD203B41FA5}">
                      <a16:colId xmlns:a16="http://schemas.microsoft.com/office/drawing/2014/main" val="2406208534"/>
                    </a:ext>
                  </a:extLst>
                </a:gridCol>
                <a:gridCol w="2591319">
                  <a:extLst>
                    <a:ext uri="{9D8B030D-6E8A-4147-A177-3AD203B41FA5}">
                      <a16:colId xmlns:a16="http://schemas.microsoft.com/office/drawing/2014/main" val="3400805605"/>
                    </a:ext>
                  </a:extLst>
                </a:gridCol>
                <a:gridCol w="2608338">
                  <a:extLst>
                    <a:ext uri="{9D8B030D-6E8A-4147-A177-3AD203B41FA5}">
                      <a16:colId xmlns:a16="http://schemas.microsoft.com/office/drawing/2014/main" val="1300061632"/>
                    </a:ext>
                  </a:extLst>
                </a:gridCol>
              </a:tblGrid>
              <a:tr h="395641">
                <a:tc>
                  <a:txBody>
                    <a:bodyPr/>
                    <a:lstStyle/>
                    <a:p>
                      <a:pPr algn="ctr" fontAlgn="b">
                        <a:buNone/>
                      </a:pPr>
                      <a:r>
                        <a:rPr lang="en-US" sz="2000" b="1" u="none" strike="noStrike" dirty="0">
                          <a:solidFill>
                            <a:srgbClr val="000000"/>
                          </a:solidFill>
                          <a:effectLst/>
                          <a:latin typeface="Arial" panose="020B0604020202020204" pitchFamily="34" charset="0"/>
                          <a:cs typeface="Arial" panose="020B0604020202020204" pitchFamily="34" charset="0"/>
                        </a:rPr>
                        <a:t>ID</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Tipo</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Fuente (título corto)</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n-US" sz="2000" b="1" u="none" strike="noStrike" dirty="0">
                          <a:solidFill>
                            <a:srgbClr val="000000"/>
                          </a:solidFill>
                          <a:effectLst/>
                          <a:latin typeface="Arial" panose="020B0604020202020204" pitchFamily="34" charset="0"/>
                          <a:cs typeface="Arial" panose="020B0604020202020204" pitchFamily="34" charset="0"/>
                        </a:rPr>
                        <a:t>Año</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Idea clave</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Qué aporta</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s-BO" sz="2000" b="1" u="none" strike="noStrike" noProof="0" dirty="0">
                          <a:solidFill>
                            <a:srgbClr val="000000"/>
                          </a:solidFill>
                          <a:effectLst/>
                          <a:latin typeface="Arial" panose="020B0604020202020204" pitchFamily="34" charset="0"/>
                          <a:cs typeface="Arial" panose="020B0604020202020204" pitchFamily="34" charset="0"/>
                        </a:rPr>
                        <a:t>Riesgo/limitación</a:t>
                      </a:r>
                      <a:endParaRPr lang="es-BO" sz="2000" b="1"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fontAlgn="b">
                        <a:buNone/>
                      </a:pPr>
                      <a:r>
                        <a:rPr lang="en-US" sz="2000" b="1" u="none" strike="noStrike" dirty="0" err="1">
                          <a:solidFill>
                            <a:srgbClr val="000000"/>
                          </a:solidFill>
                          <a:effectLst/>
                          <a:latin typeface="Arial" panose="020B0604020202020204" pitchFamily="34" charset="0"/>
                          <a:cs typeface="Arial" panose="020B0604020202020204" pitchFamily="34" charset="0"/>
                        </a:rPr>
                        <a:t>Recomendación</a:t>
                      </a:r>
                      <a:r>
                        <a:rPr lang="en-US" sz="2000" b="1" u="none" strike="noStrike" dirty="0">
                          <a:solidFill>
                            <a:srgbClr val="000000"/>
                          </a:solidFill>
                          <a:effectLst/>
                          <a:latin typeface="Arial" panose="020B0604020202020204" pitchFamily="34" charset="0"/>
                          <a:cs typeface="Arial" panose="020B0604020202020204" pitchFamily="34" charset="0"/>
                        </a:rPr>
                        <a:t> </a:t>
                      </a:r>
                      <a:r>
                        <a:rPr lang="en-US" sz="2000" b="1" u="none" strike="noStrike" dirty="0" err="1">
                          <a:solidFill>
                            <a:srgbClr val="000000"/>
                          </a:solidFill>
                          <a:effectLst/>
                          <a:latin typeface="Arial" panose="020B0604020202020204" pitchFamily="34" charset="0"/>
                          <a:cs typeface="Arial" panose="020B0604020202020204" pitchFamily="34" charset="0"/>
                        </a:rPr>
                        <a:t>derivada</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885803291"/>
                  </a:ext>
                </a:extLst>
              </a:tr>
              <a:tr h="688016">
                <a:tc>
                  <a:txBody>
                    <a:bodyPr/>
                    <a:lstStyle/>
                    <a:p>
                      <a:pPr algn="l" fontAlgn="b">
                        <a:buNone/>
                      </a:pPr>
                      <a:r>
                        <a:rPr lang="en-US" sz="2000" b="0" u="none" strike="noStrike" dirty="0">
                          <a:solidFill>
                            <a:srgbClr val="000000"/>
                          </a:solidFill>
                          <a:effectLst/>
                          <a:latin typeface="Arial" panose="020B0604020202020204" pitchFamily="34" charset="0"/>
                          <a:cs typeface="Arial" panose="020B0604020202020204" pitchFamily="34" charset="0"/>
                        </a:rPr>
                        <a:t>S16</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Industria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err="1">
                          <a:solidFill>
                            <a:srgbClr val="000000"/>
                          </a:solidFill>
                          <a:effectLst/>
                          <a:latin typeface="Arial" panose="020B0604020202020204" pitchFamily="34" charset="0"/>
                          <a:cs typeface="Arial" panose="020B0604020202020204" pitchFamily="34" charset="0"/>
                        </a:rPr>
                        <a:t>Automation</a:t>
                      </a:r>
                      <a:r>
                        <a:rPr lang="es-BO" sz="2000" b="0" u="none" strike="noStrike" noProof="0" dirty="0">
                          <a:solidFill>
                            <a:srgbClr val="000000"/>
                          </a:solidFill>
                          <a:effectLst/>
                          <a:latin typeface="Arial" panose="020B0604020202020204" pitchFamily="34" charset="0"/>
                          <a:cs typeface="Arial" panose="020B0604020202020204" pitchFamily="34" charset="0"/>
                        </a:rPr>
                        <a:t> </a:t>
                      </a:r>
                      <a:r>
                        <a:rPr lang="es-BO" sz="2000" b="0" u="none" strike="noStrike" noProof="0" dirty="0" err="1">
                          <a:solidFill>
                            <a:srgbClr val="000000"/>
                          </a:solidFill>
                          <a:effectLst/>
                          <a:latin typeface="Arial" panose="020B0604020202020204" pitchFamily="34" charset="0"/>
                          <a:cs typeface="Arial" panose="020B0604020202020204" pitchFamily="34" charset="0"/>
                        </a:rPr>
                        <a:t>Bias</a:t>
                      </a:r>
                      <a:r>
                        <a:rPr lang="es-BO" sz="2000" b="0" u="none" strike="noStrike" noProof="0" dirty="0">
                          <a:solidFill>
                            <a:srgbClr val="000000"/>
                          </a:solidFill>
                          <a:effectLst/>
                          <a:latin typeface="Arial" panose="020B0604020202020204" pitchFamily="34" charset="0"/>
                          <a:cs typeface="Arial" panose="020B0604020202020204" pitchFamily="34" charset="0"/>
                        </a:rPr>
                        <a:t> (Parasuraman)</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buNone/>
                      </a:pPr>
                      <a:r>
                        <a:rPr lang="en-US" sz="2000" b="0" u="none" strike="noStrike" dirty="0">
                          <a:solidFill>
                            <a:srgbClr val="000000"/>
                          </a:solidFill>
                          <a:effectLst/>
                          <a:latin typeface="Arial" panose="020B0604020202020204" pitchFamily="34" charset="0"/>
                          <a:cs typeface="Arial" panose="020B0604020202020204" pitchFamily="34" charset="0"/>
                        </a:rPr>
                        <a:t>1997</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Humanos </a:t>
                      </a:r>
                      <a:r>
                        <a:rPr lang="es-BO" sz="2000" b="0" u="none" strike="noStrike" noProof="0" dirty="0" err="1">
                          <a:solidFill>
                            <a:srgbClr val="000000"/>
                          </a:solidFill>
                          <a:effectLst/>
                          <a:latin typeface="Arial" panose="020B0604020202020204" pitchFamily="34" charset="0"/>
                          <a:cs typeface="Arial" panose="020B0604020202020204" pitchFamily="34" charset="0"/>
                        </a:rPr>
                        <a:t>sobreconfían</a:t>
                      </a:r>
                      <a:r>
                        <a:rPr lang="es-BO" sz="2000" b="0" u="none" strike="noStrike" noProof="0" dirty="0">
                          <a:solidFill>
                            <a:srgbClr val="000000"/>
                          </a:solidFill>
                          <a:effectLst/>
                          <a:latin typeface="Arial" panose="020B0604020202020204" pitchFamily="34" charset="0"/>
                          <a:cs typeface="Arial" panose="020B0604020202020204" pitchFamily="34" charset="0"/>
                        </a:rPr>
                        <a:t> en automatización</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s-BO" sz="2000" b="0" u="none" strike="noStrike" noProof="0" dirty="0">
                          <a:solidFill>
                            <a:srgbClr val="000000"/>
                          </a:solidFill>
                          <a:effectLst/>
                          <a:latin typeface="Arial" panose="020B0604020202020204" pitchFamily="34" charset="0"/>
                          <a:cs typeface="Arial" panose="020B0604020202020204" pitchFamily="34" charset="0"/>
                        </a:rPr>
                        <a:t>Riesgo organizacional</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pt-BR" sz="2000" b="0" u="none" strike="noStrike" noProof="0" dirty="0">
                          <a:solidFill>
                            <a:srgbClr val="000000"/>
                          </a:solidFill>
                          <a:effectLst/>
                          <a:latin typeface="Arial" panose="020B0604020202020204" pitchFamily="34" charset="0"/>
                          <a:cs typeface="Arial" panose="020B0604020202020204" pitchFamily="34" charset="0"/>
                        </a:rPr>
                        <a:t>Contexto previo a IA moderna</a:t>
                      </a:r>
                      <a:endParaRPr lang="es-BO" sz="2000" b="0" i="0" u="none" strike="noStrike" noProof="0"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buNone/>
                      </a:pPr>
                      <a:r>
                        <a:rPr lang="en-US" sz="2000" b="0" u="none" strike="noStrike" dirty="0">
                          <a:solidFill>
                            <a:srgbClr val="000000"/>
                          </a:solidFill>
                          <a:effectLst/>
                          <a:latin typeface="Arial" panose="020B0604020202020204" pitchFamily="34" charset="0"/>
                          <a:cs typeface="Arial" panose="020B0604020202020204" pitchFamily="34" charset="0"/>
                        </a:rPr>
                        <a:t>Human-in-the-loop</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026646383"/>
                  </a:ext>
                </a:extLst>
              </a:tr>
            </a:tbl>
          </a:graphicData>
        </a:graphic>
      </p:graphicFrame>
      <p:sp>
        <p:nvSpPr>
          <p:cNvPr id="6" name="Rectángulo 1">
            <a:extLst>
              <a:ext uri="{FF2B5EF4-FFF2-40B4-BE49-F238E27FC236}">
                <a16:creationId xmlns:a16="http://schemas.microsoft.com/office/drawing/2014/main" id="{1F2F2836-4D25-866A-DAFC-FA1F84993B80}"/>
              </a:ext>
            </a:extLst>
          </p:cNvPr>
          <p:cNvSpPr/>
          <p:nvPr/>
        </p:nvSpPr>
        <p:spPr>
          <a:xfrm>
            <a:off x="1006971" y="7353456"/>
            <a:ext cx="15290800" cy="673100"/>
          </a:xfrm>
          <a:prstGeom prst="rect">
            <a:avLst/>
          </a:prstGeom>
          <a:noFill/>
        </p:spPr>
        <p:txBody>
          <a:bodyPr wrap="none" lIns="0" tIns="0" rIns="0" bIns="0">
            <a:noAutofit/>
          </a:bodyPr>
          <a:lstStyle/>
          <a:p>
            <a:pPr marL="0" marR="0" indent="0"/>
            <a:r>
              <a:rPr lang="es-BO" sz="3500" b="1" noProof="0" dirty="0">
                <a:latin typeface="Arial"/>
              </a:rPr>
              <a:t>*Fuente secundaria</a:t>
            </a:r>
          </a:p>
        </p:txBody>
      </p:sp>
    </p:spTree>
    <p:extLst>
      <p:ext uri="{BB962C8B-B14F-4D97-AF65-F5344CB8AC3E}">
        <p14:creationId xmlns:p14="http://schemas.microsoft.com/office/powerpoint/2010/main" val="1137736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226</TotalTime>
  <Words>2303</Words>
  <Application>Microsoft Office PowerPoint</Application>
  <PresentationFormat>Custom</PresentationFormat>
  <Paragraphs>382</Paragraphs>
  <Slides>16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Jorge Mostajo</cp:lastModifiedBy>
  <cp:revision>73</cp:revision>
  <dcterms:modified xsi:type="dcterms:W3CDTF">2026-03-06T15:42:13Z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96301b3-1c9a-4671-b7b2-bcc2e4f4f40f_Enabled">
    <vt:lpwstr>true</vt:lpwstr>
  </property>
  <property fmtid="{D5CDD505-2E9C-101B-9397-08002B2CF9AE}" pid="3" name="MSIP_Label_996301b3-1c9a-4671-b7b2-bcc2e4f4f40f_SetDate">
    <vt:lpwstr>2026-03-06T11:56:12Z</vt:lpwstr>
  </property>
  <property fmtid="{D5CDD505-2E9C-101B-9397-08002B2CF9AE}" pid="4" name="MSIP_Label_996301b3-1c9a-4671-b7b2-bcc2e4f4f40f_Method">
    <vt:lpwstr>Standard</vt:lpwstr>
  </property>
  <property fmtid="{D5CDD505-2E9C-101B-9397-08002B2CF9AE}" pid="5" name="MSIP_Label_996301b3-1c9a-4671-b7b2-bcc2e4f4f40f_Name">
    <vt:lpwstr>Colaborativo</vt:lpwstr>
  </property>
  <property fmtid="{D5CDD505-2E9C-101B-9397-08002B2CF9AE}" pid="6" name="MSIP_Label_996301b3-1c9a-4671-b7b2-bcc2e4f4f40f_SiteId">
    <vt:lpwstr>60af9fa7-a073-411b-befe-f59e13d043be</vt:lpwstr>
  </property>
  <property fmtid="{D5CDD505-2E9C-101B-9397-08002B2CF9AE}" pid="7" name="MSIP_Label_996301b3-1c9a-4671-b7b2-bcc2e4f4f40f_ActionId">
    <vt:lpwstr>d7368ca5-bf03-4158-9c97-d7175415d37e</vt:lpwstr>
  </property>
  <property fmtid="{D5CDD505-2E9C-101B-9397-08002B2CF9AE}" pid="8" name="MSIP_Label_996301b3-1c9a-4671-b7b2-bcc2e4f4f40f_ContentBits">
    <vt:lpwstr>0</vt:lpwstr>
  </property>
  <property fmtid="{D5CDD505-2E9C-101B-9397-08002B2CF9AE}" pid="9" name="MSIP_Label_996301b3-1c9a-4671-b7b2-bcc2e4f4f40f_Tag">
    <vt:lpwstr>10, 3, 0, 1</vt:lpwstr>
  </property>
</Properties>
</file>